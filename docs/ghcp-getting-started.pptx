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38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4592" y="0"/>
            <a:ext cx="12027103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351215" y="-1371600"/>
            <a:ext cx="5486400" cy="5486400"/>
          </a:xfrm>
          <a:prstGeom prst="ellipse">
            <a:avLst/>
          </a:prstGeom>
          <a:solidFill>
            <a:srgbClr val="1A2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8229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</a:rPr>
              <a:t>GitHub Copilot
for Developers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246120"/>
            <a:ext cx="2011680" cy="64008"/>
          </a:xfrm>
          <a:prstGeom prst="rect">
            <a:avLst/>
          </a:prstGeom>
          <a:solidFill>
            <a:srgbClr val="238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429000"/>
            <a:ext cx="8686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A0AAB4"/>
                </a:solidFill>
              </a:rPr>
              <a:t>From zero to /plan — a practical deep-dive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606A"/>
                </a:solidFill>
              </a:rPr>
              <a:t>github.com/features/copilot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036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38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68680"/>
            <a:ext cx="10241280" cy="27432"/>
          </a:xfrm>
          <a:prstGeom prst="rect">
            <a:avLst/>
          </a:prstGeom>
          <a:solidFill>
            <a:srgbClr val="238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005840"/>
            <a:ext cx="111556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What is GitHub Copilot?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Built-in slash commands overview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How /plan works — under the hood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Customisation primitives — overview &amp; decision guide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Deep dive: Workspace Instructions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Deep dive: File Instructions (.instructions.md)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Deep dive: Prompts (.prompt.md)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Deep dive: Skills (SKILL.md)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Deep dive: Custom Agents (.agent.md)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Deep dive: Hooks (.json)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PoC walkthrough — OAuth2 + JWT auth system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Best practices, security &amp; getting-started checklist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11535" y="644652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8929A"/>
                </a:solidFill>
              </a:rPr>
              <a:t>2 / 39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38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38BE6"/>
                </a:solidFill>
              </a:rPr>
              <a:t>SECTION 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65176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What is GitHub Copilot?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3977639"/>
            <a:ext cx="1463040" cy="54864"/>
          </a:xfrm>
          <a:prstGeom prst="rect">
            <a:avLst/>
          </a:prstGeom>
          <a:solidFill>
            <a:srgbClr val="238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036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38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GitHub Copilot — Overview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68680"/>
            <a:ext cx="10241280" cy="27432"/>
          </a:xfrm>
          <a:prstGeom prst="rect">
            <a:avLst/>
          </a:prstGeom>
          <a:solidFill>
            <a:srgbClr val="238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005840"/>
            <a:ext cx="111556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AI pair programmer embedded in VS Code, JetBrains, Visual Studio, and the CLI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Powered by large language models (Claude Sonnet 4.6 in Copilot Chat)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Two main surfaces:</a:t>
            </a:r>
          </a:p>
          <a:p>
            <a:pPr lvl="1">
              <a:spcBef>
                <a:spcPts val="200"/>
              </a:spcBef>
            </a:pPr>
            <a:r>
              <a:rPr sz="1500" b="0">
                <a:solidFill>
                  <a:srgbClr val="C0CAD4"/>
                </a:solidFill>
              </a:rPr>
              <a:t>    ◦ Inline completions — next-token code suggestions as you type</a:t>
            </a:r>
          </a:p>
          <a:p>
            <a:pPr lvl="1">
              <a:spcBef>
                <a:spcPts val="200"/>
              </a:spcBef>
            </a:pPr>
            <a:r>
              <a:rPr sz="1500" b="0">
                <a:solidFill>
                  <a:srgbClr val="C0CAD4"/>
                </a:solidFill>
              </a:rPr>
              <a:t>    ◦ Copilot Chat — conversational agent with full tool use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Agent mode capabilities: read files, run commands, edit code, run tests — autonomously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Everything the agent does is governed by your customisation files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Session memory: agent tracks a plan across the whole conversation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5943600"/>
            <a:ext cx="11155680" cy="64008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5961888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A0C8F0"/>
                </a:solidFill>
              </a:rPr>
              <a:t>💡  This session focuses on Copilot Chat in agent mode — the most powerful surface.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44652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8929A"/>
                </a:solidFill>
              </a:rPr>
              <a:t>4 / 39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DB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BA4E"/>
                </a:solidFill>
              </a:rPr>
              <a:t>SECTION 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65176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Built-in Slash Commands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3977639"/>
            <a:ext cx="1463040" cy="54864"/>
          </a:xfrm>
          <a:prstGeom prst="rect">
            <a:avLst/>
          </a:prstGeom>
          <a:solidFill>
            <a:srgbClr val="2DB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036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38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Built-in Slash Commands  ( type  /  in Chat )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68680"/>
            <a:ext cx="10241280" cy="27432"/>
          </a:xfrm>
          <a:prstGeom prst="rect">
            <a:avLst/>
          </a:prstGeom>
          <a:solidFill>
            <a:srgbClr val="238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005840"/>
          <a:ext cx="11185854" cy="3803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4312767"/>
                <a:gridCol w="4312767"/>
              </a:tblGrid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</a:rPr>
                        <a:t>Command</a:t>
                      </a:r>
                    </a:p>
                  </a:txBody>
                  <a:tcPr>
                    <a:solidFill>
                      <a:srgbClr val="238B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</a:rPr>
                        <a:t>Purpose</a:t>
                      </a:r>
                    </a:p>
                  </a:txBody>
                  <a:tcPr>
                    <a:solidFill>
                      <a:srgbClr val="238B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</a:rPr>
                        <a:t>What it Does</a:t>
                      </a:r>
                    </a:p>
                  </a:txBody>
                  <a:tcPr>
                    <a:solidFill>
                      <a:srgbClr val="238BE6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/plan</a:t>
                      </a:r>
                    </a:p>
                  </a:txBody>
                  <a:tcPr>
                    <a:solidFill>
                      <a:srgbClr val="232B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Research &amp; planning</a:t>
                      </a:r>
                    </a:p>
                  </a:txBody>
                  <a:tcPr>
                    <a:solidFill>
                      <a:srgbClr val="232B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Interviews you with a questionnaire, then produces a phased implementation plan saved to session memory</a:t>
                      </a:r>
                    </a:p>
                  </a:txBody>
                  <a:tcPr>
                    <a:solidFill>
                      <a:srgbClr val="232B33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/init</a:t>
                      </a:r>
                    </a:p>
                  </a:txBody>
                  <a:tcPr>
                    <a:solidFill>
                      <a:srgbClr val="1C23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Workspace bootstrap</a:t>
                      </a:r>
                    </a:p>
                  </a:txBody>
                  <a:tcPr>
                    <a:solidFill>
                      <a:srgbClr val="1C23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Scans your codebase and auto-generates copilot-instructions.md with build commands, conventions, architecture notes</a:t>
                      </a:r>
                    </a:p>
                  </a:txBody>
                  <a:tcPr>
                    <a:solidFill>
                      <a:srgbClr val="1C232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/create-agent</a:t>
                      </a:r>
                    </a:p>
                  </a:txBody>
                  <a:tcPr>
                    <a:solidFill>
                      <a:srgbClr val="232B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Custom agent</a:t>
                      </a:r>
                    </a:p>
                  </a:txBody>
                  <a:tcPr>
                    <a:solidFill>
                      <a:srgbClr val="232B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Reviews conversation history, then guides creation of a .agent.md persona with restricted tools</a:t>
                      </a:r>
                    </a:p>
                  </a:txBody>
                  <a:tcPr>
                    <a:solidFill>
                      <a:srgbClr val="232B33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/create-instructions</a:t>
                      </a:r>
                    </a:p>
                  </a:txBody>
                  <a:tcPr>
                    <a:solidFill>
                      <a:srgbClr val="1C23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Coding conventions</a:t>
                      </a:r>
                    </a:p>
                  </a:txBody>
                  <a:tcPr>
                    <a:solidFill>
                      <a:srgbClr val="1C23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Extracts patterns from your conversation and creates a persistent .instructions.md rule file</a:t>
                      </a:r>
                    </a:p>
                  </a:txBody>
                  <a:tcPr>
                    <a:solidFill>
                      <a:srgbClr val="1C232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/create-prompt</a:t>
                      </a:r>
                    </a:p>
                  </a:txBody>
                  <a:tcPr>
                    <a:solidFill>
                      <a:srgbClr val="232B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Reusable prompt</a:t>
                      </a:r>
                    </a:p>
                  </a:txBody>
                  <a:tcPr>
                    <a:solidFill>
                      <a:srgbClr val="232B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Packages a repeated task pattern into a .prompt.md slash command you can share with the team</a:t>
                      </a:r>
                    </a:p>
                  </a:txBody>
                  <a:tcPr>
                    <a:solidFill>
                      <a:srgbClr val="232B33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/create-skill</a:t>
                      </a:r>
                    </a:p>
                  </a:txBody>
                  <a:tcPr>
                    <a:solidFill>
                      <a:srgbClr val="1C23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Workflow skill</a:t>
                      </a:r>
                    </a:p>
                  </a:txBody>
                  <a:tcPr>
                    <a:solidFill>
                      <a:srgbClr val="1C23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Bundles a multi-step workflow + scripts/templates into a SKILL.md folder</a:t>
                      </a:r>
                    </a:p>
                  </a:txBody>
                  <a:tcPr>
                    <a:solidFill>
                      <a:srgbClr val="1C232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/create-hook</a:t>
                      </a:r>
                    </a:p>
                  </a:txBody>
                  <a:tcPr>
                    <a:solidFill>
                      <a:srgbClr val="232B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Lifecycle hook</a:t>
                      </a:r>
                    </a:p>
                  </a:txBody>
                  <a:tcPr>
                    <a:solidFill>
                      <a:srgbClr val="232B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Creates a .json hook that deterministically enforces policy at agent lifecycle events</a:t>
                      </a:r>
                    </a:p>
                  </a:txBody>
                  <a:tcPr>
                    <a:solidFill>
                      <a:srgbClr val="232B33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0911535" y="644652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8929A"/>
                </a:solidFill>
              </a:rPr>
              <a:t>6 / 39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7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78C00"/>
                </a:solidFill>
              </a:rPr>
              <a:t>SECTION 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65176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How  /plan  Works — Under the Hood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3977639"/>
            <a:ext cx="1463040" cy="54864"/>
          </a:xfrm>
          <a:prstGeom prst="rect">
            <a:avLst/>
          </a:prstGeom>
          <a:solidFill>
            <a:srgbClr val="F7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036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7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The /plan Template File — Full 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68680"/>
            <a:ext cx="10241280" cy="27432"/>
          </a:xfrm>
          <a:prstGeom prst="rect">
            <a:avLst/>
          </a:prstGeom>
          <a:solidFill>
            <a:srgbClr val="F7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1440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0AAB4"/>
                </a:solidFill>
              </a:rPr>
              <a:t>Location: assets/prompts/plan.prompt.md  inside the Copilot Chat VS Code extension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63040"/>
            <a:ext cx="6492240" cy="512064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572768"/>
            <a:ext cx="6217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8CC88"/>
                </a:solidFill>
              </a:rPr>
              <a:t>---
name: plan           ①
description: Research and plan with the Plan agent  ②
agent: Plan          ③
argument-hint: Describe what you want to plan or research  ④
---
                     ⑤
Plan my task.        ⑥</a:t>
            </a:r>
          </a:p>
        </p:txBody>
      </p:sp>
      <p:sp>
        <p:nvSpPr>
          <p:cNvPr id="8" name="Oval 7"/>
          <p:cNvSpPr/>
          <p:nvPr/>
        </p:nvSpPr>
        <p:spPr>
          <a:xfrm>
            <a:off x="7223760" y="1545336"/>
            <a:ext cx="347472" cy="347472"/>
          </a:xfrm>
          <a:prstGeom prst="ellipse">
            <a:avLst/>
          </a:prstGeom>
          <a:solidFill>
            <a:srgbClr val="F7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44384" y="1508760"/>
            <a:ext cx="4242816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D0D8E4"/>
                </a:solidFill>
              </a:rPr>
              <a:t>name — the slug used as the /plan slash command</a:t>
            </a:r>
          </a:p>
        </p:txBody>
      </p:sp>
      <p:sp>
        <p:nvSpPr>
          <p:cNvPr id="10" name="Oval 9"/>
          <p:cNvSpPr/>
          <p:nvPr/>
        </p:nvSpPr>
        <p:spPr>
          <a:xfrm>
            <a:off x="7223760" y="2203704"/>
            <a:ext cx="347472" cy="347472"/>
          </a:xfrm>
          <a:prstGeom prst="ellipse">
            <a:avLst/>
          </a:prstGeom>
          <a:solidFill>
            <a:srgbClr val="F7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44384" y="2167128"/>
            <a:ext cx="4242816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D0D8E4"/>
                </a:solidFill>
              </a:rPr>
              <a:t>description — shown in the command picker so users know what it does</a:t>
            </a:r>
          </a:p>
        </p:txBody>
      </p:sp>
      <p:sp>
        <p:nvSpPr>
          <p:cNvPr id="12" name="Oval 11"/>
          <p:cNvSpPr/>
          <p:nvPr/>
        </p:nvSpPr>
        <p:spPr>
          <a:xfrm>
            <a:off x="7223760" y="2862072"/>
            <a:ext cx="347472" cy="347472"/>
          </a:xfrm>
          <a:prstGeom prst="ellipse">
            <a:avLst/>
          </a:prstGeom>
          <a:solidFill>
            <a:srgbClr val="F7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44384" y="2825496"/>
            <a:ext cx="4242816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D0D8E4"/>
                </a:solidFill>
              </a:rPr>
              <a:t>agent: Plan — routes this prompt to the built-in Plan agent mode (not the default agent)</a:t>
            </a:r>
          </a:p>
        </p:txBody>
      </p:sp>
      <p:sp>
        <p:nvSpPr>
          <p:cNvPr id="14" name="Oval 13"/>
          <p:cNvSpPr/>
          <p:nvPr/>
        </p:nvSpPr>
        <p:spPr>
          <a:xfrm>
            <a:off x="7223760" y="3520440"/>
            <a:ext cx="347472" cy="347472"/>
          </a:xfrm>
          <a:prstGeom prst="ellipse">
            <a:avLst/>
          </a:prstGeom>
          <a:solidFill>
            <a:srgbClr val="F7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44384" y="3483864"/>
            <a:ext cx="4242816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D0D8E4"/>
                </a:solidFill>
              </a:rPr>
              <a:t>argument-hint — the placeholder text shown in the chat input box after you type /plan</a:t>
            </a:r>
          </a:p>
        </p:txBody>
      </p:sp>
      <p:sp>
        <p:nvSpPr>
          <p:cNvPr id="16" name="Oval 15"/>
          <p:cNvSpPr/>
          <p:nvPr/>
        </p:nvSpPr>
        <p:spPr>
          <a:xfrm>
            <a:off x="7223760" y="4178808"/>
            <a:ext cx="347472" cy="347472"/>
          </a:xfrm>
          <a:prstGeom prst="ellipse">
            <a:avLst/>
          </a:prstGeom>
          <a:solidFill>
            <a:srgbClr val="F7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44384" y="4142232"/>
            <a:ext cx="4242816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D0D8E4"/>
                </a:solidFill>
              </a:rPr>
              <a:t>The --- closing the YAML frontmatter. Everything below is the prompt body.</a:t>
            </a:r>
          </a:p>
        </p:txBody>
      </p:sp>
      <p:sp>
        <p:nvSpPr>
          <p:cNvPr id="18" name="Oval 17"/>
          <p:cNvSpPr/>
          <p:nvPr/>
        </p:nvSpPr>
        <p:spPr>
          <a:xfrm>
            <a:off x="7223760" y="4837176"/>
            <a:ext cx="347472" cy="347472"/>
          </a:xfrm>
          <a:prstGeom prst="ellipse">
            <a:avLst/>
          </a:prstGeom>
          <a:solidFill>
            <a:srgbClr val="F7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44384" y="4800600"/>
            <a:ext cx="4242816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D0D8E4"/>
                </a:solidFill>
              </a:rPr>
              <a:t>The entire prompt body is just this one sentence. All planning intelligence is inside the Plan agent, not here.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11535" y="644652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8929A"/>
                </a:solidFill>
              </a:rPr>
              <a:t>8 / 39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036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38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What the Plan Agent Actually Does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68680"/>
            <a:ext cx="10241280" cy="27432"/>
          </a:xfrm>
          <a:prstGeom prst="rect">
            <a:avLst/>
          </a:prstGeom>
          <a:solidFill>
            <a:srgbClr val="238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005840"/>
            <a:ext cx="111556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The template is only a routing declaration — 7 lines total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All intelligence lives inside the built-in Plan agent mode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Step-by-step process when you type  /plan &lt;your task&gt;:</a:t>
            </a:r>
          </a:p>
          <a:p>
            <a:pPr lvl="1">
              <a:spcBef>
                <a:spcPts val="200"/>
              </a:spcBef>
            </a:pPr>
            <a:r>
              <a:rPr sz="1500" b="0">
                <a:solidFill>
                  <a:srgbClr val="C0CAD4"/>
                </a:solidFill>
              </a:rPr>
              <a:t>    ◦ 1. Parses the request — identifies domain, stack hints, implied requirements</a:t>
            </a:r>
          </a:p>
          <a:p>
            <a:pPr lvl="1">
              <a:spcBef>
                <a:spcPts val="200"/>
              </a:spcBef>
            </a:pPr>
            <a:r>
              <a:rPr sz="1500" b="0">
                <a:solidFill>
                  <a:srgbClr val="C0CAD4"/>
                </a:solidFill>
              </a:rPr>
              <a:t>    ◦ 2. Identifies missing decisions → generates a targeted questionnaire</a:t>
            </a:r>
          </a:p>
          <a:p>
            <a:pPr lvl="1">
              <a:spcBef>
                <a:spcPts val="200"/>
              </a:spcBef>
            </a:pPr>
            <a:r>
              <a:rPr sz="1500" b="0">
                <a:solidFill>
                  <a:srgbClr val="C0CAD4"/>
                </a:solidFill>
              </a:rPr>
              <a:t>    ◦ 3. Maps your answers to concrete technology choices and patterns</a:t>
            </a:r>
          </a:p>
          <a:p>
            <a:pPr lvl="1">
              <a:spcBef>
                <a:spcPts val="200"/>
              </a:spcBef>
            </a:pPr>
            <a:r>
              <a:rPr sz="1500" b="0">
                <a:solidFill>
                  <a:srgbClr val="C0CAD4"/>
                </a:solidFill>
              </a:rPr>
              <a:t>    ◦ 4. Produces a dependency-ordered, sequenced implementation plan</a:t>
            </a:r>
          </a:p>
          <a:p>
            <a:pPr lvl="1">
              <a:spcBef>
                <a:spcPts val="200"/>
              </a:spcBef>
            </a:pPr>
            <a:r>
              <a:rPr sz="1500" b="0">
                <a:solidFill>
                  <a:srgbClr val="C0CAD4"/>
                </a:solidFill>
              </a:rPr>
              <a:t>    ◦ 5. Saves the complete plan to session memory so it persists through implementation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Every downstream decision — naming, patterns, security — flows from your answers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5943600"/>
            <a:ext cx="11155680" cy="64008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5961888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A0C8F0"/>
                </a:solidFill>
              </a:rPr>
              <a:t>💡  The agent knows what it doesn't know — it asks before it acts. Vague answers produce vague plans.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44652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8929A"/>
                </a:solidFill>
              </a:rPr>
              <a:t>9 / 39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036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38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PoC Walkthrough — /plan in Action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68680"/>
            <a:ext cx="10241280" cy="27432"/>
          </a:xfrm>
          <a:prstGeom prst="rect">
            <a:avLst/>
          </a:prstGeom>
          <a:solidFill>
            <a:srgbClr val="238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005840"/>
            <a:ext cx="5303520" cy="384048"/>
          </a:xfrm>
          <a:prstGeom prst="rect">
            <a:avLst/>
          </a:prstGeom>
          <a:solidFill>
            <a:srgbClr val="238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024128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The Questionnaire Answers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46304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Framework?        .NET / ASP.NET Core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OAuth provider?   Google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OAuth flow?       Authorization Code Flow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Token storage?    Redis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Frontend?         React SPA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Token strategy?   Access + Refresh tokens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1005840"/>
            <a:ext cx="5303520" cy="384048"/>
          </a:xfrm>
          <a:prstGeom prst="rect">
            <a:avLst/>
          </a:prstGeom>
          <a:solidFill>
            <a:srgbClr val="2DB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024128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The 6-Phase Plan Produced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46304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Phase 1 — Scaffold: .slnx, API project, test project, React frontend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Phase 2 — Config: NuGet packages, JwtSettings, appsettings.json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Phase 3 — Core services: TokenService (RS256) + RedisRefreshTokenStore (Lua)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Phase 4 — Controller: 5 endpoints, secure cookie helpers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Phase 5 — Frontend: AuthContext, axios interceptor, ProtectedRoute, pages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Phase 6 — Security: headers middleware, rate limiter, CORS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11535" y="644652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8929A"/>
                </a:solidFill>
              </a:rPr>
              <a:t>10 / 39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38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38BE6"/>
                </a:solidFill>
              </a:rPr>
              <a:t>SECTION 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65176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Customisation Primitives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3977639"/>
            <a:ext cx="1463040" cy="54864"/>
          </a:xfrm>
          <a:prstGeom prst="rect">
            <a:avLst/>
          </a:prstGeom>
          <a:solidFill>
            <a:srgbClr val="238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036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38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Which Primitive Should I Use?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68680"/>
            <a:ext cx="10241280" cy="27432"/>
          </a:xfrm>
          <a:prstGeom prst="rect">
            <a:avLst/>
          </a:prstGeom>
          <a:solidFill>
            <a:srgbClr val="238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005840"/>
          <a:ext cx="11185854" cy="3328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875178"/>
                <a:gridCol w="2875178"/>
                <a:gridCol w="2875178"/>
              </a:tblGrid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</a:rPr>
                        <a:t>Primitive</a:t>
                      </a:r>
                    </a:p>
                  </a:txBody>
                  <a:tcPr>
                    <a:solidFill>
                      <a:srgbClr val="238B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</a:rPr>
                        <a:t>File</a:t>
                      </a:r>
                    </a:p>
                  </a:txBody>
                  <a:tcPr>
                    <a:solidFill>
                      <a:srgbClr val="238B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</a:rPr>
                        <a:t>Location</a:t>
                      </a:r>
                    </a:p>
                  </a:txBody>
                  <a:tcPr>
                    <a:solidFill>
                      <a:srgbClr val="238B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</a:rPr>
                        <a:t>When to Use</a:t>
                      </a:r>
                    </a:p>
                  </a:txBody>
                  <a:tcPr>
                    <a:solidFill>
                      <a:srgbClr val="238BE6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Workspace Instructions</a:t>
                      </a:r>
                    </a:p>
                  </a:txBody>
                  <a:tcPr>
                    <a:solidFill>
                      <a:srgbClr val="232B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copilot-instructions.md  or  AGENTS.md</a:t>
                      </a:r>
                    </a:p>
                  </a:txBody>
                  <a:tcPr>
                    <a:solidFill>
                      <a:srgbClr val="232B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.github/  or root</a:t>
                      </a:r>
                    </a:p>
                  </a:txBody>
                  <a:tcPr>
                    <a:solidFill>
                      <a:srgbClr val="232B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Always-on project-wide rules for every task</a:t>
                      </a:r>
                    </a:p>
                  </a:txBody>
                  <a:tcPr>
                    <a:solidFill>
                      <a:srgbClr val="232B33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File Instructions</a:t>
                      </a:r>
                    </a:p>
                  </a:txBody>
                  <a:tcPr>
                    <a:solidFill>
                      <a:srgbClr val="1C23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*.instructions.md</a:t>
                      </a:r>
                    </a:p>
                  </a:txBody>
                  <a:tcPr>
                    <a:solidFill>
                      <a:srgbClr val="1C23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.github/instructions/</a:t>
                      </a:r>
                    </a:p>
                  </a:txBody>
                  <a:tcPr>
                    <a:solidFill>
                      <a:srgbClr val="1C23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Rules scoped to file types or specific task contexts</a:t>
                      </a:r>
                    </a:p>
                  </a:txBody>
                  <a:tcPr>
                    <a:solidFill>
                      <a:srgbClr val="1C232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Prompts</a:t>
                      </a:r>
                    </a:p>
                  </a:txBody>
                  <a:tcPr>
                    <a:solidFill>
                      <a:srgbClr val="232B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*.prompt.md</a:t>
                      </a:r>
                    </a:p>
                  </a:txBody>
                  <a:tcPr>
                    <a:solidFill>
                      <a:srgbClr val="232B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.github/prompts/</a:t>
                      </a:r>
                    </a:p>
                  </a:txBody>
                  <a:tcPr>
                    <a:solidFill>
                      <a:srgbClr val="232B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Single focused reusable task with parameterised inputs</a:t>
                      </a:r>
                    </a:p>
                  </a:txBody>
                  <a:tcPr>
                    <a:solidFill>
                      <a:srgbClr val="232B33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Hooks</a:t>
                      </a:r>
                    </a:p>
                  </a:txBody>
                  <a:tcPr>
                    <a:solidFill>
                      <a:srgbClr val="1C23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*.json</a:t>
                      </a:r>
                    </a:p>
                  </a:txBody>
                  <a:tcPr>
                    <a:solidFill>
                      <a:srgbClr val="1C23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.github/hooks/</a:t>
                      </a:r>
                    </a:p>
                  </a:txBody>
                  <a:tcPr>
                    <a:solidFill>
                      <a:srgbClr val="1C23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Deterministic enforcement via shell at lifecycle events</a:t>
                      </a:r>
                    </a:p>
                  </a:txBody>
                  <a:tcPr>
                    <a:solidFill>
                      <a:srgbClr val="1C232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Custom Agents</a:t>
                      </a:r>
                    </a:p>
                  </a:txBody>
                  <a:tcPr>
                    <a:solidFill>
                      <a:srgbClr val="232B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*.agent.md</a:t>
                      </a:r>
                    </a:p>
                  </a:txBody>
                  <a:tcPr>
                    <a:solidFill>
                      <a:srgbClr val="232B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.github/agents/</a:t>
                      </a:r>
                    </a:p>
                  </a:txBody>
                  <a:tcPr>
                    <a:solidFill>
                      <a:srgbClr val="232B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Specialised persona with restricted tools / context isolation</a:t>
                      </a:r>
                    </a:p>
                  </a:txBody>
                  <a:tcPr>
                    <a:solidFill>
                      <a:srgbClr val="232B33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Skills</a:t>
                      </a:r>
                    </a:p>
                  </a:txBody>
                  <a:tcPr>
                    <a:solidFill>
                      <a:srgbClr val="1C23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SKILL.md  (in named folder)</a:t>
                      </a:r>
                    </a:p>
                  </a:txBody>
                  <a:tcPr>
                    <a:solidFill>
                      <a:srgbClr val="1C23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github/skills/&lt;name&gt;/</a:t>
                      </a:r>
                    </a:p>
                  </a:txBody>
                  <a:tcPr>
                    <a:solidFill>
                      <a:srgbClr val="1C23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Multi-step on-demand workflow with bundled scripts and assets</a:t>
                      </a:r>
                    </a:p>
                  </a:txBody>
                  <a:tcPr>
                    <a:solidFill>
                      <a:srgbClr val="1C232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0911535" y="644652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8929A"/>
                </a:solidFill>
              </a:rPr>
              <a:t>12 / 39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036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38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Customisation Decision Shortcuts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68680"/>
            <a:ext cx="10241280" cy="27432"/>
          </a:xfrm>
          <a:prstGeom prst="rect">
            <a:avLst/>
          </a:prstGeom>
          <a:solidFill>
            <a:srgbClr val="238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005840"/>
            <a:ext cx="111556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Instructions vs Skill?</a:t>
            </a:r>
          </a:p>
          <a:p>
            <a:pPr lvl="1">
              <a:spcBef>
                <a:spcPts val="200"/>
              </a:spcBef>
            </a:pPr>
            <a:r>
              <a:rPr sz="1500" b="0">
                <a:solidFill>
                  <a:srgbClr val="C0CAD4"/>
                </a:solidFill>
              </a:rPr>
              <a:t>    ◦ Applies to most / all work in the project  →  Workspace Instructions</a:t>
            </a:r>
          </a:p>
          <a:p>
            <a:pPr lvl="1">
              <a:spcBef>
                <a:spcPts val="200"/>
              </a:spcBef>
            </a:pPr>
            <a:r>
              <a:rPr sz="1500" b="0">
                <a:solidFill>
                  <a:srgbClr val="C0CAD4"/>
                </a:solidFill>
              </a:rPr>
              <a:t>    ◦ On-demand specialist task triggered by context  →  Skill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Skill vs Prompt?</a:t>
            </a:r>
          </a:p>
          <a:p>
            <a:pPr lvl="1">
              <a:spcBef>
                <a:spcPts val="200"/>
              </a:spcBef>
            </a:pPr>
            <a:r>
              <a:rPr sz="1500" b="0">
                <a:solidFill>
                  <a:srgbClr val="C0CAD4"/>
                </a:solidFill>
              </a:rPr>
              <a:t>    ◦ Multi-step workflow with scripts, templates, or reference docs  →  Skill</a:t>
            </a:r>
          </a:p>
          <a:p>
            <a:pPr lvl="1">
              <a:spcBef>
                <a:spcPts val="200"/>
              </a:spcBef>
            </a:pPr>
            <a:r>
              <a:rPr sz="1500" b="0">
                <a:solidFill>
                  <a:srgbClr val="C0CAD4"/>
                </a:solidFill>
              </a:rPr>
              <a:t>    ◦ Single focused task with one clear output  →  Prompt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Skill vs Custom Agent?</a:t>
            </a:r>
          </a:p>
          <a:p>
            <a:pPr lvl="1">
              <a:spcBef>
                <a:spcPts val="200"/>
              </a:spcBef>
            </a:pPr>
            <a:r>
              <a:rPr sz="1500" b="0">
                <a:solidFill>
                  <a:srgbClr val="C0CAD4"/>
                </a:solidFill>
              </a:rPr>
              <a:t>    ◦ Same tool set needed throughout all steps  →  Skill</a:t>
            </a:r>
          </a:p>
          <a:p>
            <a:pPr lvl="1">
              <a:spcBef>
                <a:spcPts val="200"/>
              </a:spcBef>
            </a:pPr>
            <a:r>
              <a:rPr sz="1500" b="0">
                <a:solidFill>
                  <a:srgbClr val="C0CAD4"/>
                </a:solidFill>
              </a:rPr>
              <a:t>    ◦ Need context isolation, or different tool restrictions per stage  →  Custom Agent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Hooks vs Instructions?</a:t>
            </a:r>
          </a:p>
          <a:p>
            <a:pPr lvl="1">
              <a:spcBef>
                <a:spcPts val="200"/>
              </a:spcBef>
            </a:pPr>
            <a:r>
              <a:rPr sz="1500" b="0">
                <a:solidFill>
                  <a:srgbClr val="C0CAD4"/>
                </a:solidFill>
              </a:rPr>
              <a:t>    ◦ Instructions guide the agent  (non-deterministic)  →  Instructions</a:t>
            </a:r>
          </a:p>
          <a:p>
            <a:pPr lvl="1">
              <a:spcBef>
                <a:spcPts val="200"/>
              </a:spcBef>
            </a:pPr>
            <a:r>
              <a:rPr sz="1500" b="0">
                <a:solidFill>
                  <a:srgbClr val="C0CAD4"/>
                </a:solidFill>
              </a:rPr>
              <a:t>    ◦ Must block or enforce via shell commands regardless of model output  →  Hook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11535" y="644652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8929A"/>
                </a:solidFill>
              </a:rPr>
              <a:t>13 / 39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DB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BA4E"/>
                </a:solidFill>
              </a:rPr>
              <a:t>SECTION 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65176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Workspace Instructions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3977639"/>
            <a:ext cx="1463040" cy="54864"/>
          </a:xfrm>
          <a:prstGeom prst="rect">
            <a:avLst/>
          </a:prstGeom>
          <a:solidFill>
            <a:srgbClr val="2DB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036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B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Workspace Instructions — Template &amp; Key Lines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68680"/>
            <a:ext cx="10241280" cy="27432"/>
          </a:xfrm>
          <a:prstGeom prst="rect">
            <a:avLst/>
          </a:prstGeom>
          <a:solidFill>
            <a:srgbClr val="2DB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1440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0AAB4"/>
                </a:solidFill>
              </a:rPr>
              <a:t>File: .github/copilot-instructions.md   (or AGENTS.md at repo root — pick one, not both)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63040"/>
            <a:ext cx="6492240" cy="512064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572768"/>
            <a:ext cx="6217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8CC88"/>
                </a:solidFill>
              </a:rPr>
              <a:t># Project Guidelines          ①
## Code Style               ②
- Use C# 12 primary constructors
- 4-space indent, no tabs
- Reference: src/SampleClass.cs
## Architecture             ③
- API layer: Controllers only route, no logic
- Services own all business logic
- Why: testability and separation
## Build and Test           ④
- Build:  dotnet build
- Test:   dotnet test
- Frontend: npm run dev
## Conventions              ⑤
- Never hardcode secrets — use dotnet user-secrets
- All JWT must use RS256 — never HS256</a:t>
            </a:r>
          </a:p>
        </p:txBody>
      </p:sp>
      <p:sp>
        <p:nvSpPr>
          <p:cNvPr id="8" name="Oval 7"/>
          <p:cNvSpPr/>
          <p:nvPr/>
        </p:nvSpPr>
        <p:spPr>
          <a:xfrm>
            <a:off x="7223760" y="1545336"/>
            <a:ext cx="347472" cy="347472"/>
          </a:xfrm>
          <a:prstGeom prst="ellipse">
            <a:avLst/>
          </a:prstGeom>
          <a:solidFill>
            <a:srgbClr val="2DB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44384" y="1508760"/>
            <a:ext cx="4242816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D0D8E4"/>
                </a:solidFill>
              </a:rPr>
              <a:t>No YAML frontmatter needed — this file is automatically applied to every chat request across the whole workspace.</a:t>
            </a:r>
          </a:p>
        </p:txBody>
      </p:sp>
      <p:sp>
        <p:nvSpPr>
          <p:cNvPr id="10" name="Oval 9"/>
          <p:cNvSpPr/>
          <p:nvPr/>
        </p:nvSpPr>
        <p:spPr>
          <a:xfrm>
            <a:off x="7223760" y="2203704"/>
            <a:ext cx="347472" cy="347472"/>
          </a:xfrm>
          <a:prstGeom prst="ellipse">
            <a:avLst/>
          </a:prstGeom>
          <a:solidFill>
            <a:srgbClr val="2DB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44384" y="2167128"/>
            <a:ext cx="4242816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D0D8E4"/>
                </a:solidFill>
              </a:rPr>
              <a:t>Code Style section: language/formatting rules. Link to exemplar files rather than duplicating code inline.</a:t>
            </a:r>
          </a:p>
        </p:txBody>
      </p:sp>
      <p:sp>
        <p:nvSpPr>
          <p:cNvPr id="12" name="Oval 11"/>
          <p:cNvSpPr/>
          <p:nvPr/>
        </p:nvSpPr>
        <p:spPr>
          <a:xfrm>
            <a:off x="7223760" y="2862072"/>
            <a:ext cx="347472" cy="347472"/>
          </a:xfrm>
          <a:prstGeom prst="ellipse">
            <a:avLst/>
          </a:prstGeom>
          <a:solidFill>
            <a:srgbClr val="2DB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44384" y="2825496"/>
            <a:ext cx="4242816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D0D8E4"/>
                </a:solidFill>
              </a:rPr>
              <a:t>Architecture section: component boundaries and the 'why' behind structural decisions. Helps agent avoid wrong patterns.</a:t>
            </a:r>
          </a:p>
        </p:txBody>
      </p:sp>
      <p:sp>
        <p:nvSpPr>
          <p:cNvPr id="14" name="Oval 13"/>
          <p:cNvSpPr/>
          <p:nvPr/>
        </p:nvSpPr>
        <p:spPr>
          <a:xfrm>
            <a:off x="7223760" y="3520440"/>
            <a:ext cx="347472" cy="347472"/>
          </a:xfrm>
          <a:prstGeom prst="ellipse">
            <a:avLst/>
          </a:prstGeom>
          <a:solidFill>
            <a:srgbClr val="2DB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44384" y="3483864"/>
            <a:ext cx="4242816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D0D8E4"/>
                </a:solidFill>
              </a:rPr>
              <a:t>Build and Test section: exact commands the agent will run automatically. Must be accurate — agent treats these as truth.</a:t>
            </a:r>
          </a:p>
        </p:txBody>
      </p:sp>
      <p:sp>
        <p:nvSpPr>
          <p:cNvPr id="16" name="Oval 15"/>
          <p:cNvSpPr/>
          <p:nvPr/>
        </p:nvSpPr>
        <p:spPr>
          <a:xfrm>
            <a:off x="7223760" y="4178808"/>
            <a:ext cx="347472" cy="347472"/>
          </a:xfrm>
          <a:prstGeom prst="ellipse">
            <a:avLst/>
          </a:prstGeom>
          <a:solidFill>
            <a:srgbClr val="2DB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44384" y="4142232"/>
            <a:ext cx="4242816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D0D8E4"/>
                </a:solidFill>
              </a:rPr>
              <a:t>Conventions section: project-specific rules that differ from defaults. If a linter enforces it, omit it here.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11535" y="644652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8929A"/>
                </a:solidFill>
              </a:rPr>
              <a:t>15 / 39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036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38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Workspace Instructions — Principles &amp; Anti-patterns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68680"/>
            <a:ext cx="10241280" cy="27432"/>
          </a:xfrm>
          <a:prstGeom prst="rect">
            <a:avLst/>
          </a:prstGeom>
          <a:solidFill>
            <a:srgbClr val="238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005840"/>
            <a:ext cx="5303520" cy="384048"/>
          </a:xfrm>
          <a:prstGeom prst="rect">
            <a:avLst/>
          </a:prstGeom>
          <a:solidFill>
            <a:srgbClr val="238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024128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Core Principles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46304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Minimal by default — only what's relevant to every task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Concise and actionable — every line should direct behavior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Link, don't embed — reference docs instead of copying them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Keep current — update when practices change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Use AGENTS.md for monorepos: closer file in tree wins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For large repos, use applyTo-based instructions for sub-areas (frontend, backend, tests)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1005840"/>
            <a:ext cx="5303520" cy="384048"/>
          </a:xfrm>
          <a:prstGeom prst="rect">
            <a:avLst/>
          </a:prstGeom>
          <a:solidFill>
            <a:srgbClr val="2DB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024128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Anti-patterns to Avoid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46304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Using BOTH copilot-instructions.md and AGENTS.md — pick one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Kitchen-sink file: everything instead of what matters most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Duplicating the README — link to it instead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Obvious instructions like 'write clean code' — not actionable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Stale instructions — agent will follow them even if outdated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No build/test commands — agent then guesses and often gets it wrong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11535" y="644652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8929A"/>
                </a:solidFill>
              </a:rPr>
              <a:t>16 / 39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38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38BE6"/>
                </a:solidFill>
              </a:rPr>
              <a:t>SECTION  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65176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File Instructions  (.instructions.md)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3977639"/>
            <a:ext cx="1463040" cy="54864"/>
          </a:xfrm>
          <a:prstGeom prst="rect">
            <a:avLst/>
          </a:prstGeom>
          <a:solidFill>
            <a:srgbClr val="238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036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38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File Instructions — Frontmatter &amp; Key Lines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68680"/>
            <a:ext cx="10241280" cy="27432"/>
          </a:xfrm>
          <a:prstGeom prst="rect">
            <a:avLst/>
          </a:prstGeom>
          <a:solidFill>
            <a:srgbClr val="238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1440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0AAB4"/>
                </a:solidFill>
              </a:rPr>
              <a:t>File: .github/instructions/auth-patterns.instructions.md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63040"/>
            <a:ext cx="6492240" cy="512064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572768"/>
            <a:ext cx="6217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8CC88"/>
                </a:solidFill>
              </a:rPr>
              <a:t>---
name: auth-patterns          ①
description: &gt;              ②
  Use when writing auth code,
  JWT, OAuth2, or security
  middleware. Covers token
  validation and cookie rules.
applyTo: "**/Controllers/**" ③
---
                             ④
# Auth Patterns
- Always use RS256 — never HS256  ⑤
- Set HttpOnly, Secure, SameSite=Strict on all auth cookies
- Validate issuer AND audience in JWT bearer middleware
- Never log access tokens or refresh tokens</a:t>
            </a:r>
          </a:p>
        </p:txBody>
      </p:sp>
      <p:sp>
        <p:nvSpPr>
          <p:cNvPr id="8" name="Oval 7"/>
          <p:cNvSpPr/>
          <p:nvPr/>
        </p:nvSpPr>
        <p:spPr>
          <a:xfrm>
            <a:off x="7223760" y="1545336"/>
            <a:ext cx="347472" cy="347472"/>
          </a:xfrm>
          <a:prstGeom prst="ellipse">
            <a:avLst/>
          </a:prstGeom>
          <a:solidFill>
            <a:srgbClr val="238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44384" y="1508760"/>
            <a:ext cx="4242816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D0D8E4"/>
                </a:solidFill>
              </a:rPr>
              <a:t>name — optional, defaults to filename. Shown in the instructions picker.</a:t>
            </a:r>
          </a:p>
        </p:txBody>
      </p:sp>
      <p:sp>
        <p:nvSpPr>
          <p:cNvPr id="10" name="Oval 9"/>
          <p:cNvSpPr/>
          <p:nvPr/>
        </p:nvSpPr>
        <p:spPr>
          <a:xfrm>
            <a:off x="7223760" y="2203704"/>
            <a:ext cx="347472" cy="347472"/>
          </a:xfrm>
          <a:prstGeom prst="ellipse">
            <a:avLst/>
          </a:prstGeom>
          <a:solidFill>
            <a:srgbClr val="238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44384" y="2167128"/>
            <a:ext cx="4242816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D0D8E4"/>
                </a:solidFill>
              </a:rPr>
              <a:t>description — the discovery surface. Write 'Use when...' with specific keywords. Agent reads this to decide if it's relevant. Keyword-rich is critical.</a:t>
            </a:r>
          </a:p>
        </p:txBody>
      </p:sp>
      <p:sp>
        <p:nvSpPr>
          <p:cNvPr id="12" name="Oval 11"/>
          <p:cNvSpPr/>
          <p:nvPr/>
        </p:nvSpPr>
        <p:spPr>
          <a:xfrm>
            <a:off x="7223760" y="2862072"/>
            <a:ext cx="347472" cy="347472"/>
          </a:xfrm>
          <a:prstGeom prst="ellipse">
            <a:avLst/>
          </a:prstGeom>
          <a:solidFill>
            <a:srgbClr val="238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44384" y="2825496"/>
            <a:ext cx="4242816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D0D8E4"/>
                </a:solidFill>
              </a:rPr>
              <a:t>applyTo — optional glob pattern. When a file matching this pattern is in context, this instruction auto-attaches. Omit for on-demand only.</a:t>
            </a:r>
          </a:p>
        </p:txBody>
      </p:sp>
      <p:sp>
        <p:nvSpPr>
          <p:cNvPr id="14" name="Oval 13"/>
          <p:cNvSpPr/>
          <p:nvPr/>
        </p:nvSpPr>
        <p:spPr>
          <a:xfrm>
            <a:off x="7223760" y="3520440"/>
            <a:ext cx="347472" cy="347472"/>
          </a:xfrm>
          <a:prstGeom prst="ellipse">
            <a:avLst/>
          </a:prstGeom>
          <a:solidFill>
            <a:srgbClr val="238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44384" y="3483864"/>
            <a:ext cx="4242816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D0D8E4"/>
                </a:solidFill>
              </a:rPr>
              <a:t>The --- closes YAML frontmatter. The body below is the instruction content.</a:t>
            </a:r>
          </a:p>
        </p:txBody>
      </p:sp>
      <p:sp>
        <p:nvSpPr>
          <p:cNvPr id="16" name="Oval 15"/>
          <p:cNvSpPr/>
          <p:nvPr/>
        </p:nvSpPr>
        <p:spPr>
          <a:xfrm>
            <a:off x="7223760" y="4178808"/>
            <a:ext cx="347472" cy="347472"/>
          </a:xfrm>
          <a:prstGeom prst="ellipse">
            <a:avLst/>
          </a:prstGeom>
          <a:solidFill>
            <a:srgbClr val="238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44384" y="4142232"/>
            <a:ext cx="4242816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D0D8E4"/>
                </a:solidFill>
              </a:rPr>
              <a:t>Every rule should be specific and actionable. The agent treats these as hard constraints when the instruction is loaded.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11535" y="644652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8929A"/>
                </a:solidFill>
              </a:rPr>
              <a:t>18 / 39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036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38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File Instructions — Discovery Modes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68680"/>
            <a:ext cx="10241280" cy="27432"/>
          </a:xfrm>
          <a:prstGeom prst="rect">
            <a:avLst/>
          </a:prstGeom>
          <a:solidFill>
            <a:srgbClr val="238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005840"/>
          <a:ext cx="11185854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875178"/>
                <a:gridCol w="2875178"/>
                <a:gridCol w="2875178"/>
              </a:tblGrid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</a:rPr>
                        <a:t>Mode</a:t>
                      </a:r>
                    </a:p>
                  </a:txBody>
                  <a:tcPr>
                    <a:solidFill>
                      <a:srgbClr val="238B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</a:rPr>
                        <a:t>Trigger</a:t>
                      </a:r>
                    </a:p>
                  </a:txBody>
                  <a:tcPr>
                    <a:solidFill>
                      <a:srgbClr val="238B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</a:rPr>
                        <a:t>Frontmatter Required</a:t>
                      </a:r>
                    </a:p>
                  </a:txBody>
                  <a:tcPr>
                    <a:solidFill>
                      <a:srgbClr val="238B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</a:rPr>
                        <a:t>Best Use Case</a:t>
                      </a:r>
                    </a:p>
                  </a:txBody>
                  <a:tcPr>
                    <a:solidFill>
                      <a:srgbClr val="238BE6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On-demand</a:t>
                      </a:r>
                    </a:p>
                  </a:txBody>
                  <a:tcPr>
                    <a:solidFill>
                      <a:srgbClr val="232B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Agent detects task relevance from description keywords</a:t>
                      </a:r>
                    </a:p>
                  </a:txBody>
                  <a:tcPr>
                    <a:solidFill>
                      <a:srgbClr val="232B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description  only</a:t>
                      </a:r>
                    </a:p>
                  </a:txBody>
                  <a:tcPr>
                    <a:solidFill>
                      <a:srgbClr val="232B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Task-based: migrations, refactoring, security, API design</a:t>
                      </a:r>
                    </a:p>
                  </a:txBody>
                  <a:tcPr>
                    <a:solidFill>
                      <a:srgbClr val="232B33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Explicit</a:t>
                      </a:r>
                    </a:p>
                  </a:txBody>
                  <a:tcPr>
                    <a:solidFill>
                      <a:srgbClr val="1C23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Files matching applyTo glob are in the context window</a:t>
                      </a:r>
                    </a:p>
                  </a:txBody>
                  <a:tcPr>
                    <a:solidFill>
                      <a:srgbClr val="1C23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applyTo  glob pattern</a:t>
                      </a:r>
                    </a:p>
                  </a:txBody>
                  <a:tcPr>
                    <a:solidFill>
                      <a:srgbClr val="1C23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File-based: language standards, framework rules, test conventions</a:t>
                      </a:r>
                    </a:p>
                  </a:txBody>
                  <a:tcPr>
                    <a:solidFill>
                      <a:srgbClr val="1C232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Manual</a:t>
                      </a:r>
                    </a:p>
                  </a:txBody>
                  <a:tcPr>
                    <a:solidFill>
                      <a:srgbClr val="232B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User selects via Add Context &gt; Instructions</a:t>
                      </a:r>
                    </a:p>
                  </a:txBody>
                  <a:tcPr>
                    <a:solidFill>
                      <a:srgbClr val="232B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Either or neither</a:t>
                      </a:r>
                    </a:p>
                  </a:txBody>
                  <a:tcPr>
                    <a:solidFill>
                      <a:srgbClr val="232B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Ad-hoc one-time attachment for a specific session</a:t>
                      </a:r>
                    </a:p>
                  </a:txBody>
                  <a:tcPr>
                    <a:solidFill>
                      <a:srgbClr val="232B33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Always-on</a:t>
                      </a:r>
                    </a:p>
                  </a:txBody>
                  <a:tcPr>
                    <a:solidFill>
                      <a:srgbClr val="1C23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applyTo: '**'  matches every file</a:t>
                      </a:r>
                    </a:p>
                  </a:txBody>
                  <a:tcPr>
                    <a:solidFill>
                      <a:srgbClr val="1C23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applyTo: "**"  (caution!)</a:t>
                      </a:r>
                    </a:p>
                  </a:txBody>
                  <a:tcPr>
                    <a:solidFill>
                      <a:srgbClr val="1C23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Rare — only if truly universal; bloats every request context</a:t>
                      </a:r>
                    </a:p>
                  </a:txBody>
                  <a:tcPr>
                    <a:solidFill>
                      <a:srgbClr val="1C232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0911535" y="644652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8929A"/>
                </a:solidFill>
              </a:rPr>
              <a:t>19 / 39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7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78C00"/>
                </a:solidFill>
              </a:rPr>
              <a:t>SECTION  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65176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Prompts  (.prompt.md)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3977639"/>
            <a:ext cx="1463040" cy="54864"/>
          </a:xfrm>
          <a:prstGeom prst="rect">
            <a:avLst/>
          </a:prstGeom>
          <a:solidFill>
            <a:srgbClr val="F7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036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7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Prompts — Frontmatter &amp; Key Lines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68680"/>
            <a:ext cx="10241280" cy="27432"/>
          </a:xfrm>
          <a:prstGeom prst="rect">
            <a:avLst/>
          </a:prstGeom>
          <a:solidFill>
            <a:srgbClr val="F7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1440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0AAB4"/>
                </a:solidFill>
              </a:rPr>
              <a:t>File: .github/prompts/generate-tests.prompt.md   →   invoked as  /generate-tests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63040"/>
            <a:ext cx="6492240" cy="512064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572768"/>
            <a:ext cx="6217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8CC88"/>
                </a:solidFill>
              </a:rPr>
              <a:t>---
name: generate-tests         ①
description: &gt;               ②
  Generate xUnit test cases
  for selected code. Covers
  edge cases, error paths,
  and existing test patterns.
agent: agent                 ③
argument-hint: &gt;             ④
  Paste the class or method
  to test
tools: [read, search, edit]  ⑤
model: "Claude Sonnet 4"     ⑥
---
Generate comprehensive xUnit tests for the selected code.  ⑦
- Include happy path, edge cases, and error scenarios
- Match patterns in existing test files: [tests](../../AuthSystem.Tests/)
- Use descriptive [Fact] names in Given_When_Then format</a:t>
            </a:r>
          </a:p>
        </p:txBody>
      </p:sp>
      <p:sp>
        <p:nvSpPr>
          <p:cNvPr id="8" name="Oval 7"/>
          <p:cNvSpPr/>
          <p:nvPr/>
        </p:nvSpPr>
        <p:spPr>
          <a:xfrm>
            <a:off x="7223760" y="1545336"/>
            <a:ext cx="347472" cy="347472"/>
          </a:xfrm>
          <a:prstGeom prst="ellipse">
            <a:avLst/>
          </a:prstGeom>
          <a:solidFill>
            <a:srgbClr val="F7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44384" y="1508760"/>
            <a:ext cx="4242816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D0D8E4"/>
                </a:solidFill>
              </a:rPr>
              <a:t>name — the slug for the /generate-tests slash command. Must be filename-safe.</a:t>
            </a:r>
          </a:p>
        </p:txBody>
      </p:sp>
      <p:sp>
        <p:nvSpPr>
          <p:cNvPr id="10" name="Oval 9"/>
          <p:cNvSpPr/>
          <p:nvPr/>
        </p:nvSpPr>
        <p:spPr>
          <a:xfrm>
            <a:off x="7223760" y="2203704"/>
            <a:ext cx="347472" cy="347472"/>
          </a:xfrm>
          <a:prstGeom prst="ellipse">
            <a:avLst/>
          </a:prstGeom>
          <a:solidFill>
            <a:srgbClr val="F7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44384" y="2167128"/>
            <a:ext cx="4242816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D0D8E4"/>
                </a:solidFill>
              </a:rPr>
              <a:t>description — shown in picker and used for agent auto-discovery. Include task keywords.</a:t>
            </a:r>
          </a:p>
        </p:txBody>
      </p:sp>
      <p:sp>
        <p:nvSpPr>
          <p:cNvPr id="12" name="Oval 11"/>
          <p:cNvSpPr/>
          <p:nvPr/>
        </p:nvSpPr>
        <p:spPr>
          <a:xfrm>
            <a:off x="7223760" y="2862072"/>
            <a:ext cx="347472" cy="347472"/>
          </a:xfrm>
          <a:prstGeom prst="ellipse">
            <a:avLst/>
          </a:prstGeom>
          <a:solidFill>
            <a:srgbClr val="F7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44384" y="2825496"/>
            <a:ext cx="4242816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D0D8E4"/>
                </a:solidFill>
              </a:rPr>
              <a:t>agent: agent — runs in full agent mode with tool access. Options: agent, ask (chat only), plan, or a custom agent name.</a:t>
            </a:r>
          </a:p>
        </p:txBody>
      </p:sp>
      <p:sp>
        <p:nvSpPr>
          <p:cNvPr id="14" name="Oval 13"/>
          <p:cNvSpPr/>
          <p:nvPr/>
        </p:nvSpPr>
        <p:spPr>
          <a:xfrm>
            <a:off x="7223760" y="3520440"/>
            <a:ext cx="347472" cy="347472"/>
          </a:xfrm>
          <a:prstGeom prst="ellipse">
            <a:avLst/>
          </a:prstGeom>
          <a:solidFill>
            <a:srgbClr val="F7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44384" y="3483864"/>
            <a:ext cx="4242816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D0D8E4"/>
                </a:solidFill>
              </a:rPr>
              <a:t>argument-hint — placeholder text shown in the chat input after you type the slash command.</a:t>
            </a:r>
          </a:p>
        </p:txBody>
      </p:sp>
      <p:sp>
        <p:nvSpPr>
          <p:cNvPr id="16" name="Oval 15"/>
          <p:cNvSpPr/>
          <p:nvPr/>
        </p:nvSpPr>
        <p:spPr>
          <a:xfrm>
            <a:off x="7223760" y="4178808"/>
            <a:ext cx="347472" cy="347472"/>
          </a:xfrm>
          <a:prstGeom prst="ellipse">
            <a:avLst/>
          </a:prstGeom>
          <a:solidFill>
            <a:srgbClr val="F7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44384" y="4142232"/>
            <a:ext cx="4242816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D0D8E4"/>
                </a:solidFill>
              </a:rPr>
              <a:t>tools — restrict which tools this prompt can use. Principle of least privilege: only what's needed.</a:t>
            </a:r>
          </a:p>
        </p:txBody>
      </p:sp>
      <p:sp>
        <p:nvSpPr>
          <p:cNvPr id="18" name="Oval 17"/>
          <p:cNvSpPr/>
          <p:nvPr/>
        </p:nvSpPr>
        <p:spPr>
          <a:xfrm>
            <a:off x="7223760" y="4837176"/>
            <a:ext cx="347472" cy="347472"/>
          </a:xfrm>
          <a:prstGeom prst="ellipse">
            <a:avLst/>
          </a:prstGeom>
          <a:solidFill>
            <a:srgbClr val="F7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44384" y="4800600"/>
            <a:ext cx="4242816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D0D8E4"/>
                </a:solidFill>
              </a:rPr>
              <a:t>model — override the default model for this specific prompt. Supports fallback array.</a:t>
            </a:r>
          </a:p>
        </p:txBody>
      </p:sp>
      <p:sp>
        <p:nvSpPr>
          <p:cNvPr id="20" name="Oval 19"/>
          <p:cNvSpPr/>
          <p:nvPr/>
        </p:nvSpPr>
        <p:spPr>
          <a:xfrm>
            <a:off x="7223760" y="5495544"/>
            <a:ext cx="347472" cy="347472"/>
          </a:xfrm>
          <a:prstGeom prst="ellipse">
            <a:avLst/>
          </a:prstGeom>
          <a:solidFill>
            <a:srgbClr val="F7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44384" y="5458968"/>
            <a:ext cx="4242816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D0D8E4"/>
                </a:solidFill>
              </a:rPr>
              <a:t>Body: the actual task instructions. Reference files with Markdown links — agent will read them.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11535" y="644652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8929A"/>
                </a:solidFill>
              </a:rPr>
              <a:t>21 / 39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036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38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Prompts — Principles &amp; Anti-patterns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68680"/>
            <a:ext cx="10241280" cy="27432"/>
          </a:xfrm>
          <a:prstGeom prst="rect">
            <a:avLst/>
          </a:prstGeom>
          <a:solidFill>
            <a:srgbClr val="238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005840"/>
            <a:ext cx="5303520" cy="384048"/>
          </a:xfrm>
          <a:prstGeom prst="rect">
            <a:avLst/>
          </a:prstGeom>
          <a:solidFill>
            <a:srgbClr val="238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024128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Core Principles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46304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Single task focus: one prompt = one well-defined output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Output examples: show expected format when structure matters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Reference files with Markdown links: [config](./config.json) — agent reads them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Use argument-hint to tell users what input to provide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Reuse over duplication: reference .instructions.md files instead of copying their content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Both prompts and skills appear as / slash commands — skills for multi-step, prompts for single-task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1005840"/>
            <a:ext cx="5303520" cy="384048"/>
          </a:xfrm>
          <a:prstGeom prst="rect">
            <a:avLst/>
          </a:prstGeom>
          <a:solidFill>
            <a:srgbClr val="2DB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024128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Anti-patterns to Avoid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46304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Multi-task prompts: 'create and test and deploy' → split into separate prompts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Vague descriptions: users won't know when to use it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Over-tooling: giving a read-only task execute access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Hardcoded paths that break on other machines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No context references: agent guesses at file structure instead of reading it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Using prompt when a Skill is better: if &gt; 3 steps with assets → make a Skill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11535" y="644652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8929A"/>
                </a:solidFill>
              </a:rPr>
              <a:t>22 / 39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94E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794EC8"/>
                </a:solidFill>
              </a:rPr>
              <a:t>SECTION  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65176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Skills  (SKILL.md)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3977639"/>
            <a:ext cx="1463040" cy="54864"/>
          </a:xfrm>
          <a:prstGeom prst="rect">
            <a:avLst/>
          </a:prstGeom>
          <a:solidFill>
            <a:srgbClr val="794E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036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94E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Skills — SKILL.md Frontmatter &amp; Key Lines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68680"/>
            <a:ext cx="10241280" cy="27432"/>
          </a:xfrm>
          <a:prstGeom prst="rect">
            <a:avLst/>
          </a:prstGeom>
          <a:solidFill>
            <a:srgbClr val="794E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1440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0AAB4"/>
                </a:solidFill>
              </a:rPr>
              <a:t>File: .github/skills/run-e2e-tests/SKILL.md   (folder name must match 'name' field)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63040"/>
            <a:ext cx="6492240" cy="512064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572768"/>
            <a:ext cx="6217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8CC88"/>
                </a:solidFill>
              </a:rPr>
              <a:t>---
name: run-e2e-tests          ①
description: &gt;               ②
  Run end-to-end tests using
  Playwright. Use for verifying
  frontend, debugging UI,
  capturing failure screenshots.
argument-hint: &gt;             ③
  Optionally specify a page
  or feature to target
user-invocable: true         ④
disable-model-invocation: false  ⑤
---
# End-to-End Testing         ⑥
## When to Use               ⑦
- After every UI change
- When debugging visual regressions
## Procedure
1. Start API:  dotnet run --project AuthSystem.API
2. Run tests: [playwright script](./scripts/run-tests.js)  ⑧
3. Screenshots saved to ./screenshots/</a:t>
            </a:r>
          </a:p>
        </p:txBody>
      </p:sp>
      <p:sp>
        <p:nvSpPr>
          <p:cNvPr id="8" name="Oval 7"/>
          <p:cNvSpPr/>
          <p:nvPr/>
        </p:nvSpPr>
        <p:spPr>
          <a:xfrm>
            <a:off x="7223760" y="1545336"/>
            <a:ext cx="347472" cy="347472"/>
          </a:xfrm>
          <a:prstGeom prst="ellipse">
            <a:avLst/>
          </a:prstGeom>
          <a:solidFill>
            <a:srgbClr val="794E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44384" y="1508760"/>
            <a:ext cx="4242816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D0D8E4"/>
                </a:solidFill>
              </a:rPr>
              <a:t>name — required, 1-64 chars, lowercase alphanumeric + hyphens. MUST match the folder name exactly or the skill silently fails.</a:t>
            </a:r>
          </a:p>
        </p:txBody>
      </p:sp>
      <p:sp>
        <p:nvSpPr>
          <p:cNvPr id="10" name="Oval 9"/>
          <p:cNvSpPr/>
          <p:nvPr/>
        </p:nvSpPr>
        <p:spPr>
          <a:xfrm>
            <a:off x="7223760" y="2203704"/>
            <a:ext cx="347472" cy="347472"/>
          </a:xfrm>
          <a:prstGeom prst="ellipse">
            <a:avLst/>
          </a:prstGeom>
          <a:solidFill>
            <a:srgbClr val="794E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44384" y="2167128"/>
            <a:ext cx="4242816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D0D8E4"/>
                </a:solidFill>
              </a:rPr>
              <a:t>description — the 2-stage discovery surface: first ~100 tokens are read to decide relevance, then full body loads. Max 1024 chars.</a:t>
            </a:r>
          </a:p>
        </p:txBody>
      </p:sp>
      <p:sp>
        <p:nvSpPr>
          <p:cNvPr id="12" name="Oval 11"/>
          <p:cNvSpPr/>
          <p:nvPr/>
        </p:nvSpPr>
        <p:spPr>
          <a:xfrm>
            <a:off x="7223760" y="2862072"/>
            <a:ext cx="347472" cy="347472"/>
          </a:xfrm>
          <a:prstGeom prst="ellipse">
            <a:avLst/>
          </a:prstGeom>
          <a:solidFill>
            <a:srgbClr val="794E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44384" y="2825496"/>
            <a:ext cx="4242816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D0D8E4"/>
                </a:solidFill>
              </a:rPr>
              <a:t>argument-hint — shown when user types /run-e2e-tests in chat, guiding what to type after the command.</a:t>
            </a:r>
          </a:p>
        </p:txBody>
      </p:sp>
      <p:sp>
        <p:nvSpPr>
          <p:cNvPr id="14" name="Oval 13"/>
          <p:cNvSpPr/>
          <p:nvPr/>
        </p:nvSpPr>
        <p:spPr>
          <a:xfrm>
            <a:off x="7223760" y="3520440"/>
            <a:ext cx="347472" cy="347472"/>
          </a:xfrm>
          <a:prstGeom prst="ellipse">
            <a:avLst/>
          </a:prstGeom>
          <a:solidFill>
            <a:srgbClr val="794E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44384" y="3483864"/>
            <a:ext cx="4242816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D0D8E4"/>
                </a:solidFill>
              </a:rPr>
              <a:t>user-invocable: true — shows this skill as a /slash command. Set false to make it agent-only (auto-loaded, not user-triggered).</a:t>
            </a:r>
          </a:p>
        </p:txBody>
      </p:sp>
      <p:sp>
        <p:nvSpPr>
          <p:cNvPr id="16" name="Oval 15"/>
          <p:cNvSpPr/>
          <p:nvPr/>
        </p:nvSpPr>
        <p:spPr>
          <a:xfrm>
            <a:off x="7223760" y="4178808"/>
            <a:ext cx="347472" cy="347472"/>
          </a:xfrm>
          <a:prstGeom prst="ellipse">
            <a:avLst/>
          </a:prstGeom>
          <a:solidFill>
            <a:srgbClr val="794E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44384" y="4142232"/>
            <a:ext cx="4242816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D0D8E4"/>
                </a:solidFill>
              </a:rPr>
              <a:t>disable-model-invocation: false — default. Set true to prevent automatic loading; only loads when user explicitly invokes.</a:t>
            </a:r>
          </a:p>
        </p:txBody>
      </p:sp>
      <p:sp>
        <p:nvSpPr>
          <p:cNvPr id="18" name="Oval 17"/>
          <p:cNvSpPr/>
          <p:nvPr/>
        </p:nvSpPr>
        <p:spPr>
          <a:xfrm>
            <a:off x="7223760" y="4837176"/>
            <a:ext cx="347472" cy="347472"/>
          </a:xfrm>
          <a:prstGeom prst="ellipse">
            <a:avLst/>
          </a:prstGeom>
          <a:solidFill>
            <a:srgbClr val="794E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44384" y="4800600"/>
            <a:ext cx="4242816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D0D8E4"/>
                </a:solidFill>
              </a:rPr>
              <a:t>Body has no frontmatter boundary — everything after --- is the skill instructions loaded when triggered.</a:t>
            </a:r>
          </a:p>
        </p:txBody>
      </p:sp>
      <p:sp>
        <p:nvSpPr>
          <p:cNvPr id="20" name="Oval 19"/>
          <p:cNvSpPr/>
          <p:nvPr/>
        </p:nvSpPr>
        <p:spPr>
          <a:xfrm>
            <a:off x="7223760" y="5495544"/>
            <a:ext cx="347472" cy="347472"/>
          </a:xfrm>
          <a:prstGeom prst="ellipse">
            <a:avLst/>
          </a:prstGeom>
          <a:solidFill>
            <a:srgbClr val="794E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44384" y="5458968"/>
            <a:ext cx="4242816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D0D8E4"/>
                </a:solidFill>
              </a:rPr>
              <a:t>'When to Use' section is critical — helps agent and user know exactly when this skill applies.</a:t>
            </a:r>
          </a:p>
        </p:txBody>
      </p:sp>
      <p:sp>
        <p:nvSpPr>
          <p:cNvPr id="22" name="Oval 21"/>
          <p:cNvSpPr/>
          <p:nvPr/>
        </p:nvSpPr>
        <p:spPr>
          <a:xfrm>
            <a:off x="7223760" y="6153912"/>
            <a:ext cx="347472" cy="347472"/>
          </a:xfrm>
          <a:prstGeom prst="ellipse">
            <a:avLst/>
          </a:prstGeom>
          <a:solidFill>
            <a:srgbClr val="794E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44384" y="6117336"/>
            <a:ext cx="4242816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D0D8E4"/>
                </a:solidFill>
              </a:rPr>
              <a:t>Reference scripts with relative Markdown links. Agent loads them progressively only when needed — keeps context lean.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11535" y="644652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8929A"/>
                </a:solidFill>
              </a:rPr>
              <a:t>24 / 39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036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38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Skills — Folder Structure &amp; Progressive Loading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68680"/>
            <a:ext cx="10241280" cy="27432"/>
          </a:xfrm>
          <a:prstGeom prst="rect">
            <a:avLst/>
          </a:prstGeom>
          <a:solidFill>
            <a:srgbClr val="238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005840"/>
            <a:ext cx="111556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Recommended folder layout:</a:t>
            </a:r>
          </a:p>
          <a:p>
            <a:pPr lvl="1">
              <a:spcBef>
                <a:spcPts val="200"/>
              </a:spcBef>
            </a:pPr>
            <a:r>
              <a:rPr sz="1500" b="0">
                <a:solidFill>
                  <a:srgbClr val="C0CAD4"/>
                </a:solidFill>
              </a:rPr>
              <a:t>    ◦ .github/skills/&lt;skill-name&gt;/SKILL.md      ← required entry point</a:t>
            </a:r>
          </a:p>
          <a:p>
            <a:pPr lvl="1">
              <a:spcBef>
                <a:spcPts val="200"/>
              </a:spcBef>
            </a:pPr>
            <a:r>
              <a:rPr sz="1500" b="0">
                <a:solidFill>
                  <a:srgbClr val="C0CAD4"/>
                </a:solidFill>
              </a:rPr>
              <a:t>    ◦ .github/skills/&lt;skill-name&gt;/scripts/      ← executable scripts</a:t>
            </a:r>
          </a:p>
          <a:p>
            <a:pPr lvl="1">
              <a:spcBef>
                <a:spcPts val="200"/>
              </a:spcBef>
            </a:pPr>
            <a:r>
              <a:rPr sz="1500" b="0">
                <a:solidFill>
                  <a:srgbClr val="C0CAD4"/>
                </a:solidFill>
              </a:rPr>
              <a:t>    ◦ .github/skills/&lt;skill-name&gt;/references/   ← detailed docs loaded on demand</a:t>
            </a:r>
          </a:p>
          <a:p>
            <a:pPr lvl="1">
              <a:spcBef>
                <a:spcPts val="200"/>
              </a:spcBef>
            </a:pPr>
            <a:r>
              <a:rPr sz="1500" b="0">
                <a:solidFill>
                  <a:srgbClr val="C0CAD4"/>
                </a:solidFill>
              </a:rPr>
              <a:t>    ◦ .github/skills/&lt;skill-name&gt;/assets/       ← templates, boilerplate files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Progressive loading — 3 stages:</a:t>
            </a:r>
          </a:p>
          <a:p>
            <a:pPr lvl="1">
              <a:spcBef>
                <a:spcPts val="200"/>
              </a:spcBef>
            </a:pPr>
            <a:r>
              <a:rPr sz="1500" b="0">
                <a:solidFill>
                  <a:srgbClr val="C0CAD4"/>
                </a:solidFill>
              </a:rPr>
              <a:t>    ◦ Stage 1 — Discovery (~100 tokens): agent reads name + description to decide relevance</a:t>
            </a:r>
          </a:p>
          <a:p>
            <a:pPr lvl="1">
              <a:spcBef>
                <a:spcPts val="200"/>
              </a:spcBef>
            </a:pPr>
            <a:r>
              <a:rPr sz="1500" b="0">
                <a:solidFill>
                  <a:srgbClr val="C0CAD4"/>
                </a:solidFill>
              </a:rPr>
              <a:t>    ◦ Stage 2 — Instructions (&lt;5000 tokens): loads full SKILL.md body when triggered</a:t>
            </a:r>
          </a:p>
          <a:p>
            <a:pPr lvl="1">
              <a:spcBef>
                <a:spcPts val="200"/>
              </a:spcBef>
            </a:pPr>
            <a:r>
              <a:rPr sz="1500" b="0">
                <a:solidFill>
                  <a:srgbClr val="C0CAD4"/>
                </a:solidFill>
              </a:rPr>
              <a:t>    ◦ Stage 3 — Resources: additional files load ONLY when explicitly referenced in body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Keep SKILL.md under 500 lines — move detail into references/ and link from the body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Always use relative paths ( ./ ) for skill assets — absolute paths break portability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5943600"/>
            <a:ext cx="11155680" cy="64008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5961888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A0C8F0"/>
                </a:solidFill>
              </a:rPr>
              <a:t>💡  Progressive loading keeps the context window lean. The agent only pays the cost of files it actually needs.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44652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8929A"/>
                </a:solidFill>
              </a:rPr>
              <a:t>25 / 39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7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78C00"/>
                </a:solidFill>
              </a:rPr>
              <a:t>SECTION  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65176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Custom Agents  (.agent.md)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3977639"/>
            <a:ext cx="1463040" cy="54864"/>
          </a:xfrm>
          <a:prstGeom prst="rect">
            <a:avLst/>
          </a:prstGeom>
          <a:solidFill>
            <a:srgbClr val="F7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036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7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Custom Agents — Frontmatter &amp; Key Lines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68680"/>
            <a:ext cx="10241280" cy="27432"/>
          </a:xfrm>
          <a:prstGeom prst="rect">
            <a:avLst/>
          </a:prstGeom>
          <a:solidFill>
            <a:srgbClr val="F7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1440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0AAB4"/>
                </a:solidFill>
              </a:rPr>
              <a:t>File: .github/agents/code-reviewer.agent.md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63040"/>
            <a:ext cx="6492240" cy="512064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572768"/>
            <a:ext cx="6217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8CC88"/>
                </a:solidFill>
              </a:rPr>
              <a:t>---
description: &gt;               ①
  Use when: reviewing code for
  security issues, OWASP Top 10,
  code quality, or PR feedback.
name: Code Reviewer          ②
tools: [read, search]        ③
model: "Claude Sonnet 4"     ④
user-invocable: true         ⑤
agents: []                   ⑥
---
You are a security-focused code reviewer.  ⑦
## Constraints               ⑧
- DO NOT edit or write any files
- DO NOT run any shell commands
- ONLY review and report findings
## Approach
1. Read all changed files
2. Check each OWASP Top 10 category
3. Return structured findings with severity</a:t>
            </a:r>
          </a:p>
        </p:txBody>
      </p:sp>
      <p:sp>
        <p:nvSpPr>
          <p:cNvPr id="8" name="Oval 7"/>
          <p:cNvSpPr/>
          <p:nvPr/>
        </p:nvSpPr>
        <p:spPr>
          <a:xfrm>
            <a:off x="7223760" y="1545336"/>
            <a:ext cx="347472" cy="347472"/>
          </a:xfrm>
          <a:prstGeom prst="ellipse">
            <a:avLst/>
          </a:prstGeom>
          <a:solidFill>
            <a:srgbClr val="F7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44384" y="1508760"/>
            <a:ext cx="4242816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D0D8E4"/>
                </a:solidFill>
              </a:rPr>
              <a:t>description — REQUIRED. The primary discovery surface for both the agent picker AND parent agents delegating to subagents. Use 'Use when:' pattern with specific trigger keywords.</a:t>
            </a:r>
          </a:p>
        </p:txBody>
      </p:sp>
      <p:sp>
        <p:nvSpPr>
          <p:cNvPr id="10" name="Oval 9"/>
          <p:cNvSpPr/>
          <p:nvPr/>
        </p:nvSpPr>
        <p:spPr>
          <a:xfrm>
            <a:off x="7223760" y="2203704"/>
            <a:ext cx="347472" cy="347472"/>
          </a:xfrm>
          <a:prstGeom prst="ellipse">
            <a:avLst/>
          </a:prstGeom>
          <a:solidFill>
            <a:srgbClr val="F7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44384" y="2167128"/>
            <a:ext cx="4242816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D0D8E4"/>
                </a:solidFill>
              </a:rPr>
              <a:t>name — shown in the agent picker dropdown. Optional; defaults to filename without extension.</a:t>
            </a:r>
          </a:p>
        </p:txBody>
      </p:sp>
      <p:sp>
        <p:nvSpPr>
          <p:cNvPr id="12" name="Oval 11"/>
          <p:cNvSpPr/>
          <p:nvPr/>
        </p:nvSpPr>
        <p:spPr>
          <a:xfrm>
            <a:off x="7223760" y="2862072"/>
            <a:ext cx="347472" cy="347472"/>
          </a:xfrm>
          <a:prstGeom prst="ellipse">
            <a:avLst/>
          </a:prstGeom>
          <a:solidFill>
            <a:srgbClr val="F7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44384" y="2825496"/>
            <a:ext cx="4242816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D0D8E4"/>
                </a:solidFill>
              </a:rPr>
              <a:t>tools — restrict to minimum needed. [read, search] = read-only; [] = conversational only; omit = all defaults.</a:t>
            </a:r>
          </a:p>
        </p:txBody>
      </p:sp>
      <p:sp>
        <p:nvSpPr>
          <p:cNvPr id="14" name="Oval 13"/>
          <p:cNvSpPr/>
          <p:nvPr/>
        </p:nvSpPr>
        <p:spPr>
          <a:xfrm>
            <a:off x="7223760" y="3520440"/>
            <a:ext cx="347472" cy="347472"/>
          </a:xfrm>
          <a:prstGeom prst="ellipse">
            <a:avLst/>
          </a:prstGeom>
          <a:solidFill>
            <a:srgbClr val="F7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44384" y="3483864"/>
            <a:ext cx="4242816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D0D8E4"/>
                </a:solidFill>
              </a:rPr>
              <a:t>model — override the model. Supports fallback array: ['Claude Sonnet 4.5 (copilot)', 'GPT-5 (copilot)']</a:t>
            </a:r>
          </a:p>
        </p:txBody>
      </p:sp>
      <p:sp>
        <p:nvSpPr>
          <p:cNvPr id="16" name="Oval 15"/>
          <p:cNvSpPr/>
          <p:nvPr/>
        </p:nvSpPr>
        <p:spPr>
          <a:xfrm>
            <a:off x="7223760" y="4178808"/>
            <a:ext cx="347472" cy="347472"/>
          </a:xfrm>
          <a:prstGeom prst="ellipse">
            <a:avLst/>
          </a:prstGeom>
          <a:solidFill>
            <a:srgbClr val="F7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44384" y="4142232"/>
            <a:ext cx="4242816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D0D8E4"/>
                </a:solidFill>
              </a:rPr>
              <a:t>user-invocable: true — shows in agent picker. Set false to hide from picker; agent still accessible as subagent.</a:t>
            </a:r>
          </a:p>
        </p:txBody>
      </p:sp>
      <p:sp>
        <p:nvSpPr>
          <p:cNvPr id="18" name="Oval 17"/>
          <p:cNvSpPr/>
          <p:nvPr/>
        </p:nvSpPr>
        <p:spPr>
          <a:xfrm>
            <a:off x="7223760" y="4837176"/>
            <a:ext cx="347472" cy="347472"/>
          </a:xfrm>
          <a:prstGeom prst="ellipse">
            <a:avLst/>
          </a:prstGeom>
          <a:solidFill>
            <a:srgbClr val="F7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44384" y="4800600"/>
            <a:ext cx="4242816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D0D8E4"/>
                </a:solidFill>
              </a:rPr>
              <a:t>agents: [] — prevent this agent from invoking any subagents. Omit to allow all; list names to restrict.</a:t>
            </a:r>
          </a:p>
        </p:txBody>
      </p:sp>
      <p:sp>
        <p:nvSpPr>
          <p:cNvPr id="20" name="Oval 19"/>
          <p:cNvSpPr/>
          <p:nvPr/>
        </p:nvSpPr>
        <p:spPr>
          <a:xfrm>
            <a:off x="7223760" y="5495544"/>
            <a:ext cx="347472" cy="347472"/>
          </a:xfrm>
          <a:prstGeom prst="ellipse">
            <a:avLst/>
          </a:prstGeom>
          <a:solidFill>
            <a:srgbClr val="F7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44384" y="5458968"/>
            <a:ext cx="4242816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D0D8E4"/>
                </a:solidFill>
              </a:rPr>
              <a:t>Persona statement in body — define the role clearly. This shapes the model's entire behavior.</a:t>
            </a:r>
          </a:p>
        </p:txBody>
      </p:sp>
      <p:sp>
        <p:nvSpPr>
          <p:cNvPr id="22" name="Oval 21"/>
          <p:cNvSpPr/>
          <p:nvPr/>
        </p:nvSpPr>
        <p:spPr>
          <a:xfrm>
            <a:off x="7223760" y="6153912"/>
            <a:ext cx="347472" cy="347472"/>
          </a:xfrm>
          <a:prstGeom prst="ellipse">
            <a:avLst/>
          </a:prstGeom>
          <a:solidFill>
            <a:srgbClr val="F7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44384" y="6117336"/>
            <a:ext cx="4242816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D0D8E4"/>
                </a:solidFill>
              </a:rPr>
              <a:t>Constraints section — explicit DO NOT rules are critical for focused agents. Define exactly what it must NOT do.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11535" y="644652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8929A"/>
                </a:solidFill>
              </a:rPr>
              <a:t>27 / 39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036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38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Custom Agent Tool Aliases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68680"/>
            <a:ext cx="10241280" cy="27432"/>
          </a:xfrm>
          <a:prstGeom prst="rect">
            <a:avLst/>
          </a:prstGeom>
          <a:solidFill>
            <a:srgbClr val="238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005840"/>
          <a:ext cx="11185854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4312767"/>
                <a:gridCol w="4312767"/>
              </a:tblGrid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</a:rPr>
                        <a:t>Alias</a:t>
                      </a:r>
                    </a:p>
                  </a:txBody>
                  <a:tcPr>
                    <a:solidFill>
                      <a:srgbClr val="238B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</a:rPr>
                        <a:t>What It Provides</a:t>
                      </a:r>
                    </a:p>
                  </a:txBody>
                  <a:tcPr>
                    <a:solidFill>
                      <a:srgbClr val="238B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</a:rPr>
                        <a:t>Use When</a:t>
                      </a:r>
                    </a:p>
                  </a:txBody>
                  <a:tcPr>
                    <a:solidFill>
                      <a:srgbClr val="238BE6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read</a:t>
                      </a:r>
                    </a:p>
                  </a:txBody>
                  <a:tcPr>
                    <a:solidFill>
                      <a:srgbClr val="232B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Read file contents</a:t>
                      </a:r>
                    </a:p>
                  </a:txBody>
                  <a:tcPr>
                    <a:solidFill>
                      <a:srgbClr val="232B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Any agent that needs to inspect code or config</a:t>
                      </a:r>
                    </a:p>
                  </a:txBody>
                  <a:tcPr>
                    <a:solidFill>
                      <a:srgbClr val="232B33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edit</a:t>
                      </a:r>
                    </a:p>
                  </a:txBody>
                  <a:tcPr>
                    <a:solidFill>
                      <a:srgbClr val="1C23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Edit / create files</a:t>
                      </a:r>
                    </a:p>
                  </a:txBody>
                  <a:tcPr>
                    <a:solidFill>
                      <a:srgbClr val="1C23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Implementation agents that write code</a:t>
                      </a:r>
                    </a:p>
                  </a:txBody>
                  <a:tcPr>
                    <a:solidFill>
                      <a:srgbClr val="1C232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search</a:t>
                      </a:r>
                    </a:p>
                  </a:txBody>
                  <a:tcPr>
                    <a:solidFill>
                      <a:srgbClr val="232B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Search files and text in workspace</a:t>
                      </a:r>
                    </a:p>
                  </a:txBody>
                  <a:tcPr>
                    <a:solidFill>
                      <a:srgbClr val="232B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Research or review agents</a:t>
                      </a:r>
                    </a:p>
                  </a:txBody>
                  <a:tcPr>
                    <a:solidFill>
                      <a:srgbClr val="232B33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execute</a:t>
                      </a:r>
                    </a:p>
                  </a:txBody>
                  <a:tcPr>
                    <a:solidFill>
                      <a:srgbClr val="1C23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Run shell commands in terminal</a:t>
                      </a:r>
                    </a:p>
                  </a:txBody>
                  <a:tcPr>
                    <a:solidFill>
                      <a:srgbClr val="1C23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Build, test, or deploy agents — use carefully</a:t>
                      </a:r>
                    </a:p>
                  </a:txBody>
                  <a:tcPr>
                    <a:solidFill>
                      <a:srgbClr val="1C232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agent</a:t>
                      </a:r>
                    </a:p>
                  </a:txBody>
                  <a:tcPr>
                    <a:solidFill>
                      <a:srgbClr val="232B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Invoke other custom agents as subagents</a:t>
                      </a:r>
                    </a:p>
                  </a:txBody>
                  <a:tcPr>
                    <a:solidFill>
                      <a:srgbClr val="232B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Orchestrator agents that delegate to specialists</a:t>
                      </a:r>
                    </a:p>
                  </a:txBody>
                  <a:tcPr>
                    <a:solidFill>
                      <a:srgbClr val="232B33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web</a:t>
                      </a:r>
                    </a:p>
                  </a:txBody>
                  <a:tcPr>
                    <a:solidFill>
                      <a:srgbClr val="1C23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Fetch URLs and web search</a:t>
                      </a:r>
                    </a:p>
                  </a:txBody>
                  <a:tcPr>
                    <a:solidFill>
                      <a:srgbClr val="1C23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Agents that need external documentation or APIs</a:t>
                      </a:r>
                    </a:p>
                  </a:txBody>
                  <a:tcPr>
                    <a:solidFill>
                      <a:srgbClr val="1C232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todo</a:t>
                      </a:r>
                    </a:p>
                  </a:txBody>
                  <a:tcPr>
                    <a:solidFill>
                      <a:srgbClr val="232B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Manage the task list</a:t>
                      </a:r>
                    </a:p>
                  </a:txBody>
                  <a:tcPr>
                    <a:solidFill>
                      <a:srgbClr val="232B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Long multi-step planning agents</a:t>
                      </a:r>
                    </a:p>
                  </a:txBody>
                  <a:tcPr>
                    <a:solidFill>
                      <a:srgbClr val="232B33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[]</a:t>
                      </a:r>
                    </a:p>
                  </a:txBody>
                  <a:tcPr>
                    <a:solidFill>
                      <a:srgbClr val="1C23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No tools — conversational only</a:t>
                      </a:r>
                    </a:p>
                  </a:txBody>
                  <a:tcPr>
                    <a:solidFill>
                      <a:srgbClr val="1C23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Q&amp;A or explanation agents with no workspace access</a:t>
                      </a:r>
                    </a:p>
                  </a:txBody>
                  <a:tcPr>
                    <a:solidFill>
                      <a:srgbClr val="1C232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0911535" y="644652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8929A"/>
                </a:solidFill>
              </a:rPr>
              <a:t>28 / 39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F2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F222E"/>
                </a:solidFill>
              </a:rPr>
              <a:t>SECTION 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65176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Hooks  (.json)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3977639"/>
            <a:ext cx="1463040" cy="54864"/>
          </a:xfrm>
          <a:prstGeom prst="rect">
            <a:avLst/>
          </a:prstGeom>
          <a:solidFill>
            <a:srgbClr val="CF2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036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2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Hooks — Configuration Format &amp; Key Lines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68680"/>
            <a:ext cx="10241280" cy="27432"/>
          </a:xfrm>
          <a:prstGeom prst="rect">
            <a:avLst/>
          </a:prstGeom>
          <a:solidFill>
            <a:srgbClr val="CF2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1440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0AAB4"/>
                </a:solidFill>
              </a:rPr>
              <a:t>File: .github/hooks/prevent-force-push.json   (team-shared)  or  .claude/settings.local.json  (local only)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63040"/>
            <a:ext cx="6492240" cy="512064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572768"/>
            <a:ext cx="6217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8CC88"/>
                </a:solidFill>
              </a:rPr>
              <a:t>{
  "hooks": {             ①
    "PreToolUse": [      ②
      {
        "type": "command",  ③
        "command": "./scripts/validate-tool.sh",  ④
        "windows": "pwsh ./scripts/validate-tool.ps1",  ⑤
        "timeout": 15       ⑥
      }
    ]
  }
}</a:t>
            </a:r>
          </a:p>
        </p:txBody>
      </p:sp>
      <p:sp>
        <p:nvSpPr>
          <p:cNvPr id="8" name="Oval 7"/>
          <p:cNvSpPr/>
          <p:nvPr/>
        </p:nvSpPr>
        <p:spPr>
          <a:xfrm>
            <a:off x="7223760" y="1545336"/>
            <a:ext cx="347472" cy="347472"/>
          </a:xfrm>
          <a:prstGeom prst="ellipse">
            <a:avLst/>
          </a:prstGeom>
          <a:solidFill>
            <a:srgbClr val="CF2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44384" y="1508760"/>
            <a:ext cx="4242816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D0D8E4"/>
                </a:solidFill>
              </a:rPr>
              <a:t>hooks — top-level object. Contains one key per lifecycle event. Multiple events can be defined in the same file.</a:t>
            </a:r>
          </a:p>
        </p:txBody>
      </p:sp>
      <p:sp>
        <p:nvSpPr>
          <p:cNvPr id="10" name="Oval 9"/>
          <p:cNvSpPr/>
          <p:nvPr/>
        </p:nvSpPr>
        <p:spPr>
          <a:xfrm>
            <a:off x="7223760" y="2203704"/>
            <a:ext cx="347472" cy="347472"/>
          </a:xfrm>
          <a:prstGeom prst="ellipse">
            <a:avLst/>
          </a:prstGeom>
          <a:solidFill>
            <a:srgbClr val="CF2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44384" y="2167128"/>
            <a:ext cx="4242816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D0D8E4"/>
                </a:solidFill>
              </a:rPr>
              <a:t>PreToolUse — the event name. Hook fires BEFORE every tool call. Other events: PostToolUse, SessionStart, UserPromptSubmit, Stop, SubagentStart/Stop, PreCompact.</a:t>
            </a:r>
          </a:p>
        </p:txBody>
      </p:sp>
      <p:sp>
        <p:nvSpPr>
          <p:cNvPr id="12" name="Oval 11"/>
          <p:cNvSpPr/>
          <p:nvPr/>
        </p:nvSpPr>
        <p:spPr>
          <a:xfrm>
            <a:off x="7223760" y="2862072"/>
            <a:ext cx="347472" cy="347472"/>
          </a:xfrm>
          <a:prstGeom prst="ellipse">
            <a:avLst/>
          </a:prstGeom>
          <a:solidFill>
            <a:srgbClr val="CF2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44384" y="2825496"/>
            <a:ext cx="4242816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D0D8E4"/>
                </a:solidFill>
              </a:rPr>
              <a:t>type: 'command' — the only supported type. The hook always runs a shell command.</a:t>
            </a:r>
          </a:p>
        </p:txBody>
      </p:sp>
      <p:sp>
        <p:nvSpPr>
          <p:cNvPr id="14" name="Oval 13"/>
          <p:cNvSpPr/>
          <p:nvPr/>
        </p:nvSpPr>
        <p:spPr>
          <a:xfrm>
            <a:off x="7223760" y="3520440"/>
            <a:ext cx="347472" cy="347472"/>
          </a:xfrm>
          <a:prstGeom prst="ellipse">
            <a:avLst/>
          </a:prstGeom>
          <a:solidFill>
            <a:srgbClr val="CF2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44384" y="3483864"/>
            <a:ext cx="4242816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D0D8E4"/>
                </a:solidFill>
              </a:rPr>
              <a:t>command — the default command (runs on Linux/macOS). The script receives tool context as JSON on stdin.</a:t>
            </a:r>
          </a:p>
        </p:txBody>
      </p:sp>
      <p:sp>
        <p:nvSpPr>
          <p:cNvPr id="16" name="Oval 15"/>
          <p:cNvSpPr/>
          <p:nvPr/>
        </p:nvSpPr>
        <p:spPr>
          <a:xfrm>
            <a:off x="7223760" y="4178808"/>
            <a:ext cx="347472" cy="347472"/>
          </a:xfrm>
          <a:prstGeom prst="ellipse">
            <a:avLst/>
          </a:prstGeom>
          <a:solidFill>
            <a:srgbClr val="CF2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44384" y="4142232"/>
            <a:ext cx="4242816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D0D8E4"/>
                </a:solidFill>
              </a:rPr>
              <a:t>windows — platform override. Use this to provide a PowerShell equivalent on Windows. Also: linux and osx overrides available.</a:t>
            </a:r>
          </a:p>
        </p:txBody>
      </p:sp>
      <p:sp>
        <p:nvSpPr>
          <p:cNvPr id="18" name="Oval 17"/>
          <p:cNvSpPr/>
          <p:nvPr/>
        </p:nvSpPr>
        <p:spPr>
          <a:xfrm>
            <a:off x="7223760" y="4837176"/>
            <a:ext cx="347472" cy="347472"/>
          </a:xfrm>
          <a:prstGeom prst="ellipse">
            <a:avLst/>
          </a:prstGeom>
          <a:solidFill>
            <a:srgbClr val="CF2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44384" y="4800600"/>
            <a:ext cx="4242816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D0D8E4"/>
                </a:solidFill>
              </a:rPr>
              <a:t>timeout — seconds before the hook is killed. Keep hooks fast — long-running hooks block the agent.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11535" y="644652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8929A"/>
                </a:solidFill>
              </a:rPr>
              <a:t>30 / 39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036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2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Hooks — Input / Output Contract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68680"/>
            <a:ext cx="10241280" cy="27432"/>
          </a:xfrm>
          <a:prstGeom prst="rect">
            <a:avLst/>
          </a:prstGeom>
          <a:solidFill>
            <a:srgbClr val="CF2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1440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0AAB4"/>
                </a:solidFill>
              </a:rPr>
              <a:t>Hooks receive JSON on stdin describing the event. They return JSON on stdout to control agent behavior.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63040"/>
            <a:ext cx="6492240" cy="512064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572768"/>
            <a:ext cx="6217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8CC88"/>
                </a:solidFill>
              </a:rPr>
              <a:t># stdin received by hook script:
{
  "tool_name": "run_in_terminal",
  "tool_input": { "command": "git push --force" }
}
# stdout returned by hook script:
{                                   ①
  "hookSpecificOutput": {           ②
    "hookEventName": "PreToolUse",
    "permissionDecision": "deny",  ③
    "permissionDecisionReason":     ④
      "Force push is not allowed."
  }
}
# Exit codes:                       ⑤
# 0  = success (hook passed)
# 2  = blocking error (stops the agent)
# other = non-blocking warning</a:t>
            </a:r>
          </a:p>
        </p:txBody>
      </p:sp>
      <p:sp>
        <p:nvSpPr>
          <p:cNvPr id="8" name="Oval 7"/>
          <p:cNvSpPr/>
          <p:nvPr/>
        </p:nvSpPr>
        <p:spPr>
          <a:xfrm>
            <a:off x="7223760" y="1545336"/>
            <a:ext cx="347472" cy="347472"/>
          </a:xfrm>
          <a:prstGeom prst="ellipse">
            <a:avLst/>
          </a:prstGeom>
          <a:solidFill>
            <a:srgbClr val="CF2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44384" y="1508760"/>
            <a:ext cx="4242816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D0D8E4"/>
                </a:solidFill>
              </a:rPr>
              <a:t>Return a JSON object on stdout. Fields: continue (bool), stopReason (str), systemMessage (str injected into context), hookSpecificOutput.</a:t>
            </a:r>
          </a:p>
        </p:txBody>
      </p:sp>
      <p:sp>
        <p:nvSpPr>
          <p:cNvPr id="10" name="Oval 9"/>
          <p:cNvSpPr/>
          <p:nvPr/>
        </p:nvSpPr>
        <p:spPr>
          <a:xfrm>
            <a:off x="7223760" y="2203704"/>
            <a:ext cx="347472" cy="347472"/>
          </a:xfrm>
          <a:prstGeom prst="ellipse">
            <a:avLst/>
          </a:prstGeom>
          <a:solidFill>
            <a:srgbClr val="CF2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44384" y="2167128"/>
            <a:ext cx="4242816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D0D8E4"/>
                </a:solidFill>
              </a:rPr>
              <a:t>hookSpecificOutput is used by PreToolUse and PostToolUse events to carry event-specific decisions back to the agent.</a:t>
            </a:r>
          </a:p>
        </p:txBody>
      </p:sp>
      <p:sp>
        <p:nvSpPr>
          <p:cNvPr id="12" name="Oval 11"/>
          <p:cNvSpPr/>
          <p:nvPr/>
        </p:nvSpPr>
        <p:spPr>
          <a:xfrm>
            <a:off x="7223760" y="2862072"/>
            <a:ext cx="347472" cy="347472"/>
          </a:xfrm>
          <a:prstGeom prst="ellipse">
            <a:avLst/>
          </a:prstGeom>
          <a:solidFill>
            <a:srgbClr val="CF2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44384" y="2825496"/>
            <a:ext cx="4242816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D0D8E4"/>
                </a:solidFill>
              </a:rPr>
              <a:t>permissionDecision controls whether the tool proceeds: 'allow' (proceed), 'ask' (prompt user), 'deny' (block the tool call).</a:t>
            </a:r>
          </a:p>
        </p:txBody>
      </p:sp>
      <p:sp>
        <p:nvSpPr>
          <p:cNvPr id="14" name="Oval 13"/>
          <p:cNvSpPr/>
          <p:nvPr/>
        </p:nvSpPr>
        <p:spPr>
          <a:xfrm>
            <a:off x="7223760" y="3520440"/>
            <a:ext cx="347472" cy="347472"/>
          </a:xfrm>
          <a:prstGeom prst="ellipse">
            <a:avLst/>
          </a:prstGeom>
          <a:solidFill>
            <a:srgbClr val="CF2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44384" y="3483864"/>
            <a:ext cx="4242816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D0D8E4"/>
                </a:solidFill>
              </a:rPr>
              <a:t>permissionDecisionReason is shown to the user when decision is 'ask' or 'deny'. Make it human-readable.</a:t>
            </a:r>
          </a:p>
        </p:txBody>
      </p:sp>
      <p:sp>
        <p:nvSpPr>
          <p:cNvPr id="16" name="Oval 15"/>
          <p:cNvSpPr/>
          <p:nvPr/>
        </p:nvSpPr>
        <p:spPr>
          <a:xfrm>
            <a:off x="7223760" y="4178808"/>
            <a:ext cx="347472" cy="347472"/>
          </a:xfrm>
          <a:prstGeom prst="ellipse">
            <a:avLst/>
          </a:prstGeom>
          <a:solidFill>
            <a:srgbClr val="CF2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44384" y="4142232"/>
            <a:ext cx="4242816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D0D8E4"/>
                </a:solidFill>
              </a:rPr>
              <a:t>Exit codes: 0 = hook passed normally, 2 = blocking error that stops agent execution, any other value = non-blocking warning logged but execution continues.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11535" y="644652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8929A"/>
                </a:solidFill>
              </a:rPr>
              <a:t>31 / 39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036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38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Hook Lifecycle Events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68680"/>
            <a:ext cx="10241280" cy="27432"/>
          </a:xfrm>
          <a:prstGeom prst="rect">
            <a:avLst/>
          </a:prstGeom>
          <a:solidFill>
            <a:srgbClr val="238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005840"/>
          <a:ext cx="11185854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4312767"/>
                <a:gridCol w="4312767"/>
              </a:tblGrid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</a:rPr>
                        <a:t>Event</a:t>
                      </a:r>
                    </a:p>
                  </a:txBody>
                  <a:tcPr>
                    <a:solidFill>
                      <a:srgbClr val="238B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</a:rPr>
                        <a:t>When It Fires</a:t>
                      </a:r>
                    </a:p>
                  </a:txBody>
                  <a:tcPr>
                    <a:solidFill>
                      <a:srgbClr val="238B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</a:rPr>
                        <a:t>Common Use Cases</a:t>
                      </a:r>
                    </a:p>
                  </a:txBody>
                  <a:tcPr>
                    <a:solidFill>
                      <a:srgbClr val="238BE6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SessionStart</a:t>
                      </a:r>
                    </a:p>
                  </a:txBody>
                  <a:tcPr>
                    <a:solidFill>
                      <a:srgbClr val="232B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First prompt of a new agent session</a:t>
                      </a:r>
                    </a:p>
                  </a:txBody>
                  <a:tcPr>
                    <a:solidFill>
                      <a:srgbClr val="232B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Inject project context, validate environment, greet user</a:t>
                      </a:r>
                    </a:p>
                  </a:txBody>
                  <a:tcPr>
                    <a:solidFill>
                      <a:srgbClr val="232B33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UserPromptSubmit</a:t>
                      </a:r>
                    </a:p>
                  </a:txBody>
                  <a:tcPr>
                    <a:solidFill>
                      <a:srgbClr val="1C23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Every time user submits a prompt</a:t>
                      </a:r>
                    </a:p>
                  </a:txBody>
                  <a:tcPr>
                    <a:solidFill>
                      <a:srgbClr val="1C23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Log prompts for audit, inject dynamic context</a:t>
                      </a:r>
                    </a:p>
                  </a:txBody>
                  <a:tcPr>
                    <a:solidFill>
                      <a:srgbClr val="1C232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PreToolUse</a:t>
                      </a:r>
                    </a:p>
                  </a:txBody>
                  <a:tcPr>
                    <a:solidFill>
                      <a:srgbClr val="232B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BEFORE every tool call</a:t>
                      </a:r>
                    </a:p>
                  </a:txBody>
                  <a:tcPr>
                    <a:solidFill>
                      <a:srgbClr val="232B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Block dangerous commands (rm -rf, force push), require approval</a:t>
                      </a:r>
                    </a:p>
                  </a:txBody>
                  <a:tcPr>
                    <a:solidFill>
                      <a:srgbClr val="232B33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PostToolUse</a:t>
                      </a:r>
                    </a:p>
                  </a:txBody>
                  <a:tcPr>
                    <a:solidFill>
                      <a:srgbClr val="1C23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AFTER successful tool completion</a:t>
                      </a:r>
                    </a:p>
                  </a:txBody>
                  <a:tcPr>
                    <a:solidFill>
                      <a:srgbClr val="1C23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Auto-format files, run linter, enforce test pass after edit</a:t>
                      </a:r>
                    </a:p>
                  </a:txBody>
                  <a:tcPr>
                    <a:solidFill>
                      <a:srgbClr val="1C232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PreCompact</a:t>
                      </a:r>
                    </a:p>
                  </a:txBody>
                  <a:tcPr>
                    <a:solidFill>
                      <a:srgbClr val="232B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Before context window compaction</a:t>
                      </a:r>
                    </a:p>
                  </a:txBody>
                  <a:tcPr>
                    <a:solidFill>
                      <a:srgbClr val="232B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Save important state before summary replaces detail</a:t>
                      </a:r>
                    </a:p>
                  </a:txBody>
                  <a:tcPr>
                    <a:solidFill>
                      <a:srgbClr val="232B33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SubagentStart</a:t>
                      </a:r>
                    </a:p>
                  </a:txBody>
                  <a:tcPr>
                    <a:solidFill>
                      <a:srgbClr val="1C23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When a subagent is invoked</a:t>
                      </a:r>
                    </a:p>
                  </a:txBody>
                  <a:tcPr>
                    <a:solidFill>
                      <a:srgbClr val="1C23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Log subagent calls, inject subagent-specific context</a:t>
                      </a:r>
                    </a:p>
                  </a:txBody>
                  <a:tcPr>
                    <a:solidFill>
                      <a:srgbClr val="1C232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SubagentStop</a:t>
                      </a:r>
                    </a:p>
                  </a:txBody>
                  <a:tcPr>
                    <a:solidFill>
                      <a:srgbClr val="232B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When a subagent finishes</a:t>
                      </a:r>
                    </a:p>
                  </a:txBody>
                  <a:tcPr>
                    <a:solidFill>
                      <a:srgbClr val="232B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Validate subagent output, aggregate results</a:t>
                      </a:r>
                    </a:p>
                  </a:txBody>
                  <a:tcPr>
                    <a:solidFill>
                      <a:srgbClr val="232B33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Stop</a:t>
                      </a:r>
                    </a:p>
                  </a:txBody>
                  <a:tcPr>
                    <a:solidFill>
                      <a:srgbClr val="1C23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Agent session ends</a:t>
                      </a:r>
                    </a:p>
                  </a:txBody>
                  <a:tcPr>
                    <a:solidFill>
                      <a:srgbClr val="1C23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Save session logs, cleanup temp files, send notifications</a:t>
                      </a:r>
                    </a:p>
                  </a:txBody>
                  <a:tcPr>
                    <a:solidFill>
                      <a:srgbClr val="1C232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0911535" y="644652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8929A"/>
                </a:solidFill>
              </a:rPr>
              <a:t>32 / 39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38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38BE6"/>
                </a:solidFill>
              </a:rPr>
              <a:t>SECTION 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65176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PoC — Real Obstacles &amp; Resolutions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3977639"/>
            <a:ext cx="1463040" cy="54864"/>
          </a:xfrm>
          <a:prstGeom prst="rect">
            <a:avLst/>
          </a:prstGeom>
          <a:solidFill>
            <a:srgbClr val="238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036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38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Real Obstacles Encountered During Agent-Driven Implementation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68680"/>
            <a:ext cx="10241280" cy="27432"/>
          </a:xfrm>
          <a:prstGeom prst="rect">
            <a:avLst/>
          </a:prstGeom>
          <a:solidFill>
            <a:srgbClr val="238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005840"/>
          <a:ext cx="11185854" cy="3328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4312767"/>
                <a:gridCol w="4312767"/>
              </a:tblGrid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</a:rPr>
                        <a:t>Problem</a:t>
                      </a:r>
                    </a:p>
                  </a:txBody>
                  <a:tcPr>
                    <a:solidFill>
                      <a:srgbClr val="238B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</a:rPr>
                        <a:t>Root Cause</a:t>
                      </a:r>
                    </a:p>
                  </a:txBody>
                  <a:tcPr>
                    <a:solidFill>
                      <a:srgbClr val="238B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</a:rPr>
                        <a:t>Resolution</a:t>
                      </a:r>
                    </a:p>
                  </a:txBody>
                  <a:tcPr>
                    <a:solidFill>
                      <a:srgbClr val="238BE6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.sln file not found after dotnet new sln</a:t>
                      </a:r>
                    </a:p>
                  </a:txBody>
                  <a:tcPr>
                    <a:solidFill>
                      <a:srgbClr val="232B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.NET 10 creates .slnx format, not .sln</a:t>
                      </a:r>
                    </a:p>
                  </a:txBody>
                  <a:tcPr>
                    <a:solidFill>
                      <a:srgbClr val="232B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Use AuthSystem.slnx in all subsequent commands</a:t>
                      </a:r>
                    </a:p>
                  </a:txBody>
                  <a:tcPr>
                    <a:solidFill>
                      <a:srgbClr val="232B33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NuGet package version conflicts at build</a:t>
                      </a:r>
                    </a:p>
                  </a:txBody>
                  <a:tcPr>
                    <a:solidFill>
                      <a:srgbClr val="1C23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Projects targeted net8.0 but SDK installed was .NET 10</a:t>
                      </a:r>
                    </a:p>
                  </a:txBody>
                  <a:tcPr>
                    <a:solidFill>
                      <a:srgbClr val="1C23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Upgraded both .csproj TargetFramework to net10.0</a:t>
                      </a:r>
                    </a:p>
                  </a:txBody>
                  <a:tcPr>
                    <a:solidFill>
                      <a:srgbClr val="1C232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Authentication.Google package not found</a:t>
                      </a:r>
                    </a:p>
                  </a:txBody>
                  <a:tcPr>
                    <a:solidFill>
                      <a:srgbClr val="232B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No longer an implicit framework reference in .NET 10</a:t>
                      </a:r>
                    </a:p>
                  </a:txBody>
                  <a:tcPr>
                    <a:solidFill>
                      <a:srgbClr val="232B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Explicitly added as NuGet package reference</a:t>
                      </a:r>
                    </a:p>
                  </a:txBody>
                  <a:tcPr>
                    <a:solidFill>
                      <a:srgbClr val="232B33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npm --template flag not passed to create-vite</a:t>
                      </a:r>
                    </a:p>
                  </a:txBody>
                  <a:tcPr>
                    <a:solidFill>
                      <a:srgbClr val="1C23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npm consumed the flag; never forwarded to the scaffolder</a:t>
                      </a:r>
                    </a:p>
                  </a:txBody>
                  <a:tcPr>
                    <a:solidFill>
                      <a:srgbClr val="1C23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Used npx -y create-vite@latest authsystem-frontend -- --template react-ts</a:t>
                      </a:r>
                    </a:p>
                  </a:txBody>
                  <a:tcPr>
                    <a:solidFill>
                      <a:srgbClr val="1C232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300+ missing members compiling IDatabase fake</a:t>
                      </a:r>
                    </a:p>
                  </a:txBody>
                  <a:tcPr>
                    <a:solidFill>
                      <a:srgbClr val="232B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StackExchange.Redis v2.11 has a very large interface</a:t>
                      </a:r>
                    </a:p>
                  </a:txBody>
                  <a:tcPr>
                    <a:solidFill>
                      <a:srgbClr val="232B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Replaced hand-rolled class with Moq mock + targeted .Setup() calls</a:t>
                      </a:r>
                    </a:p>
                  </a:txBody>
                  <a:tcPr>
                    <a:solidFill>
                      <a:srgbClr val="232B33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Moq StringSetAsync setup never matched at runtime</a:t>
                      </a:r>
                    </a:p>
                  </a:txBody>
                  <a:tcPr>
                    <a:solidFill>
                      <a:srgbClr val="1C23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Production code used implicit overload; Moq required exact match</a:t>
                      </a:r>
                    </a:p>
                  </a:txBody>
                  <a:tcPr>
                    <a:solidFill>
                      <a:srgbClr val="1C23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Changed production code to explicit 5-param overload; updated Moq setup to match</a:t>
                      </a:r>
                    </a:p>
                  </a:txBody>
                  <a:tcPr>
                    <a:solidFill>
                      <a:srgbClr val="1C232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0911535" y="644652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8929A"/>
                </a:solidFill>
              </a:rPr>
              <a:t>34 / 39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DB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BA4E"/>
                </a:solidFill>
              </a:rPr>
              <a:t>SECTION 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65176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Best Practices &amp; Security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3977639"/>
            <a:ext cx="1463040" cy="54864"/>
          </a:xfrm>
          <a:prstGeom prst="rect">
            <a:avLst/>
          </a:prstGeom>
          <a:solidFill>
            <a:srgbClr val="2DB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036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38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Best Practices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68680"/>
            <a:ext cx="10241280" cy="27432"/>
          </a:xfrm>
          <a:prstGeom prst="rect">
            <a:avLst/>
          </a:prstGeom>
          <a:solidFill>
            <a:srgbClr val="238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005840"/>
            <a:ext cx="5303520" cy="384048"/>
          </a:xfrm>
          <a:prstGeom prst="rect">
            <a:avLst/>
          </a:prstGeom>
          <a:solidFill>
            <a:srgbClr val="238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024128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Effective Use of Copilot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46304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Run /init on every new repo before writing code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Answer /plan questionnaires completely — vague answers → vague plans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Create .instructions.md for team conventions — every dev gets the same output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Use principle of least privilege for tool lists in agents and prompts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Review every generated file — treat it as a PR, not gospel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Description quality = discoverability. Bad descriptions = ignored customisations.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YAML frontmatter is unforgiving — quote values containing colons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1005840"/>
            <a:ext cx="5303520" cy="384048"/>
          </a:xfrm>
          <a:prstGeom prst="rect">
            <a:avLst/>
          </a:prstGeom>
          <a:solidFill>
            <a:srgbClr val="2DB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024128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Common Mistakes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46304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Committing appsettings.json with real secrets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Using applyTo: '**' when content is only relevant to specific files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Creating both copilot-instructions.md AND AGENTS.md — pick one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Writing instructions so long the agent ignores the end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Forgetting to push .github/ customisation files — team can't share them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Hooks that run slowly and block every tool call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Vague agent descriptions that prevent subagent delegation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11535" y="644652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8929A"/>
                </a:solidFill>
              </a:rPr>
              <a:t>36 / 39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036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38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Security Considerations with AI-Generated Code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68680"/>
            <a:ext cx="10241280" cy="27432"/>
          </a:xfrm>
          <a:prstGeom prst="rect">
            <a:avLst/>
          </a:prstGeom>
          <a:solidFill>
            <a:srgbClr val="238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005840"/>
            <a:ext cx="111556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Generated code is a starting point — always review for OWASP Top 10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Copilot does not store or transmit your secrets — but bad prompts can embed them in code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Always use dotnet user-secrets / environment variables — never hardcode credentials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Key patterns to verify in any generated auth code:</a:t>
            </a:r>
          </a:p>
          <a:p>
            <a:pPr lvl="1">
              <a:spcBef>
                <a:spcPts val="200"/>
              </a:spcBef>
            </a:pPr>
            <a:r>
              <a:rPr sz="1500" b="0">
                <a:solidFill>
                  <a:srgbClr val="C0CAD4"/>
                </a:solidFill>
              </a:rPr>
              <a:t>    ◦ JWT: algorithm pinned to RS256 (asymmetric) — never HS256 (symmetric shared secret)</a:t>
            </a:r>
          </a:p>
          <a:p>
            <a:pPr lvl="1">
              <a:spcBef>
                <a:spcPts val="200"/>
              </a:spcBef>
            </a:pPr>
            <a:r>
              <a:rPr sz="1500" b="0">
                <a:solidFill>
                  <a:srgbClr val="C0CAD4"/>
                </a:solidFill>
              </a:rPr>
              <a:t>    ◦ JWT: both issuer AND audience validated in bearer middleware configuration</a:t>
            </a:r>
          </a:p>
          <a:p>
            <a:pPr lvl="1">
              <a:spcBef>
                <a:spcPts val="200"/>
              </a:spcBef>
            </a:pPr>
            <a:r>
              <a:rPr sz="1500" b="0">
                <a:solidFill>
                  <a:srgbClr val="C0CAD4"/>
                </a:solidFill>
              </a:rPr>
              <a:t>    ◦ Cookies: HttpOnly=true, Secure=true, SameSite=Strict — all three required</a:t>
            </a:r>
          </a:p>
          <a:p>
            <a:pPr lvl="1">
              <a:spcBef>
                <a:spcPts val="200"/>
              </a:spcBef>
            </a:pPr>
            <a:r>
              <a:rPr sz="1500" b="0">
                <a:solidFill>
                  <a:srgbClr val="C0CAD4"/>
                </a:solidFill>
              </a:rPr>
              <a:t>    ◦ CORS: locked to known SPA origin — never wildcard *</a:t>
            </a:r>
          </a:p>
          <a:p>
            <a:pPr lvl="1">
              <a:spcBef>
                <a:spcPts val="200"/>
              </a:spcBef>
            </a:pPr>
            <a:r>
              <a:rPr sz="1500" b="0">
                <a:solidFill>
                  <a:srgbClr val="C0CAD4"/>
                </a:solidFill>
              </a:rPr>
              <a:t>    ◦ SQL / queries: always parameterised — no string concatenation</a:t>
            </a:r>
          </a:p>
          <a:p>
            <a:pPr lvl="1">
              <a:spcBef>
                <a:spcPts val="200"/>
              </a:spcBef>
            </a:pPr>
            <a:r>
              <a:rPr sz="1500" b="0">
                <a:solidFill>
                  <a:srgbClr val="C0CAD4"/>
                </a:solidFill>
              </a:rPr>
              <a:t>    ◦ Input validation: at system boundary only — not scattered through business logic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Write security rules into .instructions.md — agent will enforce them on every file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5943600"/>
            <a:ext cx="11155680" cy="64008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5961888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A0C8F0"/>
                </a:solidFill>
              </a:rPr>
              <a:t>💡  This PoC generated RS256 JWT, HttpOnly cookies, Lua atomic token rotation, rate limiting, and security headers — still reviewed every file.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44652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8929A"/>
                </a:solidFill>
              </a:rPr>
              <a:t>37 / 39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38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>
                <a:solidFill>
                  <a:srgbClr val="FFFFFF"/>
                </a:solidFill>
              </a:rPr>
              <a:t>Start Today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606040"/>
            <a:ext cx="1828800" cy="64008"/>
          </a:xfrm>
          <a:prstGeom prst="rect">
            <a:avLst/>
          </a:prstGeom>
          <a:solidFill>
            <a:srgbClr val="238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788920"/>
            <a:ext cx="10515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1.  Install GitHub Copilot extension in VS Code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2.  Sign in with your GitHub account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3.  Open Chat  →  try  /plan  with your next task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4.  Use  /init  to generate workspace instructions for your repo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5.  Run  /create-instructions  to capture team conventions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6.  Explore  /create-prompt  or  /create-skill  for repeatable workflows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093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606A"/>
                </a:solidFill>
              </a:rPr>
              <a:t>github.com/features/copilot  •  docs.github.com/copilot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11535" y="644652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8929A"/>
                </a:solidFill>
              </a:rPr>
              <a:t>39 / 39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