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 today we're doing a practical deep-dive into GitHub Copilot for developers. This isn't a marketing talk — we're going to look under the hood at how the agent actually works, what you can customize, and walk through a real PoC we built using nothing but /plan and agent mode. By the end you'll have a concrete toolkit you can apply starting today.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our roadmap. We'll start with a quick overview of what Copilot actually is, then move into the built-in slash commands — especially /plan, which I want you to walk away knowing cold. Then we do deep dives into each of the six customization primitives. The back half is a real PoC walkthrough — we built an OAuth2 plus JWT auth system entirely in agent mode — and we close with best practices and a security checklist.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start with the basics. If you've used Copilot for inline completions, you've only seen a small part of what it can do. The agent mode in Copilot Chat is a fundamentally different experience — it plans, executes, reads files, runs tests, and loops until it's done.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distinction here is the two surfaces. Inline completions are the next-token suggestions while typing — useful, but just autocomplete. Copilot Chat in agent mode is something else entirely: a full autonomous agent that can read your entire codebase, run shell commands, edit multiple files, and run your tests. The model powering it right now is Claude Sonnet 4.6. And critically — everything the agent does is shaped by your customization files, which is most of what this talk is about.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slash commands are the first place most developers stumble on power they didn't know existed. Let's look at what each one actually does.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slash commands baked into Copilot — most developers know maybe one of these. The one I want to highlight is /plan — it's more sophisticated than it looks. But the others are worth knowing: /init bootstraps a new repo with baseline instructions, and the /create-* family turns good patterns from a conversation into reusable team assets. Think of this table as your onboarding checklist for any new repo you start working with Copilot.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pull back the curtain on /plan. Most people type it, get a plan, and move on without understanding what actually happened. Understanding the machinery helps you give better inputs — and better inputs means better plans.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actual source file for /plan — the whole thing is 7 lines. This is not where the intelligence lives; it's just a routing declaration. It says: when someone types /plan, run the built-in Plan agent, not the default agent. The description field shows in the command picker. The magic is inside the Plan agent itself, not in this file. Understanding this structure matters because your own .prompt.md files use the exact same format.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does the Plan agent actually do with your request? It starts by analyzing what you asked and figuring out what it doesn't know — the gaps. That's where the questionnaire comes from. It's not random questions; it's a targeted interview about the specific decisions it needs to make your plan concrete. Once you answer, it maps answers to technology choices, creates a dependency-ordered sequence of phases, and then — this is the part people miss — saves the whole plan to session memory so it persists throughout your entire implementation session.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exactly what happened when we used /plan for our PoC. Six questions, six answers, six phases. Notice the specificity — it didn't just say 'build authentication', it produced a phase-by-phase breakdown with explicit technology choices: RS256 JWT, Lua atomic scripts in Redis, React 19 with TypeScript. Every subsequent Copilot action in that session referenced this plan. That's the value — it creates a shared mental model between you and the agent that persists for the entire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get to the part I find most interesting — the customization layer. This is what separates teams using Copilot as a fancy autocomplete from teams where every developer gets consistent, project-aware, policy-enforced output.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six customization primitives and they're not interchangeable. The short version: workspace instructions are your always-on project rules that apply to everything. File instructions are scoped — either to file types or to specific task contexts. Prompts are for single reusable tasks. Skills are for multi-step workflows with bundled assets. Custom agents define specialized personas with restricted tools. And hooks are for deterministic enforcement — things the model absolutely cannot skip.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decision questions I ask when choosing a primitive. The most important distinction is Hooks versus Instructions. Instructions guide the agent — they're directives the model reasons with. Hooks run shell commands at lifecycle events. If you absolutely cannot afford for something to be skipped — like blocking a force push or enforcing a linter pass — use a hook. If guidance that a good model will generally follow is enough, use instructions.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Workspace Instructions are the most impactful customization for most teams because they apply automatically to every chat request in the workspace. Let's look at what a good one actually contains.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typical workspace instructions file — no YAML frontmatter needed, it loads automatically for every chat request. The Build and Test section is the highest-stakes part: these are the actual commands the agent will run. Get these wrong and the agent will confidently execute the wrong thing. The Architecture section explains your structural decisions — not just what the pattern is, but why. This prevents the agent from 'helpfully' reorganizing your code into a different architecture it learned from training data.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anti-patterns I see constantly: creating both copilot-instructions.md and AGENTS.md at the same time. Copilot only uses one — pick one and delete the other. Second, putting everything in the file. A kitchen-sink instructions file is worse than a focused one because the agent deprioritizes the parts it deems less relevant. Keep it minimal — only what actually needs to be said for every task. And update it when your practices change; the agent treats stale instructions as current truth.</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File Instructions are workspace instructions with targeting. They let you write rules that only apply when relevant files are in context, or when the agent identifies a relevant task from your description keywords.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frontmatter here has two key fields: description and applyTo, controlling two different discovery modes. applyTo is a glob pattern — when any matching file is in context, this instruction auto-loads. description is for agent-discovered loading — the agent reads it to decide relevance. Write descriptions with 'Use when:' and specific domain keywords. Keyword-rich descriptions are the difference between an instruction that gets discovered and one that's ignored.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ways an instruction can load. On-demand is the most useful for task-based rules — the agent reads your description and decides. Explicit file-based loading via applyTo is great for language standards or test conventions. Manual attachment is useful when you want something available but not auto-loaded. Always-on via applyTo: '**' should be rare — if it applies to everything, put it in workspace instructions instead.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Prompts are how you package a single task — something you do repeatedly — into a slash command you can share with the whole team.</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a generate-tests prompt. The agent field sets the execution mode — 'agent' means it can use tools to read files, edit files, search. The tools field restricts what tools are available — principle of least privilege in practice. The model field lets you pin a specific model for this prompt. And the body uses a relative Markdown link to the tests folder — the agent will actually read those files to understand your test patterns before generating new ones.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principle for prompts is single-task focus. A prompt that says 'create and test and deploy' is three separate prompts — split them. The other thing that trips people up is vague descriptions. Write descriptions like internal documentation: 'Use when you need to generate test cases for a class or method.' Also, use relative Markdown links to reference relevant files; don't hardcode paths that break on other machines.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Skills are for the workflows that are too complex for a single prompt — multiple steps, supporting scripts, reference documents, boilerplate assets. If you've got all that in a repeated workflow, make it a skill.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critical gotcha: the folder name must exactly match the name field in SKILL.md. If they don't match, the skill silently fails — no error, it just never loads. The description field has two stages: first ~100 tokens for discovery, then the full body loads when triggered. So your first two sentences need to be highly keyword-rich. user-invocable controls whether it appears as a slash command in the picker.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folder structure matters because of progressive loading. The agent doesn't load everything at once — it reads the SKILL.md body first, then loads additional files only when they're explicitly referenced. This keeps the context window lean. Keep SKILL.md under 500 lines and move detailed reference content into a references/ subdirectory with relative links. The agent only pays the context cost of files it actually needs for that specific invocation.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Custom agents are where you create specialized personas — a security reviewer who can't edit files, a deployment agent with restricted shell access, a documentation writer with read-only context. The tool restriction mechanism is what makes this powerful.</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description field is doubly important for custom agents — it's the discovery surface for both the user agent picker and for parent agents that might delegate to this agent as a subagent. Write it with 'Use when:' and specific trigger keywords. The Constraints section in the body is critical — explicit DO NOT rules are more reliable than hoping the persona statement implies them. And agents: [] prevents this agent from spinning up subagents, keeping focused agents focused.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Tool aliases are how you express the principle of least privilege in agent definitions. A code reviewer only needs read and search. A documentation generator only needs read and edit. An orchestrator needs agent to delegate to subagents. The empty array [] gives a purely conversational agent with no workspace access — useful for Q&amp;A agents where you want to be certain it can't touch the filesystem. If you omit tools entirely, the agent gets all defaults, which is wrong for specialized agents.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Hooks are the most powerful and least-used customization primitive. They're the one mechanism that provides deterministic enforcement — the shell command runs regardless of what the model decides, because the hook runs in your terminal, not inside the model.</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anatomy of a hook configuration. The JSON is simple: a hooks object with lifecycle event names as keys. Each event has an array of hook definitions. The important detail is the timeout field — hooks are synchronous and block the agent until they complete or time out. Keep your hooks fast, under 5 seconds. The windows field provides a PowerShell equivalent on Windows — otherwise your hook works on CI but breaks for Windows developers.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I/O contract is how your script actually controls the agent. The agent passes JSON on stdin describing what it's about to do — tool name and input. Your script decides what to do and writes a JSON response to stdout. The permissionDecision field is the key: deny blocks the tool call entirely, ask pauses and prompts the user for approval, allow proceeds. This is the mechanism for policies like 'never force push without approval' that actually work regardless of model output.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 lifecycle events give you precise control over where hooks fire. PreToolUse is the most commonly used — fires before every tool call and lets you block dangerous operations. PostToolUse is great for enforcement after edits — run your linter, check test pass, auto-format. SessionStart is where you inject dynamic context that changes day-to-day. A common team pattern: PreToolUse to block force push and drop database commands, PostToolUse to auto-format and run static analysis after every file edit.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look at what actually happened when we built the PoC. Real projects hit real obstacles. These six cases are instructive because similar issues will come up for you on .NET 10 projects — some are SDK-level changes, others are subtle interface-matching problems that the agent had to diagnose and fix itself.</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obstacles, all resolved. Two that will save you the most time on .NET 10 projects: first, dotnet new sln now creates a .slnx file, not .sln — if your agent keeps failing on solution file commands, check this. Second, the Moq StringSetAsync mismatch was subtle: the production code was calling an overload that Moq couldn't match implicitly. The fix was making the production call explicit about which overload it used, then updating the test setup to match exactly. The agent diagnosed this itself — identified the overload mismatch and fixed both files in one pass.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close with the practices that separate teams getting consistent value from Copilot from teams who are frustrated by it. Most of the frustration comes from a small set of avoidable patterns.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highest-leverage practices: run /init on every new repo before writing any code — it gives the agent accurate build commands and architecture context from day one. And answer /plan questionnaires completely — the plan quality is a direct function of your answer quality. On the common mistakes side: the YAML frontmatter trap is worth calling out specifically — values containing colons must be quoted, and a missing quote silently breaks your customization file with no error or warning.</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deserves its own slide. Generated code is never automatically correct from a security standpoint — treat every generated file as a PR artifact that needs review. The checklist here is what I personally run through on any AI-generated auth code: algorithm pinned to RS256, both issuer and audience validated, cookies have all three flags, CORS locked to a specific origin. The good news: write these rules into an .instructions.md file and the agent enforces them on every piece of code it generates for the rest of the session.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six steps are your starting checklist — you can do the first three right now. /plan with your current backlog item, /init on the repo you're working in, /create-instructions to capture the patterns from this conversation. That's the fastest path from zero to a team-wide Copilot setup that produces consistent results. I'll drop the repo link in the chat — all the customization files we discussed are in there.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3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0"/>
            <a:ext cx="12027103" cy="685800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351215" y="-1371600"/>
            <a:ext cx="5486400" cy="5486400"/>
          </a:xfrm>
          <a:prstGeom prst="ellipse">
            <a:avLst/>
          </a:prstGeom>
          <a:solidFill>
            <a:srgbClr val="1A2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20"/>
            <a:ext cx="8229600" cy="1645920"/>
          </a:xfrm>
          <a:prstGeom prst="rect">
            <a:avLst/>
          </a:prstGeom>
          <a:noFill/>
        </p:spPr>
        <p:txBody>
          <a:bodyPr wrap="square">
            <a:spAutoFit/>
          </a:bodyPr>
          <a:lstStyle/>
          <a:p>
            <a:pPr algn="l"/>
            <a:r>
              <a:rPr sz="4400" b="1">
                <a:solidFill>
                  <a:srgbClr val="FFFFFF"/>
                </a:solidFill>
              </a:rPr>
              <a:t>GitHub Copilot
for Developers</a:t>
            </a:r>
          </a:p>
        </p:txBody>
      </p:sp>
      <p:sp>
        <p:nvSpPr>
          <p:cNvPr id="6" name="Rectangle 5"/>
          <p:cNvSpPr/>
          <p:nvPr/>
        </p:nvSpPr>
        <p:spPr>
          <a:xfrm>
            <a:off x="548640" y="3246120"/>
            <a:ext cx="2011680" cy="64008"/>
          </a:xfrm>
          <a:prstGeom prst="rect">
            <a:avLst/>
          </a:prstGeom>
          <a:solidFill>
            <a:srgbClr val="23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3429000"/>
            <a:ext cx="8686800" cy="914400"/>
          </a:xfrm>
          <a:prstGeom prst="rect">
            <a:avLst/>
          </a:prstGeom>
          <a:noFill/>
        </p:spPr>
        <p:txBody>
          <a:bodyPr wrap="square">
            <a:spAutoFit/>
          </a:bodyPr>
          <a:lstStyle/>
          <a:p>
            <a:pPr algn="l"/>
            <a:r>
              <a:rPr sz="2200" b="0">
                <a:solidFill>
                  <a:srgbClr val="A0AAB4"/>
                </a:solidFill>
              </a:rPr>
              <a:t>From zero to /plan — a practical deep-dive</a:t>
            </a:r>
          </a:p>
        </p:txBody>
      </p:sp>
      <p:sp>
        <p:nvSpPr>
          <p:cNvPr id="8" name="TextBox 7"/>
          <p:cNvSpPr txBox="1"/>
          <p:nvPr/>
        </p:nvSpPr>
        <p:spPr>
          <a:xfrm>
            <a:off x="548640" y="6263640"/>
            <a:ext cx="4572000" cy="365760"/>
          </a:xfrm>
          <a:prstGeom prst="rect">
            <a:avLst/>
          </a:prstGeom>
          <a:noFill/>
        </p:spPr>
        <p:txBody>
          <a:bodyPr wrap="square">
            <a:spAutoFit/>
          </a:bodyPr>
          <a:lstStyle/>
          <a:p>
            <a:pPr algn="l"/>
            <a:r>
              <a:rPr sz="1300" b="0">
                <a:solidFill>
                  <a:srgbClr val="55606A"/>
                </a:solidFill>
              </a:rPr>
              <a:t>github.com/features/copilot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30363D"/>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3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515600" cy="640080"/>
          </a:xfrm>
          <a:prstGeom prst="rect">
            <a:avLst/>
          </a:prstGeom>
          <a:noFill/>
        </p:spPr>
        <p:txBody>
          <a:bodyPr wrap="square">
            <a:spAutoFit/>
          </a:bodyPr>
          <a:lstStyle/>
          <a:p>
            <a:pPr algn="l"/>
            <a:r>
              <a:rPr sz="2600" b="1">
                <a:solidFill>
                  <a:srgbClr val="FFFFFF"/>
                </a:solidFill>
              </a:rPr>
              <a:t>Agenda</a:t>
            </a:r>
          </a:p>
        </p:txBody>
      </p:sp>
      <p:sp>
        <p:nvSpPr>
          <p:cNvPr id="4" name="Rectangle 3"/>
          <p:cNvSpPr/>
          <p:nvPr/>
        </p:nvSpPr>
        <p:spPr>
          <a:xfrm>
            <a:off x="502920" y="868680"/>
            <a:ext cx="10241280" cy="27432"/>
          </a:xfrm>
          <a:prstGeom prst="rect">
            <a:avLst/>
          </a:prstGeom>
          <a:solidFill>
            <a:srgbClr val="23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05840"/>
            <a:ext cx="11155680" cy="5120640"/>
          </a:xfrm>
          <a:prstGeom prst="rect">
            <a:avLst/>
          </a:prstGeom>
          <a:noFill/>
        </p:spPr>
        <p:txBody>
          <a:bodyPr wrap="square">
            <a:spAutoFit/>
          </a:bodyPr>
          <a:lstStyle/>
          <a:p>
            <a:pPr>
              <a:spcBef>
                <a:spcPts val="400"/>
              </a:spcBef>
            </a:pPr>
            <a:r>
              <a:rPr sz="1700" b="1">
                <a:solidFill>
                  <a:srgbClr val="FFFFFF"/>
                </a:solidFill>
              </a:rPr>
              <a:t>• What is GitHub Copilot?</a:t>
            </a:r>
          </a:p>
          <a:p>
            <a:pPr>
              <a:spcBef>
                <a:spcPts val="400"/>
              </a:spcBef>
            </a:pPr>
            <a:r>
              <a:rPr sz="1700" b="1">
                <a:solidFill>
                  <a:srgbClr val="FFFFFF"/>
                </a:solidFill>
              </a:rPr>
              <a:t>• Built-in slash commands overview</a:t>
            </a:r>
          </a:p>
          <a:p>
            <a:pPr>
              <a:spcBef>
                <a:spcPts val="400"/>
              </a:spcBef>
            </a:pPr>
            <a:r>
              <a:rPr sz="1700" b="1">
                <a:solidFill>
                  <a:srgbClr val="FFFFFF"/>
                </a:solidFill>
              </a:rPr>
              <a:t>• How /plan works — under the hood</a:t>
            </a:r>
          </a:p>
          <a:p>
            <a:pPr>
              <a:spcBef>
                <a:spcPts val="400"/>
              </a:spcBef>
            </a:pPr>
            <a:r>
              <a:rPr sz="1700" b="1">
                <a:solidFill>
                  <a:srgbClr val="FFFFFF"/>
                </a:solidFill>
              </a:rPr>
              <a:t>• Customisation primitives — overview &amp; decision guide</a:t>
            </a:r>
          </a:p>
          <a:p>
            <a:pPr>
              <a:spcBef>
                <a:spcPts val="400"/>
              </a:spcBef>
            </a:pPr>
            <a:r>
              <a:rPr sz="1700" b="1">
                <a:solidFill>
                  <a:srgbClr val="FFFFFF"/>
                </a:solidFill>
              </a:rPr>
              <a:t>• Deep dive: Workspace Instructions</a:t>
            </a:r>
          </a:p>
          <a:p>
            <a:pPr>
              <a:spcBef>
                <a:spcPts val="400"/>
              </a:spcBef>
            </a:pPr>
            <a:r>
              <a:rPr sz="1700" b="1">
                <a:solidFill>
                  <a:srgbClr val="FFFFFF"/>
                </a:solidFill>
              </a:rPr>
              <a:t>• Deep dive: File Instructions (.instructions.md)</a:t>
            </a:r>
          </a:p>
          <a:p>
            <a:pPr>
              <a:spcBef>
                <a:spcPts val="400"/>
              </a:spcBef>
            </a:pPr>
            <a:r>
              <a:rPr sz="1700" b="1">
                <a:solidFill>
                  <a:srgbClr val="FFFFFF"/>
                </a:solidFill>
              </a:rPr>
              <a:t>• Deep dive: Prompts (.prompt.md)</a:t>
            </a:r>
          </a:p>
          <a:p>
            <a:pPr>
              <a:spcBef>
                <a:spcPts val="400"/>
              </a:spcBef>
            </a:pPr>
            <a:r>
              <a:rPr sz="1700" b="1">
                <a:solidFill>
                  <a:srgbClr val="FFFFFF"/>
                </a:solidFill>
              </a:rPr>
              <a:t>• Deep dive: Skills (SKILL.md)</a:t>
            </a:r>
          </a:p>
          <a:p>
            <a:pPr>
              <a:spcBef>
                <a:spcPts val="400"/>
              </a:spcBef>
            </a:pPr>
            <a:r>
              <a:rPr sz="1700" b="1">
                <a:solidFill>
                  <a:srgbClr val="FFFFFF"/>
                </a:solidFill>
              </a:rPr>
              <a:t>• Deep dive: Custom Agents (.agent.md)</a:t>
            </a:r>
          </a:p>
          <a:p>
            <a:pPr>
              <a:spcBef>
                <a:spcPts val="400"/>
              </a:spcBef>
            </a:pPr>
            <a:r>
              <a:rPr sz="1700" b="1">
                <a:solidFill>
                  <a:srgbClr val="FFFFFF"/>
                </a:solidFill>
              </a:rPr>
              <a:t>• Deep dive: Hooks (.json)</a:t>
            </a:r>
          </a:p>
          <a:p>
            <a:pPr>
              <a:spcBef>
                <a:spcPts val="400"/>
              </a:spcBef>
            </a:pPr>
            <a:r>
              <a:rPr sz="1700" b="1">
                <a:solidFill>
                  <a:srgbClr val="FFFFFF"/>
                </a:solidFill>
              </a:rPr>
              <a:t>• PoC walkthrough — OAuth2 + JWT auth system</a:t>
            </a:r>
          </a:p>
          <a:p>
            <a:pPr>
              <a:spcBef>
                <a:spcPts val="400"/>
              </a:spcBef>
            </a:pPr>
            <a:r>
              <a:rPr sz="1700" b="1">
                <a:solidFill>
                  <a:srgbClr val="FFFFFF"/>
                </a:solidFill>
              </a:rPr>
              <a:t>• Best practices, security &amp; getting-started checklist</a:t>
            </a:r>
          </a:p>
        </p:txBody>
      </p:sp>
      <p:sp>
        <p:nvSpPr>
          <p:cNvPr id="6" name="TextBox 5"/>
          <p:cNvSpPr txBox="1"/>
          <p:nvPr/>
        </p:nvSpPr>
        <p:spPr>
          <a:xfrm>
            <a:off x="10911535" y="6446520"/>
            <a:ext cx="1188720" cy="320040"/>
          </a:xfrm>
          <a:prstGeom prst="rect">
            <a:avLst/>
          </a:prstGeom>
          <a:noFill/>
        </p:spPr>
        <p:txBody>
          <a:bodyPr wrap="square">
            <a:spAutoFit/>
          </a:bodyPr>
          <a:lstStyle/>
          <a:p>
            <a:pPr algn="r"/>
            <a:r>
              <a:rPr sz="1100" b="0">
                <a:solidFill>
                  <a:srgbClr val="88929A"/>
                </a:solidFill>
              </a:rPr>
              <a:t>2 / 39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3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9144000" cy="457200"/>
          </a:xfrm>
          <a:prstGeom prst="rect">
            <a:avLst/>
          </a:prstGeom>
          <a:noFill/>
        </p:spPr>
        <p:txBody>
          <a:bodyPr wrap="square">
            <a:spAutoFit/>
          </a:bodyPr>
          <a:lstStyle/>
          <a:p>
            <a:pPr algn="l"/>
            <a:r>
              <a:rPr sz="1400" b="0">
                <a:solidFill>
                  <a:srgbClr val="238BE6"/>
                </a:solidFill>
              </a:rPr>
              <a:t>SECTION  01</a:t>
            </a:r>
          </a:p>
        </p:txBody>
      </p:sp>
      <p:sp>
        <p:nvSpPr>
          <p:cNvPr id="4" name="TextBox 3"/>
          <p:cNvSpPr txBox="1"/>
          <p:nvPr/>
        </p:nvSpPr>
        <p:spPr>
          <a:xfrm>
            <a:off x="457200" y="2651760"/>
            <a:ext cx="10058400" cy="1280160"/>
          </a:xfrm>
          <a:prstGeom prst="rect">
            <a:avLst/>
          </a:prstGeom>
          <a:noFill/>
        </p:spPr>
        <p:txBody>
          <a:bodyPr wrap="square">
            <a:spAutoFit/>
          </a:bodyPr>
          <a:lstStyle/>
          <a:p>
            <a:pPr algn="l"/>
            <a:r>
              <a:rPr sz="4000" b="1">
                <a:solidFill>
                  <a:srgbClr val="FFFFFF"/>
                </a:solidFill>
              </a:rPr>
              <a:t>What is GitHub Copilot?</a:t>
            </a:r>
          </a:p>
        </p:txBody>
      </p:sp>
      <p:sp>
        <p:nvSpPr>
          <p:cNvPr id="5" name="Rectangle 4"/>
          <p:cNvSpPr/>
          <p:nvPr/>
        </p:nvSpPr>
        <p:spPr>
          <a:xfrm>
            <a:off x="457200" y="3977639"/>
            <a:ext cx="1463040" cy="54864"/>
          </a:xfrm>
          <a:prstGeom prst="rect">
            <a:avLst/>
          </a:prstGeom>
          <a:solidFill>
            <a:srgbClr val="23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30363D"/>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3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515600" cy="640080"/>
          </a:xfrm>
          <a:prstGeom prst="rect">
            <a:avLst/>
          </a:prstGeom>
          <a:noFill/>
        </p:spPr>
        <p:txBody>
          <a:bodyPr wrap="square">
            <a:spAutoFit/>
          </a:bodyPr>
          <a:lstStyle/>
          <a:p>
            <a:pPr algn="l"/>
            <a:r>
              <a:rPr sz="2600" b="1">
                <a:solidFill>
                  <a:srgbClr val="FFFFFF"/>
                </a:solidFill>
              </a:rPr>
              <a:t>GitHub Copilot — Overview</a:t>
            </a:r>
          </a:p>
        </p:txBody>
      </p:sp>
      <p:sp>
        <p:nvSpPr>
          <p:cNvPr id="4" name="Rectangle 3"/>
          <p:cNvSpPr/>
          <p:nvPr/>
        </p:nvSpPr>
        <p:spPr>
          <a:xfrm>
            <a:off x="502920" y="868680"/>
            <a:ext cx="10241280" cy="27432"/>
          </a:xfrm>
          <a:prstGeom prst="rect">
            <a:avLst/>
          </a:prstGeom>
          <a:solidFill>
            <a:srgbClr val="23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05840"/>
            <a:ext cx="11155680" cy="5120640"/>
          </a:xfrm>
          <a:prstGeom prst="rect">
            <a:avLst/>
          </a:prstGeom>
          <a:noFill/>
        </p:spPr>
        <p:txBody>
          <a:bodyPr wrap="square">
            <a:spAutoFit/>
          </a:bodyPr>
          <a:lstStyle/>
          <a:p>
            <a:pPr>
              <a:spcBef>
                <a:spcPts val="400"/>
              </a:spcBef>
            </a:pPr>
            <a:r>
              <a:rPr sz="1700" b="1">
                <a:solidFill>
                  <a:srgbClr val="FFFFFF"/>
                </a:solidFill>
              </a:rPr>
              <a:t>• AI pair programmer embedded in VS Code, JetBrains, Visual Studio, and the CLI</a:t>
            </a:r>
          </a:p>
          <a:p>
            <a:pPr>
              <a:spcBef>
                <a:spcPts val="400"/>
              </a:spcBef>
            </a:pPr>
            <a:r>
              <a:rPr sz="1700" b="1">
                <a:solidFill>
                  <a:srgbClr val="FFFFFF"/>
                </a:solidFill>
              </a:rPr>
              <a:t>• Powered by large language models (Claude Sonnet 4.6 in Copilot Chat)</a:t>
            </a:r>
          </a:p>
          <a:p>
            <a:pPr>
              <a:spcBef>
                <a:spcPts val="400"/>
              </a:spcBef>
            </a:pPr>
            <a:r>
              <a:rPr sz="1700" b="1">
                <a:solidFill>
                  <a:srgbClr val="FFFFFF"/>
                </a:solidFill>
              </a:rPr>
              <a:t>• Two main surfaces:</a:t>
            </a:r>
          </a:p>
          <a:p>
            <a:pPr lvl="1">
              <a:spcBef>
                <a:spcPts val="200"/>
              </a:spcBef>
            </a:pPr>
            <a:r>
              <a:rPr sz="1500" b="0">
                <a:solidFill>
                  <a:srgbClr val="C0CAD4"/>
                </a:solidFill>
              </a:rPr>
              <a:t>    ◦ Inline completions — next-token code suggestions as you type</a:t>
            </a:r>
          </a:p>
          <a:p>
            <a:pPr lvl="1">
              <a:spcBef>
                <a:spcPts val="200"/>
              </a:spcBef>
            </a:pPr>
            <a:r>
              <a:rPr sz="1500" b="0">
                <a:solidFill>
                  <a:srgbClr val="C0CAD4"/>
                </a:solidFill>
              </a:rPr>
              <a:t>    ◦ Copilot Chat — conversational agent with full tool use</a:t>
            </a:r>
          </a:p>
          <a:p>
            <a:pPr>
              <a:spcBef>
                <a:spcPts val="400"/>
              </a:spcBef>
            </a:pPr>
            <a:r>
              <a:rPr sz="1700" b="1">
                <a:solidFill>
                  <a:srgbClr val="FFFFFF"/>
                </a:solidFill>
              </a:rPr>
              <a:t>• Agent mode capabilities: read files, run commands, edit code, run tests — autonomously</a:t>
            </a:r>
          </a:p>
          <a:p>
            <a:pPr>
              <a:spcBef>
                <a:spcPts val="400"/>
              </a:spcBef>
            </a:pPr>
            <a:r>
              <a:rPr sz="1700" b="1">
                <a:solidFill>
                  <a:srgbClr val="FFFFFF"/>
                </a:solidFill>
              </a:rPr>
              <a:t>• Everything the agent does is governed by your customisation files</a:t>
            </a:r>
          </a:p>
          <a:p>
            <a:pPr>
              <a:spcBef>
                <a:spcPts val="400"/>
              </a:spcBef>
            </a:pPr>
            <a:r>
              <a:rPr sz="1700" b="1">
                <a:solidFill>
                  <a:srgbClr val="FFFFFF"/>
                </a:solidFill>
              </a:rPr>
              <a:t>• Session memory: agent tracks a plan across the whole conversation</a:t>
            </a:r>
          </a:p>
        </p:txBody>
      </p:sp>
      <p:sp>
        <p:nvSpPr>
          <p:cNvPr id="6" name="Rectangle 5"/>
          <p:cNvSpPr/>
          <p:nvPr/>
        </p:nvSpPr>
        <p:spPr>
          <a:xfrm>
            <a:off x="502920" y="5943600"/>
            <a:ext cx="11155680" cy="64008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5961888"/>
            <a:ext cx="10972800" cy="566928"/>
          </a:xfrm>
          <a:prstGeom prst="rect">
            <a:avLst/>
          </a:prstGeom>
          <a:noFill/>
        </p:spPr>
        <p:txBody>
          <a:bodyPr wrap="square">
            <a:spAutoFit/>
          </a:bodyPr>
          <a:lstStyle/>
          <a:p>
            <a:pPr algn="l"/>
            <a:r>
              <a:rPr sz="1300" b="0">
                <a:solidFill>
                  <a:srgbClr val="A0C8F0"/>
                </a:solidFill>
              </a:rPr>
              <a:t>💡  This session focuses on Copilot Chat in agent mode — the most powerful surface.</a:t>
            </a:r>
          </a:p>
        </p:txBody>
      </p:sp>
      <p:sp>
        <p:nvSpPr>
          <p:cNvPr id="8" name="TextBox 7"/>
          <p:cNvSpPr txBox="1"/>
          <p:nvPr/>
        </p:nvSpPr>
        <p:spPr>
          <a:xfrm>
            <a:off x="10911535" y="6446520"/>
            <a:ext cx="1188720" cy="320040"/>
          </a:xfrm>
          <a:prstGeom prst="rect">
            <a:avLst/>
          </a:prstGeom>
          <a:noFill/>
        </p:spPr>
        <p:txBody>
          <a:bodyPr wrap="square">
            <a:spAutoFit/>
          </a:bodyPr>
          <a:lstStyle/>
          <a:p>
            <a:pPr algn="r"/>
            <a:r>
              <a:rPr sz="1100" b="0">
                <a:solidFill>
                  <a:srgbClr val="88929A"/>
                </a:solidFill>
              </a:rPr>
              <a:t>4 / 39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DB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9144000" cy="457200"/>
          </a:xfrm>
          <a:prstGeom prst="rect">
            <a:avLst/>
          </a:prstGeom>
          <a:noFill/>
        </p:spPr>
        <p:txBody>
          <a:bodyPr wrap="square">
            <a:spAutoFit/>
          </a:bodyPr>
          <a:lstStyle/>
          <a:p>
            <a:pPr algn="l"/>
            <a:r>
              <a:rPr sz="1400" b="0">
                <a:solidFill>
                  <a:srgbClr val="2DBA4E"/>
                </a:solidFill>
              </a:rPr>
              <a:t>SECTION  02</a:t>
            </a:r>
          </a:p>
        </p:txBody>
      </p:sp>
      <p:sp>
        <p:nvSpPr>
          <p:cNvPr id="4" name="TextBox 3"/>
          <p:cNvSpPr txBox="1"/>
          <p:nvPr/>
        </p:nvSpPr>
        <p:spPr>
          <a:xfrm>
            <a:off x="457200" y="2651760"/>
            <a:ext cx="10058400" cy="1280160"/>
          </a:xfrm>
          <a:prstGeom prst="rect">
            <a:avLst/>
          </a:prstGeom>
          <a:noFill/>
        </p:spPr>
        <p:txBody>
          <a:bodyPr wrap="square">
            <a:spAutoFit/>
          </a:bodyPr>
          <a:lstStyle/>
          <a:p>
            <a:pPr algn="l"/>
            <a:r>
              <a:rPr sz="4000" b="1">
                <a:solidFill>
                  <a:srgbClr val="FFFFFF"/>
                </a:solidFill>
              </a:rPr>
              <a:t>Built-in Slash Commands</a:t>
            </a:r>
          </a:p>
        </p:txBody>
      </p:sp>
      <p:sp>
        <p:nvSpPr>
          <p:cNvPr id="5" name="Rectangle 4"/>
          <p:cNvSpPr/>
          <p:nvPr/>
        </p:nvSpPr>
        <p:spPr>
          <a:xfrm>
            <a:off x="457200" y="3977639"/>
            <a:ext cx="1463040" cy="54864"/>
          </a:xfrm>
          <a:prstGeom prst="rect">
            <a:avLst/>
          </a:prstGeom>
          <a:solidFill>
            <a:srgbClr val="2DB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30363D"/>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3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515600" cy="640080"/>
          </a:xfrm>
          <a:prstGeom prst="rect">
            <a:avLst/>
          </a:prstGeom>
          <a:noFill/>
        </p:spPr>
        <p:txBody>
          <a:bodyPr wrap="square">
            <a:spAutoFit/>
          </a:bodyPr>
          <a:lstStyle/>
          <a:p>
            <a:pPr algn="l"/>
            <a:r>
              <a:rPr sz="2600" b="1">
                <a:solidFill>
                  <a:srgbClr val="FFFFFF"/>
                </a:solidFill>
              </a:rPr>
              <a:t>Built-in Slash Commands  ( type  /  in Chat )</a:t>
            </a:r>
          </a:p>
        </p:txBody>
      </p:sp>
      <p:sp>
        <p:nvSpPr>
          <p:cNvPr id="4" name="Rectangle 3"/>
          <p:cNvSpPr/>
          <p:nvPr/>
        </p:nvSpPr>
        <p:spPr>
          <a:xfrm>
            <a:off x="502920" y="868680"/>
            <a:ext cx="10241280" cy="27432"/>
          </a:xfrm>
          <a:prstGeom prst="rect">
            <a:avLst/>
          </a:prstGeom>
          <a:solidFill>
            <a:srgbClr val="23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02920" y="1005840"/>
          <a:ext cx="11185854" cy="3803904"/>
        </p:xfrm>
        <a:graphic>
          <a:graphicData uri="http://schemas.openxmlformats.org/drawingml/2006/table">
            <a:tbl>
              <a:tblPr firstRow="1" bandRow="1">
                <a:tableStyleId>{5C22544A-7EE6-4342-B048-85BDC9FD1C3A}</a:tableStyleId>
              </a:tblPr>
              <a:tblGrid>
                <a:gridCol w="2560320"/>
                <a:gridCol w="4312767"/>
                <a:gridCol w="4312767"/>
              </a:tblGrid>
              <a:tr h="475488">
                <a:tc>
                  <a:txBody>
                    <a:bodyPr wrap="square"/>
                    <a:lstStyle/>
                    <a:p>
                      <a:pPr algn="l"/>
                      <a:r>
                        <a:rPr sz="1400" b="1">
                          <a:solidFill>
                            <a:srgbClr val="FFFFFF"/>
                          </a:solidFill>
                        </a:rPr>
                        <a:t>Command</a:t>
                      </a:r>
                    </a:p>
                  </a:txBody>
                  <a:tcPr>
                    <a:solidFill>
                      <a:srgbClr val="238BE6"/>
                    </a:solidFill>
                  </a:tcPr>
                </a:tc>
                <a:tc>
                  <a:txBody>
                    <a:bodyPr wrap="square"/>
                    <a:lstStyle/>
                    <a:p>
                      <a:pPr algn="l"/>
                      <a:r>
                        <a:rPr sz="1400" b="1">
                          <a:solidFill>
                            <a:srgbClr val="FFFFFF"/>
                          </a:solidFill>
                        </a:rPr>
                        <a:t>Purpose</a:t>
                      </a:r>
                    </a:p>
                  </a:txBody>
                  <a:tcPr>
                    <a:solidFill>
                      <a:srgbClr val="238BE6"/>
                    </a:solidFill>
                  </a:tcPr>
                </a:tc>
                <a:tc>
                  <a:txBody>
                    <a:bodyPr wrap="square"/>
                    <a:lstStyle/>
                    <a:p>
                      <a:pPr algn="l"/>
                      <a:r>
                        <a:rPr sz="1400" b="1">
                          <a:solidFill>
                            <a:srgbClr val="FFFFFF"/>
                          </a:solidFill>
                        </a:rPr>
                        <a:t>What it Does</a:t>
                      </a:r>
                    </a:p>
                  </a:txBody>
                  <a:tcPr>
                    <a:solidFill>
                      <a:srgbClr val="238BE6"/>
                    </a:solidFill>
                  </a:tcPr>
                </a:tc>
              </a:tr>
              <a:tr h="475488">
                <a:tc>
                  <a:txBody>
                    <a:bodyPr wrap="square"/>
                    <a:lstStyle/>
                    <a:p>
                      <a:pPr algn="l"/>
                      <a:r>
                        <a:rPr sz="1300" b="0">
                          <a:solidFill>
                            <a:srgbClr val="FFFFFF"/>
                          </a:solidFill>
                        </a:rPr>
                        <a:t>/plan</a:t>
                      </a:r>
                    </a:p>
                  </a:txBody>
                  <a:tcPr>
                    <a:solidFill>
                      <a:srgbClr val="232B33"/>
                    </a:solidFill>
                  </a:tcPr>
                </a:tc>
                <a:tc>
                  <a:txBody>
                    <a:bodyPr wrap="square"/>
                    <a:lstStyle/>
                    <a:p>
                      <a:pPr algn="l"/>
                      <a:r>
                        <a:rPr sz="1300" b="0">
                          <a:solidFill>
                            <a:srgbClr val="FFFFFF"/>
                          </a:solidFill>
                        </a:rPr>
                        <a:t>Research &amp; planning</a:t>
                      </a:r>
                    </a:p>
                  </a:txBody>
                  <a:tcPr>
                    <a:solidFill>
                      <a:srgbClr val="232B33"/>
                    </a:solidFill>
                  </a:tcPr>
                </a:tc>
                <a:tc>
                  <a:txBody>
                    <a:bodyPr wrap="square"/>
                    <a:lstStyle/>
                    <a:p>
                      <a:pPr algn="l"/>
                      <a:r>
                        <a:rPr sz="1300" b="0">
                          <a:solidFill>
                            <a:srgbClr val="FFFFFF"/>
                          </a:solidFill>
                        </a:rPr>
                        <a:t>Interviews you with a questionnaire, then produces a phased implementation plan saved to session memory</a:t>
                      </a:r>
                    </a:p>
                  </a:txBody>
                  <a:tcPr>
                    <a:solidFill>
                      <a:srgbClr val="232B33"/>
                    </a:solidFill>
                  </a:tcPr>
                </a:tc>
              </a:tr>
              <a:tr h="475488">
                <a:tc>
                  <a:txBody>
                    <a:bodyPr wrap="square"/>
                    <a:lstStyle/>
                    <a:p>
                      <a:pPr algn="l"/>
                      <a:r>
                        <a:rPr sz="1300" b="0">
                          <a:solidFill>
                            <a:srgbClr val="FFFFFF"/>
                          </a:solidFill>
                        </a:rPr>
                        <a:t>/init</a:t>
                      </a:r>
                    </a:p>
                  </a:txBody>
                  <a:tcPr>
                    <a:solidFill>
                      <a:srgbClr val="1C232A"/>
                    </a:solidFill>
                  </a:tcPr>
                </a:tc>
                <a:tc>
                  <a:txBody>
                    <a:bodyPr wrap="square"/>
                    <a:lstStyle/>
                    <a:p>
                      <a:pPr algn="l"/>
                      <a:r>
                        <a:rPr sz="1300" b="0">
                          <a:solidFill>
                            <a:srgbClr val="FFFFFF"/>
                          </a:solidFill>
                        </a:rPr>
                        <a:t>Workspace bootstrap</a:t>
                      </a:r>
                    </a:p>
                  </a:txBody>
                  <a:tcPr>
                    <a:solidFill>
                      <a:srgbClr val="1C232A"/>
                    </a:solidFill>
                  </a:tcPr>
                </a:tc>
                <a:tc>
                  <a:txBody>
                    <a:bodyPr wrap="square"/>
                    <a:lstStyle/>
                    <a:p>
                      <a:pPr algn="l"/>
                      <a:r>
                        <a:rPr sz="1300" b="0">
                          <a:solidFill>
                            <a:srgbClr val="FFFFFF"/>
                          </a:solidFill>
                        </a:rPr>
                        <a:t>Scans your codebase and auto-generates copilot-instructions.md with build commands, conventions, architecture notes</a:t>
                      </a:r>
                    </a:p>
                  </a:txBody>
                  <a:tcPr>
                    <a:solidFill>
                      <a:srgbClr val="1C232A"/>
                    </a:solidFill>
                  </a:tcPr>
                </a:tc>
              </a:tr>
              <a:tr h="475488">
                <a:tc>
                  <a:txBody>
                    <a:bodyPr wrap="square"/>
                    <a:lstStyle/>
                    <a:p>
                      <a:pPr algn="l"/>
                      <a:r>
                        <a:rPr sz="1300" b="0">
                          <a:solidFill>
                            <a:srgbClr val="FFFFFF"/>
                          </a:solidFill>
                        </a:rPr>
                        <a:t>/create-agent</a:t>
                      </a:r>
                    </a:p>
                  </a:txBody>
                  <a:tcPr>
                    <a:solidFill>
                      <a:srgbClr val="232B33"/>
                    </a:solidFill>
                  </a:tcPr>
                </a:tc>
                <a:tc>
                  <a:txBody>
                    <a:bodyPr wrap="square"/>
                    <a:lstStyle/>
                    <a:p>
                      <a:pPr algn="l"/>
                      <a:r>
                        <a:rPr sz="1300" b="0">
                          <a:solidFill>
                            <a:srgbClr val="FFFFFF"/>
                          </a:solidFill>
                        </a:rPr>
                        <a:t>Custom agent</a:t>
                      </a:r>
                    </a:p>
                  </a:txBody>
                  <a:tcPr>
                    <a:solidFill>
                      <a:srgbClr val="232B33"/>
                    </a:solidFill>
                  </a:tcPr>
                </a:tc>
                <a:tc>
                  <a:txBody>
                    <a:bodyPr wrap="square"/>
                    <a:lstStyle/>
                    <a:p>
                      <a:pPr algn="l"/>
                      <a:r>
                        <a:rPr sz="1300" b="0">
                          <a:solidFill>
                            <a:srgbClr val="FFFFFF"/>
                          </a:solidFill>
                        </a:rPr>
                        <a:t>Reviews conversation history, then guides creation of a .agent.md persona with restricted tools</a:t>
                      </a:r>
                    </a:p>
                  </a:txBody>
                  <a:tcPr>
                    <a:solidFill>
                      <a:srgbClr val="232B33"/>
                    </a:solidFill>
                  </a:tcPr>
                </a:tc>
              </a:tr>
              <a:tr h="475488">
                <a:tc>
                  <a:txBody>
                    <a:bodyPr wrap="square"/>
                    <a:lstStyle/>
                    <a:p>
                      <a:pPr algn="l"/>
                      <a:r>
                        <a:rPr sz="1300" b="0">
                          <a:solidFill>
                            <a:srgbClr val="FFFFFF"/>
                          </a:solidFill>
                        </a:rPr>
                        <a:t>/create-instructions</a:t>
                      </a:r>
                    </a:p>
                  </a:txBody>
                  <a:tcPr>
                    <a:solidFill>
                      <a:srgbClr val="1C232A"/>
                    </a:solidFill>
                  </a:tcPr>
                </a:tc>
                <a:tc>
                  <a:txBody>
                    <a:bodyPr wrap="square"/>
                    <a:lstStyle/>
                    <a:p>
                      <a:pPr algn="l"/>
                      <a:r>
                        <a:rPr sz="1300" b="0">
                          <a:solidFill>
                            <a:srgbClr val="FFFFFF"/>
                          </a:solidFill>
                        </a:rPr>
                        <a:t>Coding conventions</a:t>
                      </a:r>
                    </a:p>
                  </a:txBody>
                  <a:tcPr>
                    <a:solidFill>
                      <a:srgbClr val="1C232A"/>
                    </a:solidFill>
                  </a:tcPr>
                </a:tc>
                <a:tc>
                  <a:txBody>
                    <a:bodyPr wrap="square"/>
                    <a:lstStyle/>
                    <a:p>
                      <a:pPr algn="l"/>
                      <a:r>
                        <a:rPr sz="1300" b="0">
                          <a:solidFill>
                            <a:srgbClr val="FFFFFF"/>
                          </a:solidFill>
                        </a:rPr>
                        <a:t>Extracts patterns from your conversation and creates a persistent .instructions.md rule file</a:t>
                      </a:r>
                    </a:p>
                  </a:txBody>
                  <a:tcPr>
                    <a:solidFill>
                      <a:srgbClr val="1C232A"/>
                    </a:solidFill>
                  </a:tcPr>
                </a:tc>
              </a:tr>
              <a:tr h="475488">
                <a:tc>
                  <a:txBody>
                    <a:bodyPr wrap="square"/>
                    <a:lstStyle/>
                    <a:p>
                      <a:pPr algn="l"/>
                      <a:r>
                        <a:rPr sz="1300" b="0">
                          <a:solidFill>
                            <a:srgbClr val="FFFFFF"/>
                          </a:solidFill>
                        </a:rPr>
                        <a:t>/create-prompt</a:t>
                      </a:r>
                    </a:p>
                  </a:txBody>
                  <a:tcPr>
                    <a:solidFill>
                      <a:srgbClr val="232B33"/>
                    </a:solidFill>
                  </a:tcPr>
                </a:tc>
                <a:tc>
                  <a:txBody>
                    <a:bodyPr wrap="square"/>
                    <a:lstStyle/>
                    <a:p>
                      <a:pPr algn="l"/>
                      <a:r>
                        <a:rPr sz="1300" b="0">
                          <a:solidFill>
                            <a:srgbClr val="FFFFFF"/>
                          </a:solidFill>
                        </a:rPr>
                        <a:t>Reusable prompt</a:t>
                      </a:r>
                    </a:p>
                  </a:txBody>
                  <a:tcPr>
                    <a:solidFill>
                      <a:srgbClr val="232B33"/>
                    </a:solidFill>
                  </a:tcPr>
                </a:tc>
                <a:tc>
                  <a:txBody>
                    <a:bodyPr wrap="square"/>
                    <a:lstStyle/>
                    <a:p>
                      <a:pPr algn="l"/>
                      <a:r>
                        <a:rPr sz="1300" b="0">
                          <a:solidFill>
                            <a:srgbClr val="FFFFFF"/>
                          </a:solidFill>
                        </a:rPr>
                        <a:t>Packages a repeated task pattern into a .prompt.md slash command you can share with the team</a:t>
                      </a:r>
                    </a:p>
                  </a:txBody>
                  <a:tcPr>
                    <a:solidFill>
                      <a:srgbClr val="232B33"/>
                    </a:solidFill>
                  </a:tcPr>
                </a:tc>
              </a:tr>
              <a:tr h="475488">
                <a:tc>
                  <a:txBody>
                    <a:bodyPr wrap="square"/>
                    <a:lstStyle/>
                    <a:p>
                      <a:pPr algn="l"/>
                      <a:r>
                        <a:rPr sz="1300" b="0">
                          <a:solidFill>
                            <a:srgbClr val="FFFFFF"/>
                          </a:solidFill>
                        </a:rPr>
                        <a:t>/create-skill</a:t>
                      </a:r>
                    </a:p>
                  </a:txBody>
                  <a:tcPr>
                    <a:solidFill>
                      <a:srgbClr val="1C232A"/>
                    </a:solidFill>
                  </a:tcPr>
                </a:tc>
                <a:tc>
                  <a:txBody>
                    <a:bodyPr wrap="square"/>
                    <a:lstStyle/>
                    <a:p>
                      <a:pPr algn="l"/>
                      <a:r>
                        <a:rPr sz="1300" b="0">
                          <a:solidFill>
                            <a:srgbClr val="FFFFFF"/>
                          </a:solidFill>
                        </a:rPr>
                        <a:t>Workflow skill</a:t>
                      </a:r>
                    </a:p>
                  </a:txBody>
                  <a:tcPr>
                    <a:solidFill>
                      <a:srgbClr val="1C232A"/>
                    </a:solidFill>
                  </a:tcPr>
                </a:tc>
                <a:tc>
                  <a:txBody>
                    <a:bodyPr wrap="square"/>
                    <a:lstStyle/>
                    <a:p>
                      <a:pPr algn="l"/>
                      <a:r>
                        <a:rPr sz="1300" b="0">
                          <a:solidFill>
                            <a:srgbClr val="FFFFFF"/>
                          </a:solidFill>
                        </a:rPr>
                        <a:t>Bundles a multi-step workflow + scripts/templates into a SKILL.md folder</a:t>
                      </a:r>
                    </a:p>
                  </a:txBody>
                  <a:tcPr>
                    <a:solidFill>
                      <a:srgbClr val="1C232A"/>
                    </a:solidFill>
                  </a:tcPr>
                </a:tc>
              </a:tr>
              <a:tr h="475488">
                <a:tc>
                  <a:txBody>
                    <a:bodyPr wrap="square"/>
                    <a:lstStyle/>
                    <a:p>
                      <a:pPr algn="l"/>
                      <a:r>
                        <a:rPr sz="1300" b="0">
                          <a:solidFill>
                            <a:srgbClr val="FFFFFF"/>
                          </a:solidFill>
                        </a:rPr>
                        <a:t>/create-hook</a:t>
                      </a:r>
                    </a:p>
                  </a:txBody>
                  <a:tcPr>
                    <a:solidFill>
                      <a:srgbClr val="232B33"/>
                    </a:solidFill>
                  </a:tcPr>
                </a:tc>
                <a:tc>
                  <a:txBody>
                    <a:bodyPr wrap="square"/>
                    <a:lstStyle/>
                    <a:p>
                      <a:pPr algn="l"/>
                      <a:r>
                        <a:rPr sz="1300" b="0">
                          <a:solidFill>
                            <a:srgbClr val="FFFFFF"/>
                          </a:solidFill>
                        </a:rPr>
                        <a:t>Lifecycle hook</a:t>
                      </a:r>
                    </a:p>
                  </a:txBody>
                  <a:tcPr>
                    <a:solidFill>
                      <a:srgbClr val="232B33"/>
                    </a:solidFill>
                  </a:tcPr>
                </a:tc>
                <a:tc>
                  <a:txBody>
                    <a:bodyPr wrap="square"/>
                    <a:lstStyle/>
                    <a:p>
                      <a:pPr algn="l"/>
                      <a:r>
                        <a:rPr sz="1300" b="0">
                          <a:solidFill>
                            <a:srgbClr val="FFFFFF"/>
                          </a:solidFill>
                        </a:rPr>
                        <a:t>Creates a .json hook that deterministically enforces policy at agent lifecycle events</a:t>
                      </a:r>
                    </a:p>
                  </a:txBody>
                  <a:tcPr>
                    <a:solidFill>
                      <a:srgbClr val="232B33"/>
                    </a:solidFill>
                  </a:tcPr>
                </a:tc>
              </a:tr>
            </a:tbl>
          </a:graphicData>
        </a:graphic>
      </p:graphicFrame>
      <p:sp>
        <p:nvSpPr>
          <p:cNvPr id="6" name="TextBox 5"/>
          <p:cNvSpPr txBox="1"/>
          <p:nvPr/>
        </p:nvSpPr>
        <p:spPr>
          <a:xfrm>
            <a:off x="10911535" y="6446520"/>
            <a:ext cx="1188720" cy="320040"/>
          </a:xfrm>
          <a:prstGeom prst="rect">
            <a:avLst/>
          </a:prstGeom>
          <a:noFill/>
        </p:spPr>
        <p:txBody>
          <a:bodyPr wrap="square">
            <a:spAutoFit/>
          </a:bodyPr>
          <a:lstStyle/>
          <a:p>
            <a:pPr algn="r"/>
            <a:r>
              <a:rPr sz="1100" b="0">
                <a:solidFill>
                  <a:srgbClr val="88929A"/>
                </a:solidFill>
              </a:rPr>
              <a:t>6 / 39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F7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9144000" cy="457200"/>
          </a:xfrm>
          <a:prstGeom prst="rect">
            <a:avLst/>
          </a:prstGeom>
          <a:noFill/>
        </p:spPr>
        <p:txBody>
          <a:bodyPr wrap="square">
            <a:spAutoFit/>
          </a:bodyPr>
          <a:lstStyle/>
          <a:p>
            <a:pPr algn="l"/>
            <a:r>
              <a:rPr sz="1400" b="0">
                <a:solidFill>
                  <a:srgbClr val="F78C00"/>
                </a:solidFill>
              </a:rPr>
              <a:t>SECTION  03</a:t>
            </a:r>
          </a:p>
        </p:txBody>
      </p:sp>
      <p:sp>
        <p:nvSpPr>
          <p:cNvPr id="4" name="TextBox 3"/>
          <p:cNvSpPr txBox="1"/>
          <p:nvPr/>
        </p:nvSpPr>
        <p:spPr>
          <a:xfrm>
            <a:off x="457200" y="2651760"/>
            <a:ext cx="10058400" cy="1280160"/>
          </a:xfrm>
          <a:prstGeom prst="rect">
            <a:avLst/>
          </a:prstGeom>
          <a:noFill/>
        </p:spPr>
        <p:txBody>
          <a:bodyPr wrap="square">
            <a:spAutoFit/>
          </a:bodyPr>
          <a:lstStyle/>
          <a:p>
            <a:pPr algn="l"/>
            <a:r>
              <a:rPr sz="4000" b="1">
                <a:solidFill>
                  <a:srgbClr val="FFFFFF"/>
                </a:solidFill>
              </a:rPr>
              <a:t>How  /plan  Works — Under the Hood</a:t>
            </a:r>
          </a:p>
        </p:txBody>
      </p:sp>
      <p:sp>
        <p:nvSpPr>
          <p:cNvPr id="5" name="Rectangle 4"/>
          <p:cNvSpPr/>
          <p:nvPr/>
        </p:nvSpPr>
        <p:spPr>
          <a:xfrm>
            <a:off x="457200" y="3977639"/>
            <a:ext cx="1463040" cy="54864"/>
          </a:xfrm>
          <a:prstGeom prst="rect">
            <a:avLst/>
          </a:prstGeom>
          <a:solidFill>
            <a:srgbClr val="F7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30363D"/>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F7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515600" cy="640080"/>
          </a:xfrm>
          <a:prstGeom prst="rect">
            <a:avLst/>
          </a:prstGeom>
          <a:noFill/>
        </p:spPr>
        <p:txBody>
          <a:bodyPr wrap="square">
            <a:spAutoFit/>
          </a:bodyPr>
          <a:lstStyle/>
          <a:p>
            <a:pPr algn="l"/>
            <a:r>
              <a:rPr sz="2400" b="1">
                <a:solidFill>
                  <a:srgbClr val="FFFFFF"/>
                </a:solidFill>
              </a:rPr>
              <a:t>The /plan Template File — Full Contents</a:t>
            </a:r>
          </a:p>
        </p:txBody>
      </p:sp>
      <p:sp>
        <p:nvSpPr>
          <p:cNvPr id="4" name="Rectangle 3"/>
          <p:cNvSpPr/>
          <p:nvPr/>
        </p:nvSpPr>
        <p:spPr>
          <a:xfrm>
            <a:off x="502920" y="868680"/>
            <a:ext cx="10241280" cy="27432"/>
          </a:xfrm>
          <a:prstGeom prst="rect">
            <a:avLst/>
          </a:prstGeom>
          <a:solidFill>
            <a:srgbClr val="F7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914400"/>
            <a:ext cx="11155680" cy="502920"/>
          </a:xfrm>
          <a:prstGeom prst="rect">
            <a:avLst/>
          </a:prstGeom>
          <a:noFill/>
        </p:spPr>
        <p:txBody>
          <a:bodyPr wrap="square">
            <a:spAutoFit/>
          </a:bodyPr>
          <a:lstStyle/>
          <a:p>
            <a:pPr algn="l"/>
            <a:r>
              <a:rPr sz="1400" b="0">
                <a:solidFill>
                  <a:srgbClr val="A0AAB4"/>
                </a:solidFill>
              </a:rPr>
              <a:t>Location: assets/prompts/plan.prompt.md  inside the Copilot Chat VS Code extension</a:t>
            </a:r>
          </a:p>
        </p:txBody>
      </p:sp>
      <p:sp>
        <p:nvSpPr>
          <p:cNvPr id="6" name="Rectangle 5"/>
          <p:cNvSpPr/>
          <p:nvPr/>
        </p:nvSpPr>
        <p:spPr>
          <a:xfrm>
            <a:off x="502920" y="1463040"/>
            <a:ext cx="6492240" cy="512064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572768"/>
            <a:ext cx="6217920" cy="4937760"/>
          </a:xfrm>
          <a:prstGeom prst="rect">
            <a:avLst/>
          </a:prstGeom>
          <a:noFill/>
        </p:spPr>
        <p:txBody>
          <a:bodyPr wrap="square">
            <a:spAutoFit/>
          </a:bodyPr>
          <a:lstStyle/>
          <a:p>
            <a:pPr algn="l"/>
            <a:r>
              <a:rPr sz="1200" b="0">
                <a:solidFill>
                  <a:srgbClr val="A8CC88"/>
                </a:solidFill>
              </a:rPr>
              <a:t>---
name: plan           ①
description: Research and plan with the Plan agent  ②
agent: Plan          ③
argument-hint: Describe what you want to plan or research  ④
---
                     ⑤
Plan my task.        ⑥</a:t>
            </a:r>
          </a:p>
        </p:txBody>
      </p:sp>
      <p:sp>
        <p:nvSpPr>
          <p:cNvPr id="8" name="Oval 7"/>
          <p:cNvSpPr/>
          <p:nvPr/>
        </p:nvSpPr>
        <p:spPr>
          <a:xfrm>
            <a:off x="7223760" y="1545336"/>
            <a:ext cx="347472" cy="347472"/>
          </a:xfrm>
          <a:prstGeom prst="ellipse">
            <a:avLst/>
          </a:prstGeom>
          <a:solidFill>
            <a:srgbClr val="F7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①</a:t>
            </a:r>
          </a:p>
        </p:txBody>
      </p:sp>
      <p:sp>
        <p:nvSpPr>
          <p:cNvPr id="9" name="TextBox 8"/>
          <p:cNvSpPr txBox="1"/>
          <p:nvPr/>
        </p:nvSpPr>
        <p:spPr>
          <a:xfrm>
            <a:off x="7644384" y="1508760"/>
            <a:ext cx="4242816" cy="621792"/>
          </a:xfrm>
          <a:prstGeom prst="rect">
            <a:avLst/>
          </a:prstGeom>
          <a:noFill/>
        </p:spPr>
        <p:txBody>
          <a:bodyPr wrap="square">
            <a:spAutoFit/>
          </a:bodyPr>
          <a:lstStyle/>
          <a:p>
            <a:pPr algn="l"/>
            <a:r>
              <a:rPr sz="1300" b="0">
                <a:solidFill>
                  <a:srgbClr val="D0D8E4"/>
                </a:solidFill>
              </a:rPr>
              <a:t>name — the slug used as the /plan slash command</a:t>
            </a:r>
          </a:p>
        </p:txBody>
      </p:sp>
      <p:sp>
        <p:nvSpPr>
          <p:cNvPr id="10" name="Oval 9"/>
          <p:cNvSpPr/>
          <p:nvPr/>
        </p:nvSpPr>
        <p:spPr>
          <a:xfrm>
            <a:off x="7223760" y="2203704"/>
            <a:ext cx="347472" cy="347472"/>
          </a:xfrm>
          <a:prstGeom prst="ellipse">
            <a:avLst/>
          </a:prstGeom>
          <a:solidFill>
            <a:srgbClr val="F7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②</a:t>
            </a:r>
          </a:p>
        </p:txBody>
      </p:sp>
      <p:sp>
        <p:nvSpPr>
          <p:cNvPr id="11" name="TextBox 10"/>
          <p:cNvSpPr txBox="1"/>
          <p:nvPr/>
        </p:nvSpPr>
        <p:spPr>
          <a:xfrm>
            <a:off x="7644384" y="2167128"/>
            <a:ext cx="4242816" cy="621792"/>
          </a:xfrm>
          <a:prstGeom prst="rect">
            <a:avLst/>
          </a:prstGeom>
          <a:noFill/>
        </p:spPr>
        <p:txBody>
          <a:bodyPr wrap="square">
            <a:spAutoFit/>
          </a:bodyPr>
          <a:lstStyle/>
          <a:p>
            <a:pPr algn="l"/>
            <a:r>
              <a:rPr sz="1300" b="0">
                <a:solidFill>
                  <a:srgbClr val="D0D8E4"/>
                </a:solidFill>
              </a:rPr>
              <a:t>description — shown in the command picker so users know what it does</a:t>
            </a:r>
          </a:p>
        </p:txBody>
      </p:sp>
      <p:sp>
        <p:nvSpPr>
          <p:cNvPr id="12" name="Oval 11"/>
          <p:cNvSpPr/>
          <p:nvPr/>
        </p:nvSpPr>
        <p:spPr>
          <a:xfrm>
            <a:off x="7223760" y="2862072"/>
            <a:ext cx="347472" cy="347472"/>
          </a:xfrm>
          <a:prstGeom prst="ellipse">
            <a:avLst/>
          </a:prstGeom>
          <a:solidFill>
            <a:srgbClr val="F7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③</a:t>
            </a:r>
          </a:p>
        </p:txBody>
      </p:sp>
      <p:sp>
        <p:nvSpPr>
          <p:cNvPr id="13" name="TextBox 12"/>
          <p:cNvSpPr txBox="1"/>
          <p:nvPr/>
        </p:nvSpPr>
        <p:spPr>
          <a:xfrm>
            <a:off x="7644384" y="2825496"/>
            <a:ext cx="4242816" cy="621792"/>
          </a:xfrm>
          <a:prstGeom prst="rect">
            <a:avLst/>
          </a:prstGeom>
          <a:noFill/>
        </p:spPr>
        <p:txBody>
          <a:bodyPr wrap="square">
            <a:spAutoFit/>
          </a:bodyPr>
          <a:lstStyle/>
          <a:p>
            <a:pPr algn="l"/>
            <a:r>
              <a:rPr sz="1300" b="0">
                <a:solidFill>
                  <a:srgbClr val="D0D8E4"/>
                </a:solidFill>
              </a:rPr>
              <a:t>agent: Plan — routes this prompt to the built-in Plan agent mode (not the default agent)</a:t>
            </a:r>
          </a:p>
        </p:txBody>
      </p:sp>
      <p:sp>
        <p:nvSpPr>
          <p:cNvPr id="14" name="Oval 13"/>
          <p:cNvSpPr/>
          <p:nvPr/>
        </p:nvSpPr>
        <p:spPr>
          <a:xfrm>
            <a:off x="7223760" y="3520440"/>
            <a:ext cx="347472" cy="347472"/>
          </a:xfrm>
          <a:prstGeom prst="ellipse">
            <a:avLst/>
          </a:prstGeom>
          <a:solidFill>
            <a:srgbClr val="F7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④</a:t>
            </a:r>
          </a:p>
        </p:txBody>
      </p:sp>
      <p:sp>
        <p:nvSpPr>
          <p:cNvPr id="15" name="TextBox 14"/>
          <p:cNvSpPr txBox="1"/>
          <p:nvPr/>
        </p:nvSpPr>
        <p:spPr>
          <a:xfrm>
            <a:off x="7644384" y="3483864"/>
            <a:ext cx="4242816" cy="621792"/>
          </a:xfrm>
          <a:prstGeom prst="rect">
            <a:avLst/>
          </a:prstGeom>
          <a:noFill/>
        </p:spPr>
        <p:txBody>
          <a:bodyPr wrap="square">
            <a:spAutoFit/>
          </a:bodyPr>
          <a:lstStyle/>
          <a:p>
            <a:pPr algn="l"/>
            <a:r>
              <a:rPr sz="1300" b="0">
                <a:solidFill>
                  <a:srgbClr val="D0D8E4"/>
                </a:solidFill>
              </a:rPr>
              <a:t>argument-hint — the placeholder text shown in the chat input box after you type /plan</a:t>
            </a:r>
          </a:p>
        </p:txBody>
      </p:sp>
      <p:sp>
        <p:nvSpPr>
          <p:cNvPr id="16" name="Oval 15"/>
          <p:cNvSpPr/>
          <p:nvPr/>
        </p:nvSpPr>
        <p:spPr>
          <a:xfrm>
            <a:off x="7223760" y="4178808"/>
            <a:ext cx="347472" cy="347472"/>
          </a:xfrm>
          <a:prstGeom prst="ellipse">
            <a:avLst/>
          </a:prstGeom>
          <a:solidFill>
            <a:srgbClr val="F7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⑤</a:t>
            </a:r>
          </a:p>
        </p:txBody>
      </p:sp>
      <p:sp>
        <p:nvSpPr>
          <p:cNvPr id="17" name="TextBox 16"/>
          <p:cNvSpPr txBox="1"/>
          <p:nvPr/>
        </p:nvSpPr>
        <p:spPr>
          <a:xfrm>
            <a:off x="7644384" y="4142232"/>
            <a:ext cx="4242816" cy="621792"/>
          </a:xfrm>
          <a:prstGeom prst="rect">
            <a:avLst/>
          </a:prstGeom>
          <a:noFill/>
        </p:spPr>
        <p:txBody>
          <a:bodyPr wrap="square">
            <a:spAutoFit/>
          </a:bodyPr>
          <a:lstStyle/>
          <a:p>
            <a:pPr algn="l"/>
            <a:r>
              <a:rPr sz="1300" b="0">
                <a:solidFill>
                  <a:srgbClr val="D0D8E4"/>
                </a:solidFill>
              </a:rPr>
              <a:t>The --- closing the YAML frontmatter. Everything below is the prompt body.</a:t>
            </a:r>
          </a:p>
        </p:txBody>
      </p:sp>
      <p:sp>
        <p:nvSpPr>
          <p:cNvPr id="18" name="Oval 17"/>
          <p:cNvSpPr/>
          <p:nvPr/>
        </p:nvSpPr>
        <p:spPr>
          <a:xfrm>
            <a:off x="7223760" y="4837176"/>
            <a:ext cx="347472" cy="347472"/>
          </a:xfrm>
          <a:prstGeom prst="ellipse">
            <a:avLst/>
          </a:prstGeom>
          <a:solidFill>
            <a:srgbClr val="F7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⑥</a:t>
            </a:r>
          </a:p>
        </p:txBody>
      </p:sp>
      <p:sp>
        <p:nvSpPr>
          <p:cNvPr id="19" name="TextBox 18"/>
          <p:cNvSpPr txBox="1"/>
          <p:nvPr/>
        </p:nvSpPr>
        <p:spPr>
          <a:xfrm>
            <a:off x="7644384" y="4800600"/>
            <a:ext cx="4242816" cy="621792"/>
          </a:xfrm>
          <a:prstGeom prst="rect">
            <a:avLst/>
          </a:prstGeom>
          <a:noFill/>
        </p:spPr>
        <p:txBody>
          <a:bodyPr wrap="square">
            <a:spAutoFit/>
          </a:bodyPr>
          <a:lstStyle/>
          <a:p>
            <a:pPr algn="l"/>
            <a:r>
              <a:rPr sz="1300" b="0">
                <a:solidFill>
                  <a:srgbClr val="D0D8E4"/>
                </a:solidFill>
              </a:rPr>
              <a:t>The entire prompt body is just this one sentence. All planning intelligence is inside the Plan agent, not here.</a:t>
            </a:r>
          </a:p>
        </p:txBody>
      </p:sp>
      <p:sp>
        <p:nvSpPr>
          <p:cNvPr id="20" name="TextBox 19"/>
          <p:cNvSpPr txBox="1"/>
          <p:nvPr/>
        </p:nvSpPr>
        <p:spPr>
          <a:xfrm>
            <a:off x="10911535" y="6446520"/>
            <a:ext cx="1188720" cy="320040"/>
          </a:xfrm>
          <a:prstGeom prst="rect">
            <a:avLst/>
          </a:prstGeom>
          <a:noFill/>
        </p:spPr>
        <p:txBody>
          <a:bodyPr wrap="square">
            <a:spAutoFit/>
          </a:bodyPr>
          <a:lstStyle/>
          <a:p>
            <a:pPr algn="r"/>
            <a:r>
              <a:rPr sz="1100" b="0">
                <a:solidFill>
                  <a:srgbClr val="88929A"/>
                </a:solidFill>
              </a:rPr>
              <a:t>8 / 39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30363D"/>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3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515600" cy="640080"/>
          </a:xfrm>
          <a:prstGeom prst="rect">
            <a:avLst/>
          </a:prstGeom>
          <a:noFill/>
        </p:spPr>
        <p:txBody>
          <a:bodyPr wrap="square">
            <a:spAutoFit/>
          </a:bodyPr>
          <a:lstStyle/>
          <a:p>
            <a:pPr algn="l"/>
            <a:r>
              <a:rPr sz="2600" b="1">
                <a:solidFill>
                  <a:srgbClr val="FFFFFF"/>
                </a:solidFill>
              </a:rPr>
              <a:t>What the Plan Agent Actually Does</a:t>
            </a:r>
          </a:p>
        </p:txBody>
      </p:sp>
      <p:sp>
        <p:nvSpPr>
          <p:cNvPr id="4" name="Rectangle 3"/>
          <p:cNvSpPr/>
          <p:nvPr/>
        </p:nvSpPr>
        <p:spPr>
          <a:xfrm>
            <a:off x="502920" y="868680"/>
            <a:ext cx="10241280" cy="27432"/>
          </a:xfrm>
          <a:prstGeom prst="rect">
            <a:avLst/>
          </a:prstGeom>
          <a:solidFill>
            <a:srgbClr val="23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05840"/>
            <a:ext cx="11155680" cy="5120640"/>
          </a:xfrm>
          <a:prstGeom prst="rect">
            <a:avLst/>
          </a:prstGeom>
          <a:noFill/>
        </p:spPr>
        <p:txBody>
          <a:bodyPr wrap="square">
            <a:spAutoFit/>
          </a:bodyPr>
          <a:lstStyle/>
          <a:p>
            <a:pPr>
              <a:spcBef>
                <a:spcPts val="400"/>
              </a:spcBef>
            </a:pPr>
            <a:r>
              <a:rPr sz="1700" b="1">
                <a:solidFill>
                  <a:srgbClr val="FFFFFF"/>
                </a:solidFill>
              </a:rPr>
              <a:t>• The template is only a routing declaration — 7 lines total</a:t>
            </a:r>
          </a:p>
          <a:p>
            <a:pPr>
              <a:spcBef>
                <a:spcPts val="400"/>
              </a:spcBef>
            </a:pPr>
            <a:r>
              <a:rPr sz="1700" b="1">
                <a:solidFill>
                  <a:srgbClr val="FFFFFF"/>
                </a:solidFill>
              </a:rPr>
              <a:t>• All intelligence lives inside the built-in Plan agent mode</a:t>
            </a:r>
          </a:p>
          <a:p>
            <a:pPr>
              <a:spcBef>
                <a:spcPts val="400"/>
              </a:spcBef>
            </a:pPr>
            <a:r>
              <a:rPr sz="1700" b="1">
                <a:solidFill>
                  <a:srgbClr val="FFFFFF"/>
                </a:solidFill>
              </a:rPr>
              <a:t>• Step-by-step process when you type  /plan &lt;your task&gt;:</a:t>
            </a:r>
          </a:p>
          <a:p>
            <a:pPr lvl="1">
              <a:spcBef>
                <a:spcPts val="200"/>
              </a:spcBef>
            </a:pPr>
            <a:r>
              <a:rPr sz="1500" b="0">
                <a:solidFill>
                  <a:srgbClr val="C0CAD4"/>
                </a:solidFill>
              </a:rPr>
              <a:t>    ◦ 1. Parses the request — identifies domain, stack hints, implied requirements</a:t>
            </a:r>
          </a:p>
          <a:p>
            <a:pPr lvl="1">
              <a:spcBef>
                <a:spcPts val="200"/>
              </a:spcBef>
            </a:pPr>
            <a:r>
              <a:rPr sz="1500" b="0">
                <a:solidFill>
                  <a:srgbClr val="C0CAD4"/>
                </a:solidFill>
              </a:rPr>
              <a:t>    ◦ 2. Identifies missing decisions → generates a targeted questionnaire</a:t>
            </a:r>
          </a:p>
          <a:p>
            <a:pPr lvl="1">
              <a:spcBef>
                <a:spcPts val="200"/>
              </a:spcBef>
            </a:pPr>
            <a:r>
              <a:rPr sz="1500" b="0">
                <a:solidFill>
                  <a:srgbClr val="C0CAD4"/>
                </a:solidFill>
              </a:rPr>
              <a:t>    ◦ 3. Maps your answers to concrete technology choices and patterns</a:t>
            </a:r>
          </a:p>
          <a:p>
            <a:pPr lvl="1">
              <a:spcBef>
                <a:spcPts val="200"/>
              </a:spcBef>
            </a:pPr>
            <a:r>
              <a:rPr sz="1500" b="0">
                <a:solidFill>
                  <a:srgbClr val="C0CAD4"/>
                </a:solidFill>
              </a:rPr>
              <a:t>    ◦ 4. Produces a dependency-ordered, sequenced implementation plan</a:t>
            </a:r>
          </a:p>
          <a:p>
            <a:pPr lvl="1">
              <a:spcBef>
                <a:spcPts val="200"/>
              </a:spcBef>
            </a:pPr>
            <a:r>
              <a:rPr sz="1500" b="0">
                <a:solidFill>
                  <a:srgbClr val="C0CAD4"/>
                </a:solidFill>
              </a:rPr>
              <a:t>    ◦ 5. Saves the complete plan to session memory so it persists through implementation</a:t>
            </a:r>
          </a:p>
          <a:p>
            <a:pPr>
              <a:spcBef>
                <a:spcPts val="400"/>
              </a:spcBef>
            </a:pPr>
            <a:r>
              <a:rPr sz="1700" b="1">
                <a:solidFill>
                  <a:srgbClr val="FFFFFF"/>
                </a:solidFill>
              </a:rPr>
              <a:t>• Every downstream decision — naming, patterns, security — flows from your answers</a:t>
            </a:r>
          </a:p>
        </p:txBody>
      </p:sp>
      <p:sp>
        <p:nvSpPr>
          <p:cNvPr id="6" name="Rectangle 5"/>
          <p:cNvSpPr/>
          <p:nvPr/>
        </p:nvSpPr>
        <p:spPr>
          <a:xfrm>
            <a:off x="502920" y="5943600"/>
            <a:ext cx="11155680" cy="64008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5961888"/>
            <a:ext cx="10972800" cy="566928"/>
          </a:xfrm>
          <a:prstGeom prst="rect">
            <a:avLst/>
          </a:prstGeom>
          <a:noFill/>
        </p:spPr>
        <p:txBody>
          <a:bodyPr wrap="square">
            <a:spAutoFit/>
          </a:bodyPr>
          <a:lstStyle/>
          <a:p>
            <a:pPr algn="l"/>
            <a:r>
              <a:rPr sz="1300" b="0">
                <a:solidFill>
                  <a:srgbClr val="A0C8F0"/>
                </a:solidFill>
              </a:rPr>
              <a:t>💡  The agent knows what it doesn't know — it asks before it acts. Vague answers produce vague plans.</a:t>
            </a:r>
          </a:p>
        </p:txBody>
      </p:sp>
      <p:sp>
        <p:nvSpPr>
          <p:cNvPr id="8" name="TextBox 7"/>
          <p:cNvSpPr txBox="1"/>
          <p:nvPr/>
        </p:nvSpPr>
        <p:spPr>
          <a:xfrm>
            <a:off x="10911535" y="6446520"/>
            <a:ext cx="1188720" cy="320040"/>
          </a:xfrm>
          <a:prstGeom prst="rect">
            <a:avLst/>
          </a:prstGeom>
          <a:noFill/>
        </p:spPr>
        <p:txBody>
          <a:bodyPr wrap="square">
            <a:spAutoFit/>
          </a:bodyPr>
          <a:lstStyle/>
          <a:p>
            <a:pPr algn="r"/>
            <a:r>
              <a:rPr sz="1100" b="0">
                <a:solidFill>
                  <a:srgbClr val="88929A"/>
                </a:solidFill>
              </a:rPr>
              <a:t>9 / 39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30363D"/>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3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515600" cy="640080"/>
          </a:xfrm>
          <a:prstGeom prst="rect">
            <a:avLst/>
          </a:prstGeom>
          <a:noFill/>
        </p:spPr>
        <p:txBody>
          <a:bodyPr wrap="square">
            <a:spAutoFit/>
          </a:bodyPr>
          <a:lstStyle/>
          <a:p>
            <a:pPr algn="l"/>
            <a:r>
              <a:rPr sz="2600" b="1">
                <a:solidFill>
                  <a:srgbClr val="FFFFFF"/>
                </a:solidFill>
              </a:rPr>
              <a:t>PoC Walkthrough — /plan in Action</a:t>
            </a:r>
          </a:p>
        </p:txBody>
      </p:sp>
      <p:sp>
        <p:nvSpPr>
          <p:cNvPr id="4" name="Rectangle 3"/>
          <p:cNvSpPr/>
          <p:nvPr/>
        </p:nvSpPr>
        <p:spPr>
          <a:xfrm>
            <a:off x="502920" y="868680"/>
            <a:ext cx="10241280" cy="27432"/>
          </a:xfrm>
          <a:prstGeom prst="rect">
            <a:avLst/>
          </a:prstGeom>
          <a:solidFill>
            <a:srgbClr val="23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005840"/>
            <a:ext cx="5303520" cy="384048"/>
          </a:xfrm>
          <a:prstGeom prst="rect">
            <a:avLst/>
          </a:prstGeom>
          <a:solidFill>
            <a:srgbClr val="23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024128"/>
            <a:ext cx="5120640" cy="347472"/>
          </a:xfrm>
          <a:prstGeom prst="rect">
            <a:avLst/>
          </a:prstGeom>
          <a:noFill/>
        </p:spPr>
        <p:txBody>
          <a:bodyPr wrap="square">
            <a:spAutoFit/>
          </a:bodyPr>
          <a:lstStyle/>
          <a:p>
            <a:pPr algn="l"/>
            <a:r>
              <a:rPr sz="1500" b="1">
                <a:solidFill>
                  <a:srgbClr val="FFFFFF"/>
                </a:solidFill>
              </a:rPr>
              <a:t>The Questionnaire Answers</a:t>
            </a:r>
          </a:p>
        </p:txBody>
      </p:sp>
      <p:sp>
        <p:nvSpPr>
          <p:cNvPr id="7" name="TextBox 6"/>
          <p:cNvSpPr txBox="1"/>
          <p:nvPr/>
        </p:nvSpPr>
        <p:spPr>
          <a:xfrm>
            <a:off x="502920" y="1463040"/>
            <a:ext cx="5303520" cy="4572000"/>
          </a:xfrm>
          <a:prstGeom prst="rect">
            <a:avLst/>
          </a:prstGeom>
          <a:noFill/>
        </p:spPr>
        <p:txBody>
          <a:bodyPr wrap="square">
            <a:spAutoFit/>
          </a:bodyPr>
          <a:lstStyle/>
          <a:p>
            <a:pPr>
              <a:spcBef>
                <a:spcPts val="400"/>
              </a:spcBef>
            </a:pPr>
            <a:r>
              <a:rPr sz="1700" b="1">
                <a:solidFill>
                  <a:srgbClr val="FFFFFF"/>
                </a:solidFill>
              </a:rPr>
              <a:t>• Framework?        .NET / ASP.NET Core</a:t>
            </a:r>
          </a:p>
          <a:p>
            <a:pPr>
              <a:spcBef>
                <a:spcPts val="400"/>
              </a:spcBef>
            </a:pPr>
            <a:r>
              <a:rPr sz="1700" b="1">
                <a:solidFill>
                  <a:srgbClr val="FFFFFF"/>
                </a:solidFill>
              </a:rPr>
              <a:t>• OAuth provider?   Google</a:t>
            </a:r>
          </a:p>
          <a:p>
            <a:pPr>
              <a:spcBef>
                <a:spcPts val="400"/>
              </a:spcBef>
            </a:pPr>
            <a:r>
              <a:rPr sz="1700" b="1">
                <a:solidFill>
                  <a:srgbClr val="FFFFFF"/>
                </a:solidFill>
              </a:rPr>
              <a:t>• OAuth flow?       Authorization Code Flow</a:t>
            </a:r>
          </a:p>
          <a:p>
            <a:pPr>
              <a:spcBef>
                <a:spcPts val="400"/>
              </a:spcBef>
            </a:pPr>
            <a:r>
              <a:rPr sz="1700" b="1">
                <a:solidFill>
                  <a:srgbClr val="FFFFFF"/>
                </a:solidFill>
              </a:rPr>
              <a:t>• Token storage?    Redis</a:t>
            </a:r>
          </a:p>
          <a:p>
            <a:pPr>
              <a:spcBef>
                <a:spcPts val="400"/>
              </a:spcBef>
            </a:pPr>
            <a:r>
              <a:rPr sz="1700" b="1">
                <a:solidFill>
                  <a:srgbClr val="FFFFFF"/>
                </a:solidFill>
              </a:rPr>
              <a:t>• Frontend?         React SPA</a:t>
            </a:r>
          </a:p>
          <a:p>
            <a:pPr>
              <a:spcBef>
                <a:spcPts val="400"/>
              </a:spcBef>
            </a:pPr>
            <a:r>
              <a:rPr sz="1700" b="1">
                <a:solidFill>
                  <a:srgbClr val="FFFFFF"/>
                </a:solidFill>
              </a:rPr>
              <a:t>• Token strategy?   Access + Refresh tokens</a:t>
            </a:r>
          </a:p>
        </p:txBody>
      </p:sp>
      <p:sp>
        <p:nvSpPr>
          <p:cNvPr id="8" name="Rectangle 7"/>
          <p:cNvSpPr/>
          <p:nvPr/>
        </p:nvSpPr>
        <p:spPr>
          <a:xfrm>
            <a:off x="6355080" y="1005840"/>
            <a:ext cx="5303520" cy="384048"/>
          </a:xfrm>
          <a:prstGeom prst="rect">
            <a:avLst/>
          </a:prstGeom>
          <a:solidFill>
            <a:srgbClr val="2DB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024128"/>
            <a:ext cx="5120640" cy="347472"/>
          </a:xfrm>
          <a:prstGeom prst="rect">
            <a:avLst/>
          </a:prstGeom>
          <a:noFill/>
        </p:spPr>
        <p:txBody>
          <a:bodyPr wrap="square">
            <a:spAutoFit/>
          </a:bodyPr>
          <a:lstStyle/>
          <a:p>
            <a:pPr algn="l"/>
            <a:r>
              <a:rPr sz="1500" b="1">
                <a:solidFill>
                  <a:srgbClr val="FFFFFF"/>
                </a:solidFill>
              </a:rPr>
              <a:t>The 6-Phase Plan Produced</a:t>
            </a:r>
          </a:p>
        </p:txBody>
      </p:sp>
      <p:sp>
        <p:nvSpPr>
          <p:cNvPr id="10" name="TextBox 9"/>
          <p:cNvSpPr txBox="1"/>
          <p:nvPr/>
        </p:nvSpPr>
        <p:spPr>
          <a:xfrm>
            <a:off x="6355080" y="1463040"/>
            <a:ext cx="5303520" cy="4572000"/>
          </a:xfrm>
          <a:prstGeom prst="rect">
            <a:avLst/>
          </a:prstGeom>
          <a:noFill/>
        </p:spPr>
        <p:txBody>
          <a:bodyPr wrap="square">
            <a:spAutoFit/>
          </a:bodyPr>
          <a:lstStyle/>
          <a:p>
            <a:pPr>
              <a:spcBef>
                <a:spcPts val="400"/>
              </a:spcBef>
            </a:pPr>
            <a:r>
              <a:rPr sz="1700" b="1">
                <a:solidFill>
                  <a:srgbClr val="FFFFFF"/>
                </a:solidFill>
              </a:rPr>
              <a:t>• Phase 1 — Scaffold: .slnx, API project, test project, React frontend</a:t>
            </a:r>
          </a:p>
          <a:p>
            <a:pPr>
              <a:spcBef>
                <a:spcPts val="400"/>
              </a:spcBef>
            </a:pPr>
            <a:r>
              <a:rPr sz="1700" b="1">
                <a:solidFill>
                  <a:srgbClr val="FFFFFF"/>
                </a:solidFill>
              </a:rPr>
              <a:t>• Phase 2 — Config: NuGet packages, JwtSettings, appsettings.json</a:t>
            </a:r>
          </a:p>
          <a:p>
            <a:pPr>
              <a:spcBef>
                <a:spcPts val="400"/>
              </a:spcBef>
            </a:pPr>
            <a:r>
              <a:rPr sz="1700" b="1">
                <a:solidFill>
                  <a:srgbClr val="FFFFFF"/>
                </a:solidFill>
              </a:rPr>
              <a:t>• Phase 3 — Core services: TokenService (RS256) + RedisRefreshTokenStore (Lua)</a:t>
            </a:r>
          </a:p>
          <a:p>
            <a:pPr>
              <a:spcBef>
                <a:spcPts val="400"/>
              </a:spcBef>
            </a:pPr>
            <a:r>
              <a:rPr sz="1700" b="1">
                <a:solidFill>
                  <a:srgbClr val="FFFFFF"/>
                </a:solidFill>
              </a:rPr>
              <a:t>• Phase 4 — Controller: 5 endpoints, secure cookie helpers</a:t>
            </a:r>
          </a:p>
          <a:p>
            <a:pPr>
              <a:spcBef>
                <a:spcPts val="400"/>
              </a:spcBef>
            </a:pPr>
            <a:r>
              <a:rPr sz="1700" b="1">
                <a:solidFill>
                  <a:srgbClr val="FFFFFF"/>
                </a:solidFill>
              </a:rPr>
              <a:t>• Phase 5 — Frontend: AuthContext, axios interceptor, ProtectedRoute, pages</a:t>
            </a:r>
          </a:p>
          <a:p>
            <a:pPr>
              <a:spcBef>
                <a:spcPts val="400"/>
              </a:spcBef>
            </a:pPr>
            <a:r>
              <a:rPr sz="1700" b="1">
                <a:solidFill>
                  <a:srgbClr val="FFFFFF"/>
                </a:solidFill>
              </a:rPr>
              <a:t>• Phase 6 — Security: headers middleware, rate limiter, CORS</a:t>
            </a:r>
          </a:p>
        </p:txBody>
      </p:sp>
      <p:sp>
        <p:nvSpPr>
          <p:cNvPr id="11" name="TextBox 10"/>
          <p:cNvSpPr txBox="1"/>
          <p:nvPr/>
        </p:nvSpPr>
        <p:spPr>
          <a:xfrm>
            <a:off x="10911535" y="6446520"/>
            <a:ext cx="1188720" cy="320040"/>
          </a:xfrm>
          <a:prstGeom prst="rect">
            <a:avLst/>
          </a:prstGeom>
          <a:noFill/>
        </p:spPr>
        <p:txBody>
          <a:bodyPr wrap="square">
            <a:spAutoFit/>
          </a:bodyPr>
          <a:lstStyle/>
          <a:p>
            <a:pPr algn="r"/>
            <a:r>
              <a:rPr sz="1100" b="0">
                <a:solidFill>
                  <a:srgbClr val="88929A"/>
                </a:solidFill>
              </a:rPr>
              <a:t>10 / 39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3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9144000" cy="457200"/>
          </a:xfrm>
          <a:prstGeom prst="rect">
            <a:avLst/>
          </a:prstGeom>
          <a:noFill/>
        </p:spPr>
        <p:txBody>
          <a:bodyPr wrap="square">
            <a:spAutoFit/>
          </a:bodyPr>
          <a:lstStyle/>
          <a:p>
            <a:pPr algn="l"/>
            <a:r>
              <a:rPr sz="1400" b="0">
                <a:solidFill>
                  <a:srgbClr val="238BE6"/>
                </a:solidFill>
              </a:rPr>
              <a:t>SECTION  04</a:t>
            </a:r>
          </a:p>
        </p:txBody>
      </p:sp>
      <p:sp>
        <p:nvSpPr>
          <p:cNvPr id="4" name="TextBox 3"/>
          <p:cNvSpPr txBox="1"/>
          <p:nvPr/>
        </p:nvSpPr>
        <p:spPr>
          <a:xfrm>
            <a:off x="457200" y="2651760"/>
            <a:ext cx="10058400" cy="1280160"/>
          </a:xfrm>
          <a:prstGeom prst="rect">
            <a:avLst/>
          </a:prstGeom>
          <a:noFill/>
        </p:spPr>
        <p:txBody>
          <a:bodyPr wrap="square">
            <a:spAutoFit/>
          </a:bodyPr>
          <a:lstStyle/>
          <a:p>
            <a:pPr algn="l"/>
            <a:r>
              <a:rPr sz="4000" b="1">
                <a:solidFill>
                  <a:srgbClr val="FFFFFF"/>
                </a:solidFill>
              </a:rPr>
              <a:t>Customisation Primitives</a:t>
            </a:r>
          </a:p>
        </p:txBody>
      </p:sp>
      <p:sp>
        <p:nvSpPr>
          <p:cNvPr id="5" name="Rectangle 4"/>
          <p:cNvSpPr/>
          <p:nvPr/>
        </p:nvSpPr>
        <p:spPr>
          <a:xfrm>
            <a:off x="457200" y="3977639"/>
            <a:ext cx="1463040" cy="54864"/>
          </a:xfrm>
          <a:prstGeom prst="rect">
            <a:avLst/>
          </a:prstGeom>
          <a:solidFill>
            <a:srgbClr val="23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30363D"/>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3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515600" cy="640080"/>
          </a:xfrm>
          <a:prstGeom prst="rect">
            <a:avLst/>
          </a:prstGeom>
          <a:noFill/>
        </p:spPr>
        <p:txBody>
          <a:bodyPr wrap="square">
            <a:spAutoFit/>
          </a:bodyPr>
          <a:lstStyle/>
          <a:p>
            <a:pPr algn="l"/>
            <a:r>
              <a:rPr sz="2600" b="1">
                <a:solidFill>
                  <a:srgbClr val="FFFFFF"/>
                </a:solidFill>
              </a:rPr>
              <a:t>Which Primitive Should I Use?</a:t>
            </a:r>
          </a:p>
        </p:txBody>
      </p:sp>
      <p:sp>
        <p:nvSpPr>
          <p:cNvPr id="4" name="Rectangle 3"/>
          <p:cNvSpPr/>
          <p:nvPr/>
        </p:nvSpPr>
        <p:spPr>
          <a:xfrm>
            <a:off x="502920" y="868680"/>
            <a:ext cx="10241280" cy="27432"/>
          </a:xfrm>
          <a:prstGeom prst="rect">
            <a:avLst/>
          </a:prstGeom>
          <a:solidFill>
            <a:srgbClr val="23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02920" y="1005840"/>
          <a:ext cx="11185854" cy="3328416"/>
        </p:xfrm>
        <a:graphic>
          <a:graphicData uri="http://schemas.openxmlformats.org/drawingml/2006/table">
            <a:tbl>
              <a:tblPr firstRow="1" bandRow="1">
                <a:tableStyleId>{5C22544A-7EE6-4342-B048-85BDC9FD1C3A}</a:tableStyleId>
              </a:tblPr>
              <a:tblGrid>
                <a:gridCol w="2560320"/>
                <a:gridCol w="2875178"/>
                <a:gridCol w="2875178"/>
                <a:gridCol w="2875178"/>
              </a:tblGrid>
              <a:tr h="475488">
                <a:tc>
                  <a:txBody>
                    <a:bodyPr wrap="square"/>
                    <a:lstStyle/>
                    <a:p>
                      <a:pPr algn="l"/>
                      <a:r>
                        <a:rPr sz="1400" b="1">
                          <a:solidFill>
                            <a:srgbClr val="FFFFFF"/>
                          </a:solidFill>
                        </a:rPr>
                        <a:t>Primitive</a:t>
                      </a:r>
                    </a:p>
                  </a:txBody>
                  <a:tcPr>
                    <a:solidFill>
                      <a:srgbClr val="238BE6"/>
                    </a:solidFill>
                  </a:tcPr>
                </a:tc>
                <a:tc>
                  <a:txBody>
                    <a:bodyPr wrap="square"/>
                    <a:lstStyle/>
                    <a:p>
                      <a:pPr algn="l"/>
                      <a:r>
                        <a:rPr sz="1400" b="1">
                          <a:solidFill>
                            <a:srgbClr val="FFFFFF"/>
                          </a:solidFill>
                        </a:rPr>
                        <a:t>File</a:t>
                      </a:r>
                    </a:p>
                  </a:txBody>
                  <a:tcPr>
                    <a:solidFill>
                      <a:srgbClr val="238BE6"/>
                    </a:solidFill>
                  </a:tcPr>
                </a:tc>
                <a:tc>
                  <a:txBody>
                    <a:bodyPr wrap="square"/>
                    <a:lstStyle/>
                    <a:p>
                      <a:pPr algn="l"/>
                      <a:r>
                        <a:rPr sz="1400" b="1">
                          <a:solidFill>
                            <a:srgbClr val="FFFFFF"/>
                          </a:solidFill>
                        </a:rPr>
                        <a:t>Location</a:t>
                      </a:r>
                    </a:p>
                  </a:txBody>
                  <a:tcPr>
                    <a:solidFill>
                      <a:srgbClr val="238BE6"/>
                    </a:solidFill>
                  </a:tcPr>
                </a:tc>
                <a:tc>
                  <a:txBody>
                    <a:bodyPr wrap="square"/>
                    <a:lstStyle/>
                    <a:p>
                      <a:pPr algn="l"/>
                      <a:r>
                        <a:rPr sz="1400" b="1">
                          <a:solidFill>
                            <a:srgbClr val="FFFFFF"/>
                          </a:solidFill>
                        </a:rPr>
                        <a:t>When to Use</a:t>
                      </a:r>
                    </a:p>
                  </a:txBody>
                  <a:tcPr>
                    <a:solidFill>
                      <a:srgbClr val="238BE6"/>
                    </a:solidFill>
                  </a:tcPr>
                </a:tc>
              </a:tr>
              <a:tr h="475488">
                <a:tc>
                  <a:txBody>
                    <a:bodyPr wrap="square"/>
                    <a:lstStyle/>
                    <a:p>
                      <a:pPr algn="l"/>
                      <a:r>
                        <a:rPr sz="1300" b="0">
                          <a:solidFill>
                            <a:srgbClr val="FFFFFF"/>
                          </a:solidFill>
                        </a:rPr>
                        <a:t>Workspace Instructions</a:t>
                      </a:r>
                    </a:p>
                  </a:txBody>
                  <a:tcPr>
                    <a:solidFill>
                      <a:srgbClr val="232B33"/>
                    </a:solidFill>
                  </a:tcPr>
                </a:tc>
                <a:tc>
                  <a:txBody>
                    <a:bodyPr wrap="square"/>
                    <a:lstStyle/>
                    <a:p>
                      <a:pPr algn="l"/>
                      <a:r>
                        <a:rPr sz="1300" b="0">
                          <a:solidFill>
                            <a:srgbClr val="FFFFFF"/>
                          </a:solidFill>
                        </a:rPr>
                        <a:t>copilot-instructions.md  or  AGENTS.md</a:t>
                      </a:r>
                    </a:p>
                  </a:txBody>
                  <a:tcPr>
                    <a:solidFill>
                      <a:srgbClr val="232B33"/>
                    </a:solidFill>
                  </a:tcPr>
                </a:tc>
                <a:tc>
                  <a:txBody>
                    <a:bodyPr wrap="square"/>
                    <a:lstStyle/>
                    <a:p>
                      <a:pPr algn="l"/>
                      <a:r>
                        <a:rPr sz="1300" b="0">
                          <a:solidFill>
                            <a:srgbClr val="FFFFFF"/>
                          </a:solidFill>
                        </a:rPr>
                        <a:t>.github/  or root</a:t>
                      </a:r>
                    </a:p>
                  </a:txBody>
                  <a:tcPr>
                    <a:solidFill>
                      <a:srgbClr val="232B33"/>
                    </a:solidFill>
                  </a:tcPr>
                </a:tc>
                <a:tc>
                  <a:txBody>
                    <a:bodyPr wrap="square"/>
                    <a:lstStyle/>
                    <a:p>
                      <a:pPr algn="l"/>
                      <a:r>
                        <a:rPr sz="1300" b="0">
                          <a:solidFill>
                            <a:srgbClr val="FFFFFF"/>
                          </a:solidFill>
                        </a:rPr>
                        <a:t>Always-on project-wide rules for every task</a:t>
                      </a:r>
                    </a:p>
                  </a:txBody>
                  <a:tcPr>
                    <a:solidFill>
                      <a:srgbClr val="232B33"/>
                    </a:solidFill>
                  </a:tcPr>
                </a:tc>
              </a:tr>
              <a:tr h="475488">
                <a:tc>
                  <a:txBody>
                    <a:bodyPr wrap="square"/>
                    <a:lstStyle/>
                    <a:p>
                      <a:pPr algn="l"/>
                      <a:r>
                        <a:rPr sz="1300" b="0">
                          <a:solidFill>
                            <a:srgbClr val="FFFFFF"/>
                          </a:solidFill>
                        </a:rPr>
                        <a:t>File Instructions</a:t>
                      </a:r>
                    </a:p>
                  </a:txBody>
                  <a:tcPr>
                    <a:solidFill>
                      <a:srgbClr val="1C232A"/>
                    </a:solidFill>
                  </a:tcPr>
                </a:tc>
                <a:tc>
                  <a:txBody>
                    <a:bodyPr wrap="square"/>
                    <a:lstStyle/>
                    <a:p>
                      <a:pPr algn="l"/>
                      <a:r>
                        <a:rPr sz="1300" b="0">
                          <a:solidFill>
                            <a:srgbClr val="FFFFFF"/>
                          </a:solidFill>
                        </a:rPr>
                        <a:t>*.instructions.md</a:t>
                      </a:r>
                    </a:p>
                  </a:txBody>
                  <a:tcPr>
                    <a:solidFill>
                      <a:srgbClr val="1C232A"/>
                    </a:solidFill>
                  </a:tcPr>
                </a:tc>
                <a:tc>
                  <a:txBody>
                    <a:bodyPr wrap="square"/>
                    <a:lstStyle/>
                    <a:p>
                      <a:pPr algn="l"/>
                      <a:r>
                        <a:rPr sz="1300" b="0">
                          <a:solidFill>
                            <a:srgbClr val="FFFFFF"/>
                          </a:solidFill>
                        </a:rPr>
                        <a:t>.github/instructions/</a:t>
                      </a:r>
                    </a:p>
                  </a:txBody>
                  <a:tcPr>
                    <a:solidFill>
                      <a:srgbClr val="1C232A"/>
                    </a:solidFill>
                  </a:tcPr>
                </a:tc>
                <a:tc>
                  <a:txBody>
                    <a:bodyPr wrap="square"/>
                    <a:lstStyle/>
                    <a:p>
                      <a:pPr algn="l"/>
                      <a:r>
                        <a:rPr sz="1300" b="0">
                          <a:solidFill>
                            <a:srgbClr val="FFFFFF"/>
                          </a:solidFill>
                        </a:rPr>
                        <a:t>Rules scoped to file types or specific task contexts</a:t>
                      </a:r>
                    </a:p>
                  </a:txBody>
                  <a:tcPr>
                    <a:solidFill>
                      <a:srgbClr val="1C232A"/>
                    </a:solidFill>
                  </a:tcPr>
                </a:tc>
              </a:tr>
              <a:tr h="475488">
                <a:tc>
                  <a:txBody>
                    <a:bodyPr wrap="square"/>
                    <a:lstStyle/>
                    <a:p>
                      <a:pPr algn="l"/>
                      <a:r>
                        <a:rPr sz="1300" b="0">
                          <a:solidFill>
                            <a:srgbClr val="FFFFFF"/>
                          </a:solidFill>
                        </a:rPr>
                        <a:t>Prompts</a:t>
                      </a:r>
                    </a:p>
                  </a:txBody>
                  <a:tcPr>
                    <a:solidFill>
                      <a:srgbClr val="232B33"/>
                    </a:solidFill>
                  </a:tcPr>
                </a:tc>
                <a:tc>
                  <a:txBody>
                    <a:bodyPr wrap="square"/>
                    <a:lstStyle/>
                    <a:p>
                      <a:pPr algn="l"/>
                      <a:r>
                        <a:rPr sz="1300" b="0">
                          <a:solidFill>
                            <a:srgbClr val="FFFFFF"/>
                          </a:solidFill>
                        </a:rPr>
                        <a:t>*.prompt.md</a:t>
                      </a:r>
                    </a:p>
                  </a:txBody>
                  <a:tcPr>
                    <a:solidFill>
                      <a:srgbClr val="232B33"/>
                    </a:solidFill>
                  </a:tcPr>
                </a:tc>
                <a:tc>
                  <a:txBody>
                    <a:bodyPr wrap="square"/>
                    <a:lstStyle/>
                    <a:p>
                      <a:pPr algn="l"/>
                      <a:r>
                        <a:rPr sz="1300" b="0">
                          <a:solidFill>
                            <a:srgbClr val="FFFFFF"/>
                          </a:solidFill>
                        </a:rPr>
                        <a:t>.github/prompts/</a:t>
                      </a:r>
                    </a:p>
                  </a:txBody>
                  <a:tcPr>
                    <a:solidFill>
                      <a:srgbClr val="232B33"/>
                    </a:solidFill>
                  </a:tcPr>
                </a:tc>
                <a:tc>
                  <a:txBody>
                    <a:bodyPr wrap="square"/>
                    <a:lstStyle/>
                    <a:p>
                      <a:pPr algn="l"/>
                      <a:r>
                        <a:rPr sz="1300" b="0">
                          <a:solidFill>
                            <a:srgbClr val="FFFFFF"/>
                          </a:solidFill>
                        </a:rPr>
                        <a:t>Single focused reusable task with parameterised inputs</a:t>
                      </a:r>
                    </a:p>
                  </a:txBody>
                  <a:tcPr>
                    <a:solidFill>
                      <a:srgbClr val="232B33"/>
                    </a:solidFill>
                  </a:tcPr>
                </a:tc>
              </a:tr>
              <a:tr h="475488">
                <a:tc>
                  <a:txBody>
                    <a:bodyPr wrap="square"/>
                    <a:lstStyle/>
                    <a:p>
                      <a:pPr algn="l"/>
                      <a:r>
                        <a:rPr sz="1300" b="0">
                          <a:solidFill>
                            <a:srgbClr val="FFFFFF"/>
                          </a:solidFill>
                        </a:rPr>
                        <a:t>Hooks</a:t>
                      </a:r>
                    </a:p>
                  </a:txBody>
                  <a:tcPr>
                    <a:solidFill>
                      <a:srgbClr val="1C232A"/>
                    </a:solidFill>
                  </a:tcPr>
                </a:tc>
                <a:tc>
                  <a:txBody>
                    <a:bodyPr wrap="square"/>
                    <a:lstStyle/>
                    <a:p>
                      <a:pPr algn="l"/>
                      <a:r>
                        <a:rPr sz="1300" b="0">
                          <a:solidFill>
                            <a:srgbClr val="FFFFFF"/>
                          </a:solidFill>
                        </a:rPr>
                        <a:t>*.json</a:t>
                      </a:r>
                    </a:p>
                  </a:txBody>
                  <a:tcPr>
                    <a:solidFill>
                      <a:srgbClr val="1C232A"/>
                    </a:solidFill>
                  </a:tcPr>
                </a:tc>
                <a:tc>
                  <a:txBody>
                    <a:bodyPr wrap="square"/>
                    <a:lstStyle/>
                    <a:p>
                      <a:pPr algn="l"/>
                      <a:r>
                        <a:rPr sz="1300" b="0">
                          <a:solidFill>
                            <a:srgbClr val="FFFFFF"/>
                          </a:solidFill>
                        </a:rPr>
                        <a:t>.github/hooks/</a:t>
                      </a:r>
                    </a:p>
                  </a:txBody>
                  <a:tcPr>
                    <a:solidFill>
                      <a:srgbClr val="1C232A"/>
                    </a:solidFill>
                  </a:tcPr>
                </a:tc>
                <a:tc>
                  <a:txBody>
                    <a:bodyPr wrap="square"/>
                    <a:lstStyle/>
                    <a:p>
                      <a:pPr algn="l"/>
                      <a:r>
                        <a:rPr sz="1300" b="0">
                          <a:solidFill>
                            <a:srgbClr val="FFFFFF"/>
                          </a:solidFill>
                        </a:rPr>
                        <a:t>Deterministic enforcement via shell at lifecycle events</a:t>
                      </a:r>
                    </a:p>
                  </a:txBody>
                  <a:tcPr>
                    <a:solidFill>
                      <a:srgbClr val="1C232A"/>
                    </a:solidFill>
                  </a:tcPr>
                </a:tc>
              </a:tr>
              <a:tr h="475488">
                <a:tc>
                  <a:txBody>
                    <a:bodyPr wrap="square"/>
                    <a:lstStyle/>
                    <a:p>
                      <a:pPr algn="l"/>
                      <a:r>
                        <a:rPr sz="1300" b="0">
                          <a:solidFill>
                            <a:srgbClr val="FFFFFF"/>
                          </a:solidFill>
                        </a:rPr>
                        <a:t>Custom Agents</a:t>
                      </a:r>
                    </a:p>
                  </a:txBody>
                  <a:tcPr>
                    <a:solidFill>
                      <a:srgbClr val="232B33"/>
                    </a:solidFill>
                  </a:tcPr>
                </a:tc>
                <a:tc>
                  <a:txBody>
                    <a:bodyPr wrap="square"/>
                    <a:lstStyle/>
                    <a:p>
                      <a:pPr algn="l"/>
                      <a:r>
                        <a:rPr sz="1300" b="0">
                          <a:solidFill>
                            <a:srgbClr val="FFFFFF"/>
                          </a:solidFill>
                        </a:rPr>
                        <a:t>*.agent.md</a:t>
                      </a:r>
                    </a:p>
                  </a:txBody>
                  <a:tcPr>
                    <a:solidFill>
                      <a:srgbClr val="232B33"/>
                    </a:solidFill>
                  </a:tcPr>
                </a:tc>
                <a:tc>
                  <a:txBody>
                    <a:bodyPr wrap="square"/>
                    <a:lstStyle/>
                    <a:p>
                      <a:pPr algn="l"/>
                      <a:r>
                        <a:rPr sz="1300" b="0">
                          <a:solidFill>
                            <a:srgbClr val="FFFFFF"/>
                          </a:solidFill>
                        </a:rPr>
                        <a:t>.github/agents/</a:t>
                      </a:r>
                    </a:p>
                  </a:txBody>
                  <a:tcPr>
                    <a:solidFill>
                      <a:srgbClr val="232B33"/>
                    </a:solidFill>
                  </a:tcPr>
                </a:tc>
                <a:tc>
                  <a:txBody>
                    <a:bodyPr wrap="square"/>
                    <a:lstStyle/>
                    <a:p>
                      <a:pPr algn="l"/>
                      <a:r>
                        <a:rPr sz="1300" b="0">
                          <a:solidFill>
                            <a:srgbClr val="FFFFFF"/>
                          </a:solidFill>
                        </a:rPr>
                        <a:t>Specialised persona with restricted tools / context isolation</a:t>
                      </a:r>
                    </a:p>
                  </a:txBody>
                  <a:tcPr>
                    <a:solidFill>
                      <a:srgbClr val="232B33"/>
                    </a:solidFill>
                  </a:tcPr>
                </a:tc>
              </a:tr>
              <a:tr h="475488">
                <a:tc>
                  <a:txBody>
                    <a:bodyPr wrap="square"/>
                    <a:lstStyle/>
                    <a:p>
                      <a:pPr algn="l"/>
                      <a:r>
                        <a:rPr sz="1300" b="0">
                          <a:solidFill>
                            <a:srgbClr val="FFFFFF"/>
                          </a:solidFill>
                        </a:rPr>
                        <a:t>Skills</a:t>
                      </a:r>
                    </a:p>
                  </a:txBody>
                  <a:tcPr>
                    <a:solidFill>
                      <a:srgbClr val="1C232A"/>
                    </a:solidFill>
                  </a:tcPr>
                </a:tc>
                <a:tc>
                  <a:txBody>
                    <a:bodyPr wrap="square"/>
                    <a:lstStyle/>
                    <a:p>
                      <a:pPr algn="l"/>
                      <a:r>
                        <a:rPr sz="1300" b="0">
                          <a:solidFill>
                            <a:srgbClr val="FFFFFF"/>
                          </a:solidFill>
                        </a:rPr>
                        <a:t>SKILL.md  (in named folder)</a:t>
                      </a:r>
                    </a:p>
                  </a:txBody>
                  <a:tcPr>
                    <a:solidFill>
                      <a:srgbClr val="1C232A"/>
                    </a:solidFill>
                  </a:tcPr>
                </a:tc>
                <a:tc>
                  <a:txBody>
                    <a:bodyPr wrap="square"/>
                    <a:lstStyle/>
                    <a:p>
                      <a:pPr algn="l"/>
                      <a:r>
                        <a:rPr sz="1300" b="0">
                          <a:solidFill>
                            <a:srgbClr val="FFFFFF"/>
                          </a:solidFill>
                        </a:rPr>
                        <a:t>github/skills/&lt;name&gt;/</a:t>
                      </a:r>
                    </a:p>
                  </a:txBody>
                  <a:tcPr>
                    <a:solidFill>
                      <a:srgbClr val="1C232A"/>
                    </a:solidFill>
                  </a:tcPr>
                </a:tc>
                <a:tc>
                  <a:txBody>
                    <a:bodyPr wrap="square"/>
                    <a:lstStyle/>
                    <a:p>
                      <a:pPr algn="l"/>
                      <a:r>
                        <a:rPr sz="1300" b="0">
                          <a:solidFill>
                            <a:srgbClr val="FFFFFF"/>
                          </a:solidFill>
                        </a:rPr>
                        <a:t>Multi-step on-demand workflow with bundled scripts and assets</a:t>
                      </a:r>
                    </a:p>
                  </a:txBody>
                  <a:tcPr>
                    <a:solidFill>
                      <a:srgbClr val="1C232A"/>
                    </a:solidFill>
                  </a:tcPr>
                </a:tc>
              </a:tr>
            </a:tbl>
          </a:graphicData>
        </a:graphic>
      </p:graphicFrame>
      <p:sp>
        <p:nvSpPr>
          <p:cNvPr id="6" name="TextBox 5"/>
          <p:cNvSpPr txBox="1"/>
          <p:nvPr/>
        </p:nvSpPr>
        <p:spPr>
          <a:xfrm>
            <a:off x="10911535" y="6446520"/>
            <a:ext cx="1188720" cy="320040"/>
          </a:xfrm>
          <a:prstGeom prst="rect">
            <a:avLst/>
          </a:prstGeom>
          <a:noFill/>
        </p:spPr>
        <p:txBody>
          <a:bodyPr wrap="square">
            <a:spAutoFit/>
          </a:bodyPr>
          <a:lstStyle/>
          <a:p>
            <a:pPr algn="r"/>
            <a:r>
              <a:rPr sz="1100" b="0">
                <a:solidFill>
                  <a:srgbClr val="88929A"/>
                </a:solidFill>
              </a:rPr>
              <a:t>12 / 39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30363D"/>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3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515600" cy="640080"/>
          </a:xfrm>
          <a:prstGeom prst="rect">
            <a:avLst/>
          </a:prstGeom>
          <a:noFill/>
        </p:spPr>
        <p:txBody>
          <a:bodyPr wrap="square">
            <a:spAutoFit/>
          </a:bodyPr>
          <a:lstStyle/>
          <a:p>
            <a:pPr algn="l"/>
            <a:r>
              <a:rPr sz="2600" b="1">
                <a:solidFill>
                  <a:srgbClr val="FFFFFF"/>
                </a:solidFill>
              </a:rPr>
              <a:t>Customisation Decision Shortcuts</a:t>
            </a:r>
          </a:p>
        </p:txBody>
      </p:sp>
      <p:sp>
        <p:nvSpPr>
          <p:cNvPr id="4" name="Rectangle 3"/>
          <p:cNvSpPr/>
          <p:nvPr/>
        </p:nvSpPr>
        <p:spPr>
          <a:xfrm>
            <a:off x="502920" y="868680"/>
            <a:ext cx="10241280" cy="27432"/>
          </a:xfrm>
          <a:prstGeom prst="rect">
            <a:avLst/>
          </a:prstGeom>
          <a:solidFill>
            <a:srgbClr val="23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05840"/>
            <a:ext cx="11155680" cy="5120640"/>
          </a:xfrm>
          <a:prstGeom prst="rect">
            <a:avLst/>
          </a:prstGeom>
          <a:noFill/>
        </p:spPr>
        <p:txBody>
          <a:bodyPr wrap="square">
            <a:spAutoFit/>
          </a:bodyPr>
          <a:lstStyle/>
          <a:p>
            <a:pPr>
              <a:spcBef>
                <a:spcPts val="400"/>
              </a:spcBef>
            </a:pPr>
            <a:r>
              <a:rPr sz="1700" b="1">
                <a:solidFill>
                  <a:srgbClr val="FFFFFF"/>
                </a:solidFill>
              </a:rPr>
              <a:t>• Instructions vs Skill?</a:t>
            </a:r>
          </a:p>
          <a:p>
            <a:pPr lvl="1">
              <a:spcBef>
                <a:spcPts val="200"/>
              </a:spcBef>
            </a:pPr>
            <a:r>
              <a:rPr sz="1500" b="0">
                <a:solidFill>
                  <a:srgbClr val="C0CAD4"/>
                </a:solidFill>
              </a:rPr>
              <a:t>    ◦ Applies to most / all work in the project  →  Workspace Instructions</a:t>
            </a:r>
          </a:p>
          <a:p>
            <a:pPr lvl="1">
              <a:spcBef>
                <a:spcPts val="200"/>
              </a:spcBef>
            </a:pPr>
            <a:r>
              <a:rPr sz="1500" b="0">
                <a:solidFill>
                  <a:srgbClr val="C0CAD4"/>
                </a:solidFill>
              </a:rPr>
              <a:t>    ◦ On-demand specialist task triggered by context  →  Skill</a:t>
            </a:r>
          </a:p>
          <a:p>
            <a:pPr>
              <a:spcBef>
                <a:spcPts val="400"/>
              </a:spcBef>
            </a:pPr>
            <a:r>
              <a:rPr sz="1700" b="1">
                <a:solidFill>
                  <a:srgbClr val="FFFFFF"/>
                </a:solidFill>
              </a:rPr>
              <a:t>• Skill vs Prompt?</a:t>
            </a:r>
          </a:p>
          <a:p>
            <a:pPr lvl="1">
              <a:spcBef>
                <a:spcPts val="200"/>
              </a:spcBef>
            </a:pPr>
            <a:r>
              <a:rPr sz="1500" b="0">
                <a:solidFill>
                  <a:srgbClr val="C0CAD4"/>
                </a:solidFill>
              </a:rPr>
              <a:t>    ◦ Multi-step workflow with scripts, templates, or reference docs  →  Skill</a:t>
            </a:r>
          </a:p>
          <a:p>
            <a:pPr lvl="1">
              <a:spcBef>
                <a:spcPts val="200"/>
              </a:spcBef>
            </a:pPr>
            <a:r>
              <a:rPr sz="1500" b="0">
                <a:solidFill>
                  <a:srgbClr val="C0CAD4"/>
                </a:solidFill>
              </a:rPr>
              <a:t>    ◦ Single focused task with one clear output  →  Prompt</a:t>
            </a:r>
          </a:p>
          <a:p>
            <a:pPr>
              <a:spcBef>
                <a:spcPts val="400"/>
              </a:spcBef>
            </a:pPr>
            <a:r>
              <a:rPr sz="1700" b="1">
                <a:solidFill>
                  <a:srgbClr val="FFFFFF"/>
                </a:solidFill>
              </a:rPr>
              <a:t>• Skill vs Custom Agent?</a:t>
            </a:r>
          </a:p>
          <a:p>
            <a:pPr lvl="1">
              <a:spcBef>
                <a:spcPts val="200"/>
              </a:spcBef>
            </a:pPr>
            <a:r>
              <a:rPr sz="1500" b="0">
                <a:solidFill>
                  <a:srgbClr val="C0CAD4"/>
                </a:solidFill>
              </a:rPr>
              <a:t>    ◦ Same tool set needed throughout all steps  →  Skill</a:t>
            </a:r>
          </a:p>
          <a:p>
            <a:pPr lvl="1">
              <a:spcBef>
                <a:spcPts val="200"/>
              </a:spcBef>
            </a:pPr>
            <a:r>
              <a:rPr sz="1500" b="0">
                <a:solidFill>
                  <a:srgbClr val="C0CAD4"/>
                </a:solidFill>
              </a:rPr>
              <a:t>    ◦ Need context isolation, or different tool restrictions per stage  →  Custom Agent</a:t>
            </a:r>
          </a:p>
          <a:p>
            <a:pPr>
              <a:spcBef>
                <a:spcPts val="400"/>
              </a:spcBef>
            </a:pPr>
            <a:r>
              <a:rPr sz="1700" b="1">
                <a:solidFill>
                  <a:srgbClr val="FFFFFF"/>
                </a:solidFill>
              </a:rPr>
              <a:t>• Hooks vs Instructions?</a:t>
            </a:r>
          </a:p>
          <a:p>
            <a:pPr lvl="1">
              <a:spcBef>
                <a:spcPts val="200"/>
              </a:spcBef>
            </a:pPr>
            <a:r>
              <a:rPr sz="1500" b="0">
                <a:solidFill>
                  <a:srgbClr val="C0CAD4"/>
                </a:solidFill>
              </a:rPr>
              <a:t>    ◦ Instructions guide the agent  (non-deterministic)  →  Instructions</a:t>
            </a:r>
          </a:p>
          <a:p>
            <a:pPr lvl="1">
              <a:spcBef>
                <a:spcPts val="200"/>
              </a:spcBef>
            </a:pPr>
            <a:r>
              <a:rPr sz="1500" b="0">
                <a:solidFill>
                  <a:srgbClr val="C0CAD4"/>
                </a:solidFill>
              </a:rPr>
              <a:t>    ◦ Must block or enforce via shell commands regardless of model output  →  Hook</a:t>
            </a:r>
          </a:p>
        </p:txBody>
      </p:sp>
      <p:sp>
        <p:nvSpPr>
          <p:cNvPr id="6" name="TextBox 5"/>
          <p:cNvSpPr txBox="1"/>
          <p:nvPr/>
        </p:nvSpPr>
        <p:spPr>
          <a:xfrm>
            <a:off x="10911535" y="6446520"/>
            <a:ext cx="1188720" cy="320040"/>
          </a:xfrm>
          <a:prstGeom prst="rect">
            <a:avLst/>
          </a:prstGeom>
          <a:noFill/>
        </p:spPr>
        <p:txBody>
          <a:bodyPr wrap="square">
            <a:spAutoFit/>
          </a:bodyPr>
          <a:lstStyle/>
          <a:p>
            <a:pPr algn="r"/>
            <a:r>
              <a:rPr sz="1100" b="0">
                <a:solidFill>
                  <a:srgbClr val="88929A"/>
                </a:solidFill>
              </a:rPr>
              <a:t>13 / 39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DB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9144000" cy="457200"/>
          </a:xfrm>
          <a:prstGeom prst="rect">
            <a:avLst/>
          </a:prstGeom>
          <a:noFill/>
        </p:spPr>
        <p:txBody>
          <a:bodyPr wrap="square">
            <a:spAutoFit/>
          </a:bodyPr>
          <a:lstStyle/>
          <a:p>
            <a:pPr algn="l"/>
            <a:r>
              <a:rPr sz="1400" b="0">
                <a:solidFill>
                  <a:srgbClr val="2DBA4E"/>
                </a:solidFill>
              </a:rPr>
              <a:t>SECTION  05</a:t>
            </a:r>
          </a:p>
        </p:txBody>
      </p:sp>
      <p:sp>
        <p:nvSpPr>
          <p:cNvPr id="4" name="TextBox 3"/>
          <p:cNvSpPr txBox="1"/>
          <p:nvPr/>
        </p:nvSpPr>
        <p:spPr>
          <a:xfrm>
            <a:off x="457200" y="2651760"/>
            <a:ext cx="10058400" cy="1280160"/>
          </a:xfrm>
          <a:prstGeom prst="rect">
            <a:avLst/>
          </a:prstGeom>
          <a:noFill/>
        </p:spPr>
        <p:txBody>
          <a:bodyPr wrap="square">
            <a:spAutoFit/>
          </a:bodyPr>
          <a:lstStyle/>
          <a:p>
            <a:pPr algn="l"/>
            <a:r>
              <a:rPr sz="4000" b="1">
                <a:solidFill>
                  <a:srgbClr val="FFFFFF"/>
                </a:solidFill>
              </a:rPr>
              <a:t>Workspace Instructions</a:t>
            </a:r>
          </a:p>
        </p:txBody>
      </p:sp>
      <p:sp>
        <p:nvSpPr>
          <p:cNvPr id="5" name="Rectangle 4"/>
          <p:cNvSpPr/>
          <p:nvPr/>
        </p:nvSpPr>
        <p:spPr>
          <a:xfrm>
            <a:off x="457200" y="3977639"/>
            <a:ext cx="1463040" cy="54864"/>
          </a:xfrm>
          <a:prstGeom prst="rect">
            <a:avLst/>
          </a:prstGeom>
          <a:solidFill>
            <a:srgbClr val="2DB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30363D"/>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DB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515600" cy="640080"/>
          </a:xfrm>
          <a:prstGeom prst="rect">
            <a:avLst/>
          </a:prstGeom>
          <a:noFill/>
        </p:spPr>
        <p:txBody>
          <a:bodyPr wrap="square">
            <a:spAutoFit/>
          </a:bodyPr>
          <a:lstStyle/>
          <a:p>
            <a:pPr algn="l"/>
            <a:r>
              <a:rPr sz="2400" b="1">
                <a:solidFill>
                  <a:srgbClr val="FFFFFF"/>
                </a:solidFill>
              </a:rPr>
              <a:t>Workspace Instructions — Template &amp; Key Lines</a:t>
            </a:r>
          </a:p>
        </p:txBody>
      </p:sp>
      <p:sp>
        <p:nvSpPr>
          <p:cNvPr id="4" name="Rectangle 3"/>
          <p:cNvSpPr/>
          <p:nvPr/>
        </p:nvSpPr>
        <p:spPr>
          <a:xfrm>
            <a:off x="502920" y="868680"/>
            <a:ext cx="10241280" cy="27432"/>
          </a:xfrm>
          <a:prstGeom prst="rect">
            <a:avLst/>
          </a:prstGeom>
          <a:solidFill>
            <a:srgbClr val="2DB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914400"/>
            <a:ext cx="11155680" cy="502920"/>
          </a:xfrm>
          <a:prstGeom prst="rect">
            <a:avLst/>
          </a:prstGeom>
          <a:noFill/>
        </p:spPr>
        <p:txBody>
          <a:bodyPr wrap="square">
            <a:spAutoFit/>
          </a:bodyPr>
          <a:lstStyle/>
          <a:p>
            <a:pPr algn="l"/>
            <a:r>
              <a:rPr sz="1400" b="0">
                <a:solidFill>
                  <a:srgbClr val="A0AAB4"/>
                </a:solidFill>
              </a:rPr>
              <a:t>File: .github/copilot-instructions.md   (or AGENTS.md at repo root — pick one, not both)</a:t>
            </a:r>
          </a:p>
        </p:txBody>
      </p:sp>
      <p:sp>
        <p:nvSpPr>
          <p:cNvPr id="6" name="Rectangle 5"/>
          <p:cNvSpPr/>
          <p:nvPr/>
        </p:nvSpPr>
        <p:spPr>
          <a:xfrm>
            <a:off x="502920" y="1463040"/>
            <a:ext cx="6492240" cy="512064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572768"/>
            <a:ext cx="6217920" cy="4937760"/>
          </a:xfrm>
          <a:prstGeom prst="rect">
            <a:avLst/>
          </a:prstGeom>
          <a:noFill/>
        </p:spPr>
        <p:txBody>
          <a:bodyPr wrap="square">
            <a:spAutoFit/>
          </a:bodyPr>
          <a:lstStyle/>
          <a:p>
            <a:pPr algn="l"/>
            <a:r>
              <a:rPr sz="1200" b="0">
                <a:solidFill>
                  <a:srgbClr val="A8CC88"/>
                </a:solidFill>
              </a:rPr>
              <a:t># Project Guidelines          ①
## Code Style               ②
- Use C# 12 primary constructors
- 4-space indent, no tabs
- Reference: src/SampleClass.cs
## Architecture             ③
- API layer: Controllers only route, no logic
- Services own all business logic
- Why: testability and separation
## Build and Test           ④
- Build:  dotnet build
- Test:   dotnet test
- Frontend: npm run dev
## Conventions              ⑤
- Never hardcode secrets — use dotnet user-secrets
- All JWT must use RS256 — never HS256</a:t>
            </a:r>
          </a:p>
        </p:txBody>
      </p:sp>
      <p:sp>
        <p:nvSpPr>
          <p:cNvPr id="8" name="Oval 7"/>
          <p:cNvSpPr/>
          <p:nvPr/>
        </p:nvSpPr>
        <p:spPr>
          <a:xfrm>
            <a:off x="7223760" y="1545336"/>
            <a:ext cx="347472" cy="347472"/>
          </a:xfrm>
          <a:prstGeom prst="ellipse">
            <a:avLst/>
          </a:prstGeom>
          <a:solidFill>
            <a:srgbClr val="2DB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①</a:t>
            </a:r>
          </a:p>
        </p:txBody>
      </p:sp>
      <p:sp>
        <p:nvSpPr>
          <p:cNvPr id="9" name="TextBox 8"/>
          <p:cNvSpPr txBox="1"/>
          <p:nvPr/>
        </p:nvSpPr>
        <p:spPr>
          <a:xfrm>
            <a:off x="7644384" y="1508760"/>
            <a:ext cx="4242816" cy="621792"/>
          </a:xfrm>
          <a:prstGeom prst="rect">
            <a:avLst/>
          </a:prstGeom>
          <a:noFill/>
        </p:spPr>
        <p:txBody>
          <a:bodyPr wrap="square">
            <a:spAutoFit/>
          </a:bodyPr>
          <a:lstStyle/>
          <a:p>
            <a:pPr algn="l"/>
            <a:r>
              <a:rPr sz="1300" b="0">
                <a:solidFill>
                  <a:srgbClr val="D0D8E4"/>
                </a:solidFill>
              </a:rPr>
              <a:t>No YAML frontmatter needed — this file is automatically applied to every chat request across the whole workspace.</a:t>
            </a:r>
          </a:p>
        </p:txBody>
      </p:sp>
      <p:sp>
        <p:nvSpPr>
          <p:cNvPr id="10" name="Oval 9"/>
          <p:cNvSpPr/>
          <p:nvPr/>
        </p:nvSpPr>
        <p:spPr>
          <a:xfrm>
            <a:off x="7223760" y="2203704"/>
            <a:ext cx="347472" cy="347472"/>
          </a:xfrm>
          <a:prstGeom prst="ellipse">
            <a:avLst/>
          </a:prstGeom>
          <a:solidFill>
            <a:srgbClr val="2DB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②</a:t>
            </a:r>
          </a:p>
        </p:txBody>
      </p:sp>
      <p:sp>
        <p:nvSpPr>
          <p:cNvPr id="11" name="TextBox 10"/>
          <p:cNvSpPr txBox="1"/>
          <p:nvPr/>
        </p:nvSpPr>
        <p:spPr>
          <a:xfrm>
            <a:off x="7644384" y="2167128"/>
            <a:ext cx="4242816" cy="621792"/>
          </a:xfrm>
          <a:prstGeom prst="rect">
            <a:avLst/>
          </a:prstGeom>
          <a:noFill/>
        </p:spPr>
        <p:txBody>
          <a:bodyPr wrap="square">
            <a:spAutoFit/>
          </a:bodyPr>
          <a:lstStyle/>
          <a:p>
            <a:pPr algn="l"/>
            <a:r>
              <a:rPr sz="1300" b="0">
                <a:solidFill>
                  <a:srgbClr val="D0D8E4"/>
                </a:solidFill>
              </a:rPr>
              <a:t>Code Style section: language/formatting rules. Link to exemplar files rather than duplicating code inline.</a:t>
            </a:r>
          </a:p>
        </p:txBody>
      </p:sp>
      <p:sp>
        <p:nvSpPr>
          <p:cNvPr id="12" name="Oval 11"/>
          <p:cNvSpPr/>
          <p:nvPr/>
        </p:nvSpPr>
        <p:spPr>
          <a:xfrm>
            <a:off x="7223760" y="2862072"/>
            <a:ext cx="347472" cy="347472"/>
          </a:xfrm>
          <a:prstGeom prst="ellipse">
            <a:avLst/>
          </a:prstGeom>
          <a:solidFill>
            <a:srgbClr val="2DB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③</a:t>
            </a:r>
          </a:p>
        </p:txBody>
      </p:sp>
      <p:sp>
        <p:nvSpPr>
          <p:cNvPr id="13" name="TextBox 12"/>
          <p:cNvSpPr txBox="1"/>
          <p:nvPr/>
        </p:nvSpPr>
        <p:spPr>
          <a:xfrm>
            <a:off x="7644384" y="2825496"/>
            <a:ext cx="4242816" cy="621792"/>
          </a:xfrm>
          <a:prstGeom prst="rect">
            <a:avLst/>
          </a:prstGeom>
          <a:noFill/>
        </p:spPr>
        <p:txBody>
          <a:bodyPr wrap="square">
            <a:spAutoFit/>
          </a:bodyPr>
          <a:lstStyle/>
          <a:p>
            <a:pPr algn="l"/>
            <a:r>
              <a:rPr sz="1300" b="0">
                <a:solidFill>
                  <a:srgbClr val="D0D8E4"/>
                </a:solidFill>
              </a:rPr>
              <a:t>Architecture section: component boundaries and the 'why' behind structural decisions. Helps agent avoid wrong patterns.</a:t>
            </a:r>
          </a:p>
        </p:txBody>
      </p:sp>
      <p:sp>
        <p:nvSpPr>
          <p:cNvPr id="14" name="Oval 13"/>
          <p:cNvSpPr/>
          <p:nvPr/>
        </p:nvSpPr>
        <p:spPr>
          <a:xfrm>
            <a:off x="7223760" y="3520440"/>
            <a:ext cx="347472" cy="347472"/>
          </a:xfrm>
          <a:prstGeom prst="ellipse">
            <a:avLst/>
          </a:prstGeom>
          <a:solidFill>
            <a:srgbClr val="2DB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④</a:t>
            </a:r>
          </a:p>
        </p:txBody>
      </p:sp>
      <p:sp>
        <p:nvSpPr>
          <p:cNvPr id="15" name="TextBox 14"/>
          <p:cNvSpPr txBox="1"/>
          <p:nvPr/>
        </p:nvSpPr>
        <p:spPr>
          <a:xfrm>
            <a:off x="7644384" y="3483864"/>
            <a:ext cx="4242816" cy="621792"/>
          </a:xfrm>
          <a:prstGeom prst="rect">
            <a:avLst/>
          </a:prstGeom>
          <a:noFill/>
        </p:spPr>
        <p:txBody>
          <a:bodyPr wrap="square">
            <a:spAutoFit/>
          </a:bodyPr>
          <a:lstStyle/>
          <a:p>
            <a:pPr algn="l"/>
            <a:r>
              <a:rPr sz="1300" b="0">
                <a:solidFill>
                  <a:srgbClr val="D0D8E4"/>
                </a:solidFill>
              </a:rPr>
              <a:t>Build and Test section: exact commands the agent will run automatically. Must be accurate — agent treats these as truth.</a:t>
            </a:r>
          </a:p>
        </p:txBody>
      </p:sp>
      <p:sp>
        <p:nvSpPr>
          <p:cNvPr id="16" name="Oval 15"/>
          <p:cNvSpPr/>
          <p:nvPr/>
        </p:nvSpPr>
        <p:spPr>
          <a:xfrm>
            <a:off x="7223760" y="4178808"/>
            <a:ext cx="347472" cy="347472"/>
          </a:xfrm>
          <a:prstGeom prst="ellipse">
            <a:avLst/>
          </a:prstGeom>
          <a:solidFill>
            <a:srgbClr val="2DB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⑤</a:t>
            </a:r>
          </a:p>
        </p:txBody>
      </p:sp>
      <p:sp>
        <p:nvSpPr>
          <p:cNvPr id="17" name="TextBox 16"/>
          <p:cNvSpPr txBox="1"/>
          <p:nvPr/>
        </p:nvSpPr>
        <p:spPr>
          <a:xfrm>
            <a:off x="7644384" y="4142232"/>
            <a:ext cx="4242816" cy="621792"/>
          </a:xfrm>
          <a:prstGeom prst="rect">
            <a:avLst/>
          </a:prstGeom>
          <a:noFill/>
        </p:spPr>
        <p:txBody>
          <a:bodyPr wrap="square">
            <a:spAutoFit/>
          </a:bodyPr>
          <a:lstStyle/>
          <a:p>
            <a:pPr algn="l"/>
            <a:r>
              <a:rPr sz="1300" b="0">
                <a:solidFill>
                  <a:srgbClr val="D0D8E4"/>
                </a:solidFill>
              </a:rPr>
              <a:t>Conventions section: project-specific rules that differ from defaults. If a linter enforces it, omit it here.</a:t>
            </a:r>
          </a:p>
        </p:txBody>
      </p:sp>
      <p:sp>
        <p:nvSpPr>
          <p:cNvPr id="18" name="TextBox 17"/>
          <p:cNvSpPr txBox="1"/>
          <p:nvPr/>
        </p:nvSpPr>
        <p:spPr>
          <a:xfrm>
            <a:off x="10911535" y="6446520"/>
            <a:ext cx="1188720" cy="320040"/>
          </a:xfrm>
          <a:prstGeom prst="rect">
            <a:avLst/>
          </a:prstGeom>
          <a:noFill/>
        </p:spPr>
        <p:txBody>
          <a:bodyPr wrap="square">
            <a:spAutoFit/>
          </a:bodyPr>
          <a:lstStyle/>
          <a:p>
            <a:pPr algn="r"/>
            <a:r>
              <a:rPr sz="1100" b="0">
                <a:solidFill>
                  <a:srgbClr val="88929A"/>
                </a:solidFill>
              </a:rPr>
              <a:t>15 / 39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30363D"/>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3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515600" cy="640080"/>
          </a:xfrm>
          <a:prstGeom prst="rect">
            <a:avLst/>
          </a:prstGeom>
          <a:noFill/>
        </p:spPr>
        <p:txBody>
          <a:bodyPr wrap="square">
            <a:spAutoFit/>
          </a:bodyPr>
          <a:lstStyle/>
          <a:p>
            <a:pPr algn="l"/>
            <a:r>
              <a:rPr sz="2600" b="1">
                <a:solidFill>
                  <a:srgbClr val="FFFFFF"/>
                </a:solidFill>
              </a:rPr>
              <a:t>Workspace Instructions — Principles &amp; Anti-patterns</a:t>
            </a:r>
          </a:p>
        </p:txBody>
      </p:sp>
      <p:sp>
        <p:nvSpPr>
          <p:cNvPr id="4" name="Rectangle 3"/>
          <p:cNvSpPr/>
          <p:nvPr/>
        </p:nvSpPr>
        <p:spPr>
          <a:xfrm>
            <a:off x="502920" y="868680"/>
            <a:ext cx="10241280" cy="27432"/>
          </a:xfrm>
          <a:prstGeom prst="rect">
            <a:avLst/>
          </a:prstGeom>
          <a:solidFill>
            <a:srgbClr val="23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005840"/>
            <a:ext cx="5303520" cy="384048"/>
          </a:xfrm>
          <a:prstGeom prst="rect">
            <a:avLst/>
          </a:prstGeom>
          <a:solidFill>
            <a:srgbClr val="23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024128"/>
            <a:ext cx="5120640" cy="347472"/>
          </a:xfrm>
          <a:prstGeom prst="rect">
            <a:avLst/>
          </a:prstGeom>
          <a:noFill/>
        </p:spPr>
        <p:txBody>
          <a:bodyPr wrap="square">
            <a:spAutoFit/>
          </a:bodyPr>
          <a:lstStyle/>
          <a:p>
            <a:pPr algn="l"/>
            <a:r>
              <a:rPr sz="1500" b="1">
                <a:solidFill>
                  <a:srgbClr val="FFFFFF"/>
                </a:solidFill>
              </a:rPr>
              <a:t>Core Principles</a:t>
            </a:r>
          </a:p>
        </p:txBody>
      </p:sp>
      <p:sp>
        <p:nvSpPr>
          <p:cNvPr id="7" name="TextBox 6"/>
          <p:cNvSpPr txBox="1"/>
          <p:nvPr/>
        </p:nvSpPr>
        <p:spPr>
          <a:xfrm>
            <a:off x="502920" y="1463040"/>
            <a:ext cx="5303520" cy="4572000"/>
          </a:xfrm>
          <a:prstGeom prst="rect">
            <a:avLst/>
          </a:prstGeom>
          <a:noFill/>
        </p:spPr>
        <p:txBody>
          <a:bodyPr wrap="square">
            <a:spAutoFit/>
          </a:bodyPr>
          <a:lstStyle/>
          <a:p>
            <a:pPr>
              <a:spcBef>
                <a:spcPts val="400"/>
              </a:spcBef>
            </a:pPr>
            <a:r>
              <a:rPr sz="1700" b="1">
                <a:solidFill>
                  <a:srgbClr val="FFFFFF"/>
                </a:solidFill>
              </a:rPr>
              <a:t>• Minimal by default — only what's relevant to every task</a:t>
            </a:r>
          </a:p>
          <a:p>
            <a:pPr>
              <a:spcBef>
                <a:spcPts val="400"/>
              </a:spcBef>
            </a:pPr>
            <a:r>
              <a:rPr sz="1700" b="1">
                <a:solidFill>
                  <a:srgbClr val="FFFFFF"/>
                </a:solidFill>
              </a:rPr>
              <a:t>• Concise and actionable — every line should direct behavior</a:t>
            </a:r>
          </a:p>
          <a:p>
            <a:pPr>
              <a:spcBef>
                <a:spcPts val="400"/>
              </a:spcBef>
            </a:pPr>
            <a:r>
              <a:rPr sz="1700" b="1">
                <a:solidFill>
                  <a:srgbClr val="FFFFFF"/>
                </a:solidFill>
              </a:rPr>
              <a:t>• Link, don't embed — reference docs instead of copying them</a:t>
            </a:r>
          </a:p>
          <a:p>
            <a:pPr>
              <a:spcBef>
                <a:spcPts val="400"/>
              </a:spcBef>
            </a:pPr>
            <a:r>
              <a:rPr sz="1700" b="1">
                <a:solidFill>
                  <a:srgbClr val="FFFFFF"/>
                </a:solidFill>
              </a:rPr>
              <a:t>• Keep current — update when practices change</a:t>
            </a:r>
          </a:p>
          <a:p>
            <a:pPr>
              <a:spcBef>
                <a:spcPts val="400"/>
              </a:spcBef>
            </a:pPr>
            <a:r>
              <a:rPr sz="1700" b="1">
                <a:solidFill>
                  <a:srgbClr val="FFFFFF"/>
                </a:solidFill>
              </a:rPr>
              <a:t>• Use AGENTS.md for monorepos: closer file in tree wins</a:t>
            </a:r>
          </a:p>
          <a:p>
            <a:pPr>
              <a:spcBef>
                <a:spcPts val="400"/>
              </a:spcBef>
            </a:pPr>
            <a:r>
              <a:rPr sz="1700" b="1">
                <a:solidFill>
                  <a:srgbClr val="FFFFFF"/>
                </a:solidFill>
              </a:rPr>
              <a:t>• For large repos, use applyTo-based instructions for sub-areas (frontend, backend, tests)</a:t>
            </a:r>
          </a:p>
        </p:txBody>
      </p:sp>
      <p:sp>
        <p:nvSpPr>
          <p:cNvPr id="8" name="Rectangle 7"/>
          <p:cNvSpPr/>
          <p:nvPr/>
        </p:nvSpPr>
        <p:spPr>
          <a:xfrm>
            <a:off x="6355080" y="1005840"/>
            <a:ext cx="5303520" cy="384048"/>
          </a:xfrm>
          <a:prstGeom prst="rect">
            <a:avLst/>
          </a:prstGeom>
          <a:solidFill>
            <a:srgbClr val="2DB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024128"/>
            <a:ext cx="5120640" cy="347472"/>
          </a:xfrm>
          <a:prstGeom prst="rect">
            <a:avLst/>
          </a:prstGeom>
          <a:noFill/>
        </p:spPr>
        <p:txBody>
          <a:bodyPr wrap="square">
            <a:spAutoFit/>
          </a:bodyPr>
          <a:lstStyle/>
          <a:p>
            <a:pPr algn="l"/>
            <a:r>
              <a:rPr sz="1500" b="1">
                <a:solidFill>
                  <a:srgbClr val="FFFFFF"/>
                </a:solidFill>
              </a:rPr>
              <a:t>Anti-patterns to Avoid</a:t>
            </a:r>
          </a:p>
        </p:txBody>
      </p:sp>
      <p:sp>
        <p:nvSpPr>
          <p:cNvPr id="10" name="TextBox 9"/>
          <p:cNvSpPr txBox="1"/>
          <p:nvPr/>
        </p:nvSpPr>
        <p:spPr>
          <a:xfrm>
            <a:off x="6355080" y="1463040"/>
            <a:ext cx="5303520" cy="4572000"/>
          </a:xfrm>
          <a:prstGeom prst="rect">
            <a:avLst/>
          </a:prstGeom>
          <a:noFill/>
        </p:spPr>
        <p:txBody>
          <a:bodyPr wrap="square">
            <a:spAutoFit/>
          </a:bodyPr>
          <a:lstStyle/>
          <a:p>
            <a:pPr>
              <a:spcBef>
                <a:spcPts val="400"/>
              </a:spcBef>
            </a:pPr>
            <a:r>
              <a:rPr sz="1700" b="1">
                <a:solidFill>
                  <a:srgbClr val="FFFFFF"/>
                </a:solidFill>
              </a:rPr>
              <a:t>• Using BOTH copilot-instructions.md and AGENTS.md — pick one</a:t>
            </a:r>
          </a:p>
          <a:p>
            <a:pPr>
              <a:spcBef>
                <a:spcPts val="400"/>
              </a:spcBef>
            </a:pPr>
            <a:r>
              <a:rPr sz="1700" b="1">
                <a:solidFill>
                  <a:srgbClr val="FFFFFF"/>
                </a:solidFill>
              </a:rPr>
              <a:t>• Kitchen-sink file: everything instead of what matters most</a:t>
            </a:r>
          </a:p>
          <a:p>
            <a:pPr>
              <a:spcBef>
                <a:spcPts val="400"/>
              </a:spcBef>
            </a:pPr>
            <a:r>
              <a:rPr sz="1700" b="1">
                <a:solidFill>
                  <a:srgbClr val="FFFFFF"/>
                </a:solidFill>
              </a:rPr>
              <a:t>• Duplicating the README — link to it instead</a:t>
            </a:r>
          </a:p>
          <a:p>
            <a:pPr>
              <a:spcBef>
                <a:spcPts val="400"/>
              </a:spcBef>
            </a:pPr>
            <a:r>
              <a:rPr sz="1700" b="1">
                <a:solidFill>
                  <a:srgbClr val="FFFFFF"/>
                </a:solidFill>
              </a:rPr>
              <a:t>• Obvious instructions like 'write clean code' — not actionable</a:t>
            </a:r>
          </a:p>
          <a:p>
            <a:pPr>
              <a:spcBef>
                <a:spcPts val="400"/>
              </a:spcBef>
            </a:pPr>
            <a:r>
              <a:rPr sz="1700" b="1">
                <a:solidFill>
                  <a:srgbClr val="FFFFFF"/>
                </a:solidFill>
              </a:rPr>
              <a:t>• Stale instructions — agent will follow them even if outdated</a:t>
            </a:r>
          </a:p>
          <a:p>
            <a:pPr>
              <a:spcBef>
                <a:spcPts val="400"/>
              </a:spcBef>
            </a:pPr>
            <a:r>
              <a:rPr sz="1700" b="1">
                <a:solidFill>
                  <a:srgbClr val="FFFFFF"/>
                </a:solidFill>
              </a:rPr>
              <a:t>• No build/test commands — agent then guesses and often gets it wrong</a:t>
            </a:r>
          </a:p>
        </p:txBody>
      </p:sp>
      <p:sp>
        <p:nvSpPr>
          <p:cNvPr id="11" name="TextBox 10"/>
          <p:cNvSpPr txBox="1"/>
          <p:nvPr/>
        </p:nvSpPr>
        <p:spPr>
          <a:xfrm>
            <a:off x="10911535" y="6446520"/>
            <a:ext cx="1188720" cy="320040"/>
          </a:xfrm>
          <a:prstGeom prst="rect">
            <a:avLst/>
          </a:prstGeom>
          <a:noFill/>
        </p:spPr>
        <p:txBody>
          <a:bodyPr wrap="square">
            <a:spAutoFit/>
          </a:bodyPr>
          <a:lstStyle/>
          <a:p>
            <a:pPr algn="r"/>
            <a:r>
              <a:rPr sz="1100" b="0">
                <a:solidFill>
                  <a:srgbClr val="88929A"/>
                </a:solidFill>
              </a:rPr>
              <a:t>16 / 39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3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9144000" cy="457200"/>
          </a:xfrm>
          <a:prstGeom prst="rect">
            <a:avLst/>
          </a:prstGeom>
          <a:noFill/>
        </p:spPr>
        <p:txBody>
          <a:bodyPr wrap="square">
            <a:spAutoFit/>
          </a:bodyPr>
          <a:lstStyle/>
          <a:p>
            <a:pPr algn="l"/>
            <a:r>
              <a:rPr sz="1400" b="0">
                <a:solidFill>
                  <a:srgbClr val="238BE6"/>
                </a:solidFill>
              </a:rPr>
              <a:t>SECTION  06</a:t>
            </a:r>
          </a:p>
        </p:txBody>
      </p:sp>
      <p:sp>
        <p:nvSpPr>
          <p:cNvPr id="4" name="TextBox 3"/>
          <p:cNvSpPr txBox="1"/>
          <p:nvPr/>
        </p:nvSpPr>
        <p:spPr>
          <a:xfrm>
            <a:off x="457200" y="2651760"/>
            <a:ext cx="10058400" cy="1280160"/>
          </a:xfrm>
          <a:prstGeom prst="rect">
            <a:avLst/>
          </a:prstGeom>
          <a:noFill/>
        </p:spPr>
        <p:txBody>
          <a:bodyPr wrap="square">
            <a:spAutoFit/>
          </a:bodyPr>
          <a:lstStyle/>
          <a:p>
            <a:pPr algn="l"/>
            <a:r>
              <a:rPr sz="4000" b="1">
                <a:solidFill>
                  <a:srgbClr val="FFFFFF"/>
                </a:solidFill>
              </a:rPr>
              <a:t>File Instructions  (.instructions.md)</a:t>
            </a:r>
          </a:p>
        </p:txBody>
      </p:sp>
      <p:sp>
        <p:nvSpPr>
          <p:cNvPr id="5" name="Rectangle 4"/>
          <p:cNvSpPr/>
          <p:nvPr/>
        </p:nvSpPr>
        <p:spPr>
          <a:xfrm>
            <a:off x="457200" y="3977639"/>
            <a:ext cx="1463040" cy="54864"/>
          </a:xfrm>
          <a:prstGeom prst="rect">
            <a:avLst/>
          </a:prstGeom>
          <a:solidFill>
            <a:srgbClr val="23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30363D"/>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3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515600" cy="640080"/>
          </a:xfrm>
          <a:prstGeom prst="rect">
            <a:avLst/>
          </a:prstGeom>
          <a:noFill/>
        </p:spPr>
        <p:txBody>
          <a:bodyPr wrap="square">
            <a:spAutoFit/>
          </a:bodyPr>
          <a:lstStyle/>
          <a:p>
            <a:pPr algn="l"/>
            <a:r>
              <a:rPr sz="2400" b="1">
                <a:solidFill>
                  <a:srgbClr val="FFFFFF"/>
                </a:solidFill>
              </a:rPr>
              <a:t>File Instructions — Frontmatter &amp; Key Lines</a:t>
            </a:r>
          </a:p>
        </p:txBody>
      </p:sp>
      <p:sp>
        <p:nvSpPr>
          <p:cNvPr id="4" name="Rectangle 3"/>
          <p:cNvSpPr/>
          <p:nvPr/>
        </p:nvSpPr>
        <p:spPr>
          <a:xfrm>
            <a:off x="502920" y="868680"/>
            <a:ext cx="10241280" cy="27432"/>
          </a:xfrm>
          <a:prstGeom prst="rect">
            <a:avLst/>
          </a:prstGeom>
          <a:solidFill>
            <a:srgbClr val="23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914400"/>
            <a:ext cx="11155680" cy="502920"/>
          </a:xfrm>
          <a:prstGeom prst="rect">
            <a:avLst/>
          </a:prstGeom>
          <a:noFill/>
        </p:spPr>
        <p:txBody>
          <a:bodyPr wrap="square">
            <a:spAutoFit/>
          </a:bodyPr>
          <a:lstStyle/>
          <a:p>
            <a:pPr algn="l"/>
            <a:r>
              <a:rPr sz="1400" b="0">
                <a:solidFill>
                  <a:srgbClr val="A0AAB4"/>
                </a:solidFill>
              </a:rPr>
              <a:t>File: .github/instructions/auth-patterns.instructions.md</a:t>
            </a:r>
          </a:p>
        </p:txBody>
      </p:sp>
      <p:sp>
        <p:nvSpPr>
          <p:cNvPr id="6" name="Rectangle 5"/>
          <p:cNvSpPr/>
          <p:nvPr/>
        </p:nvSpPr>
        <p:spPr>
          <a:xfrm>
            <a:off x="502920" y="1463040"/>
            <a:ext cx="6492240" cy="512064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572768"/>
            <a:ext cx="6217920" cy="4937760"/>
          </a:xfrm>
          <a:prstGeom prst="rect">
            <a:avLst/>
          </a:prstGeom>
          <a:noFill/>
        </p:spPr>
        <p:txBody>
          <a:bodyPr wrap="square">
            <a:spAutoFit/>
          </a:bodyPr>
          <a:lstStyle/>
          <a:p>
            <a:pPr algn="l"/>
            <a:r>
              <a:rPr sz="1200" b="0">
                <a:solidFill>
                  <a:srgbClr val="A8CC88"/>
                </a:solidFill>
              </a:rPr>
              <a:t>---
name: auth-patterns          ①
description: &gt;              ②
  Use when writing auth code,
  JWT, OAuth2, or security
  middleware. Covers token
  validation and cookie rules.
applyTo: "**/Controllers/**" ③
---
                             ④
# Auth Patterns
- Always use RS256 — never HS256  ⑤
- Set HttpOnly, Secure, SameSite=Strict on all auth cookies
- Validate issuer AND audience in JWT bearer middleware
- Never log access tokens or refresh tokens</a:t>
            </a:r>
          </a:p>
        </p:txBody>
      </p:sp>
      <p:sp>
        <p:nvSpPr>
          <p:cNvPr id="8" name="Oval 7"/>
          <p:cNvSpPr/>
          <p:nvPr/>
        </p:nvSpPr>
        <p:spPr>
          <a:xfrm>
            <a:off x="7223760" y="1545336"/>
            <a:ext cx="347472" cy="347472"/>
          </a:xfrm>
          <a:prstGeom prst="ellipse">
            <a:avLst/>
          </a:prstGeom>
          <a:solidFill>
            <a:srgbClr val="23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①</a:t>
            </a:r>
          </a:p>
        </p:txBody>
      </p:sp>
      <p:sp>
        <p:nvSpPr>
          <p:cNvPr id="9" name="TextBox 8"/>
          <p:cNvSpPr txBox="1"/>
          <p:nvPr/>
        </p:nvSpPr>
        <p:spPr>
          <a:xfrm>
            <a:off x="7644384" y="1508760"/>
            <a:ext cx="4242816" cy="621792"/>
          </a:xfrm>
          <a:prstGeom prst="rect">
            <a:avLst/>
          </a:prstGeom>
          <a:noFill/>
        </p:spPr>
        <p:txBody>
          <a:bodyPr wrap="square">
            <a:spAutoFit/>
          </a:bodyPr>
          <a:lstStyle/>
          <a:p>
            <a:pPr algn="l"/>
            <a:r>
              <a:rPr sz="1300" b="0">
                <a:solidFill>
                  <a:srgbClr val="D0D8E4"/>
                </a:solidFill>
              </a:rPr>
              <a:t>name — optional, defaults to filename. Shown in the instructions picker.</a:t>
            </a:r>
          </a:p>
        </p:txBody>
      </p:sp>
      <p:sp>
        <p:nvSpPr>
          <p:cNvPr id="10" name="Oval 9"/>
          <p:cNvSpPr/>
          <p:nvPr/>
        </p:nvSpPr>
        <p:spPr>
          <a:xfrm>
            <a:off x="7223760" y="2203704"/>
            <a:ext cx="347472" cy="347472"/>
          </a:xfrm>
          <a:prstGeom prst="ellipse">
            <a:avLst/>
          </a:prstGeom>
          <a:solidFill>
            <a:srgbClr val="23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②</a:t>
            </a:r>
          </a:p>
        </p:txBody>
      </p:sp>
      <p:sp>
        <p:nvSpPr>
          <p:cNvPr id="11" name="TextBox 10"/>
          <p:cNvSpPr txBox="1"/>
          <p:nvPr/>
        </p:nvSpPr>
        <p:spPr>
          <a:xfrm>
            <a:off x="7644384" y="2167128"/>
            <a:ext cx="4242816" cy="621792"/>
          </a:xfrm>
          <a:prstGeom prst="rect">
            <a:avLst/>
          </a:prstGeom>
          <a:noFill/>
        </p:spPr>
        <p:txBody>
          <a:bodyPr wrap="square">
            <a:spAutoFit/>
          </a:bodyPr>
          <a:lstStyle/>
          <a:p>
            <a:pPr algn="l"/>
            <a:r>
              <a:rPr sz="1300" b="0">
                <a:solidFill>
                  <a:srgbClr val="D0D8E4"/>
                </a:solidFill>
              </a:rPr>
              <a:t>description — the discovery surface. Write 'Use when...' with specific keywords. Agent reads this to decide if it's relevant. Keyword-rich is critical.</a:t>
            </a:r>
          </a:p>
        </p:txBody>
      </p:sp>
      <p:sp>
        <p:nvSpPr>
          <p:cNvPr id="12" name="Oval 11"/>
          <p:cNvSpPr/>
          <p:nvPr/>
        </p:nvSpPr>
        <p:spPr>
          <a:xfrm>
            <a:off x="7223760" y="2862072"/>
            <a:ext cx="347472" cy="347472"/>
          </a:xfrm>
          <a:prstGeom prst="ellipse">
            <a:avLst/>
          </a:prstGeom>
          <a:solidFill>
            <a:srgbClr val="23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③</a:t>
            </a:r>
          </a:p>
        </p:txBody>
      </p:sp>
      <p:sp>
        <p:nvSpPr>
          <p:cNvPr id="13" name="TextBox 12"/>
          <p:cNvSpPr txBox="1"/>
          <p:nvPr/>
        </p:nvSpPr>
        <p:spPr>
          <a:xfrm>
            <a:off x="7644384" y="2825496"/>
            <a:ext cx="4242816" cy="621792"/>
          </a:xfrm>
          <a:prstGeom prst="rect">
            <a:avLst/>
          </a:prstGeom>
          <a:noFill/>
        </p:spPr>
        <p:txBody>
          <a:bodyPr wrap="square">
            <a:spAutoFit/>
          </a:bodyPr>
          <a:lstStyle/>
          <a:p>
            <a:pPr algn="l"/>
            <a:r>
              <a:rPr sz="1300" b="0">
                <a:solidFill>
                  <a:srgbClr val="D0D8E4"/>
                </a:solidFill>
              </a:rPr>
              <a:t>applyTo — optional glob pattern. When a file matching this pattern is in context, this instruction auto-attaches. Omit for on-demand only.</a:t>
            </a:r>
          </a:p>
        </p:txBody>
      </p:sp>
      <p:sp>
        <p:nvSpPr>
          <p:cNvPr id="14" name="Oval 13"/>
          <p:cNvSpPr/>
          <p:nvPr/>
        </p:nvSpPr>
        <p:spPr>
          <a:xfrm>
            <a:off x="7223760" y="3520440"/>
            <a:ext cx="347472" cy="347472"/>
          </a:xfrm>
          <a:prstGeom prst="ellipse">
            <a:avLst/>
          </a:prstGeom>
          <a:solidFill>
            <a:srgbClr val="23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④</a:t>
            </a:r>
          </a:p>
        </p:txBody>
      </p:sp>
      <p:sp>
        <p:nvSpPr>
          <p:cNvPr id="15" name="TextBox 14"/>
          <p:cNvSpPr txBox="1"/>
          <p:nvPr/>
        </p:nvSpPr>
        <p:spPr>
          <a:xfrm>
            <a:off x="7644384" y="3483864"/>
            <a:ext cx="4242816" cy="621792"/>
          </a:xfrm>
          <a:prstGeom prst="rect">
            <a:avLst/>
          </a:prstGeom>
          <a:noFill/>
        </p:spPr>
        <p:txBody>
          <a:bodyPr wrap="square">
            <a:spAutoFit/>
          </a:bodyPr>
          <a:lstStyle/>
          <a:p>
            <a:pPr algn="l"/>
            <a:r>
              <a:rPr sz="1300" b="0">
                <a:solidFill>
                  <a:srgbClr val="D0D8E4"/>
                </a:solidFill>
              </a:rPr>
              <a:t>The --- closes YAML frontmatter. The body below is the instruction content.</a:t>
            </a:r>
          </a:p>
        </p:txBody>
      </p:sp>
      <p:sp>
        <p:nvSpPr>
          <p:cNvPr id="16" name="Oval 15"/>
          <p:cNvSpPr/>
          <p:nvPr/>
        </p:nvSpPr>
        <p:spPr>
          <a:xfrm>
            <a:off x="7223760" y="4178808"/>
            <a:ext cx="347472" cy="347472"/>
          </a:xfrm>
          <a:prstGeom prst="ellipse">
            <a:avLst/>
          </a:prstGeom>
          <a:solidFill>
            <a:srgbClr val="23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⑤</a:t>
            </a:r>
          </a:p>
        </p:txBody>
      </p:sp>
      <p:sp>
        <p:nvSpPr>
          <p:cNvPr id="17" name="TextBox 16"/>
          <p:cNvSpPr txBox="1"/>
          <p:nvPr/>
        </p:nvSpPr>
        <p:spPr>
          <a:xfrm>
            <a:off x="7644384" y="4142232"/>
            <a:ext cx="4242816" cy="621792"/>
          </a:xfrm>
          <a:prstGeom prst="rect">
            <a:avLst/>
          </a:prstGeom>
          <a:noFill/>
        </p:spPr>
        <p:txBody>
          <a:bodyPr wrap="square">
            <a:spAutoFit/>
          </a:bodyPr>
          <a:lstStyle/>
          <a:p>
            <a:pPr algn="l"/>
            <a:r>
              <a:rPr sz="1300" b="0">
                <a:solidFill>
                  <a:srgbClr val="D0D8E4"/>
                </a:solidFill>
              </a:rPr>
              <a:t>Every rule should be specific and actionable. The agent treats these as hard constraints when the instruction is loaded.</a:t>
            </a:r>
          </a:p>
        </p:txBody>
      </p:sp>
      <p:sp>
        <p:nvSpPr>
          <p:cNvPr id="18" name="TextBox 17"/>
          <p:cNvSpPr txBox="1"/>
          <p:nvPr/>
        </p:nvSpPr>
        <p:spPr>
          <a:xfrm>
            <a:off x="10911535" y="6446520"/>
            <a:ext cx="1188720" cy="320040"/>
          </a:xfrm>
          <a:prstGeom prst="rect">
            <a:avLst/>
          </a:prstGeom>
          <a:noFill/>
        </p:spPr>
        <p:txBody>
          <a:bodyPr wrap="square">
            <a:spAutoFit/>
          </a:bodyPr>
          <a:lstStyle/>
          <a:p>
            <a:pPr algn="r"/>
            <a:r>
              <a:rPr sz="1100" b="0">
                <a:solidFill>
                  <a:srgbClr val="88929A"/>
                </a:solidFill>
              </a:rPr>
              <a:t>18 / 39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30363D"/>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3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515600" cy="640080"/>
          </a:xfrm>
          <a:prstGeom prst="rect">
            <a:avLst/>
          </a:prstGeom>
          <a:noFill/>
        </p:spPr>
        <p:txBody>
          <a:bodyPr wrap="square">
            <a:spAutoFit/>
          </a:bodyPr>
          <a:lstStyle/>
          <a:p>
            <a:pPr algn="l"/>
            <a:r>
              <a:rPr sz="2600" b="1">
                <a:solidFill>
                  <a:srgbClr val="FFFFFF"/>
                </a:solidFill>
              </a:rPr>
              <a:t>File Instructions — Discovery Modes</a:t>
            </a:r>
          </a:p>
        </p:txBody>
      </p:sp>
      <p:sp>
        <p:nvSpPr>
          <p:cNvPr id="4" name="Rectangle 3"/>
          <p:cNvSpPr/>
          <p:nvPr/>
        </p:nvSpPr>
        <p:spPr>
          <a:xfrm>
            <a:off x="502920" y="868680"/>
            <a:ext cx="10241280" cy="27432"/>
          </a:xfrm>
          <a:prstGeom prst="rect">
            <a:avLst/>
          </a:prstGeom>
          <a:solidFill>
            <a:srgbClr val="23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02920" y="1005840"/>
          <a:ext cx="11185854" cy="2377440"/>
        </p:xfrm>
        <a:graphic>
          <a:graphicData uri="http://schemas.openxmlformats.org/drawingml/2006/table">
            <a:tbl>
              <a:tblPr firstRow="1" bandRow="1">
                <a:tableStyleId>{5C22544A-7EE6-4342-B048-85BDC9FD1C3A}</a:tableStyleId>
              </a:tblPr>
              <a:tblGrid>
                <a:gridCol w="2560320"/>
                <a:gridCol w="2875178"/>
                <a:gridCol w="2875178"/>
                <a:gridCol w="2875178"/>
              </a:tblGrid>
              <a:tr h="475488">
                <a:tc>
                  <a:txBody>
                    <a:bodyPr wrap="square"/>
                    <a:lstStyle/>
                    <a:p>
                      <a:pPr algn="l"/>
                      <a:r>
                        <a:rPr sz="1400" b="1">
                          <a:solidFill>
                            <a:srgbClr val="FFFFFF"/>
                          </a:solidFill>
                        </a:rPr>
                        <a:t>Mode</a:t>
                      </a:r>
                    </a:p>
                  </a:txBody>
                  <a:tcPr>
                    <a:solidFill>
                      <a:srgbClr val="238BE6"/>
                    </a:solidFill>
                  </a:tcPr>
                </a:tc>
                <a:tc>
                  <a:txBody>
                    <a:bodyPr wrap="square"/>
                    <a:lstStyle/>
                    <a:p>
                      <a:pPr algn="l"/>
                      <a:r>
                        <a:rPr sz="1400" b="1">
                          <a:solidFill>
                            <a:srgbClr val="FFFFFF"/>
                          </a:solidFill>
                        </a:rPr>
                        <a:t>Trigger</a:t>
                      </a:r>
                    </a:p>
                  </a:txBody>
                  <a:tcPr>
                    <a:solidFill>
                      <a:srgbClr val="238BE6"/>
                    </a:solidFill>
                  </a:tcPr>
                </a:tc>
                <a:tc>
                  <a:txBody>
                    <a:bodyPr wrap="square"/>
                    <a:lstStyle/>
                    <a:p>
                      <a:pPr algn="l"/>
                      <a:r>
                        <a:rPr sz="1400" b="1">
                          <a:solidFill>
                            <a:srgbClr val="FFFFFF"/>
                          </a:solidFill>
                        </a:rPr>
                        <a:t>Frontmatter Required</a:t>
                      </a:r>
                    </a:p>
                  </a:txBody>
                  <a:tcPr>
                    <a:solidFill>
                      <a:srgbClr val="238BE6"/>
                    </a:solidFill>
                  </a:tcPr>
                </a:tc>
                <a:tc>
                  <a:txBody>
                    <a:bodyPr wrap="square"/>
                    <a:lstStyle/>
                    <a:p>
                      <a:pPr algn="l"/>
                      <a:r>
                        <a:rPr sz="1400" b="1">
                          <a:solidFill>
                            <a:srgbClr val="FFFFFF"/>
                          </a:solidFill>
                        </a:rPr>
                        <a:t>Best Use Case</a:t>
                      </a:r>
                    </a:p>
                  </a:txBody>
                  <a:tcPr>
                    <a:solidFill>
                      <a:srgbClr val="238BE6"/>
                    </a:solidFill>
                  </a:tcPr>
                </a:tc>
              </a:tr>
              <a:tr h="475488">
                <a:tc>
                  <a:txBody>
                    <a:bodyPr wrap="square"/>
                    <a:lstStyle/>
                    <a:p>
                      <a:pPr algn="l"/>
                      <a:r>
                        <a:rPr sz="1300" b="0">
                          <a:solidFill>
                            <a:srgbClr val="FFFFFF"/>
                          </a:solidFill>
                        </a:rPr>
                        <a:t>On-demand</a:t>
                      </a:r>
                    </a:p>
                  </a:txBody>
                  <a:tcPr>
                    <a:solidFill>
                      <a:srgbClr val="232B33"/>
                    </a:solidFill>
                  </a:tcPr>
                </a:tc>
                <a:tc>
                  <a:txBody>
                    <a:bodyPr wrap="square"/>
                    <a:lstStyle/>
                    <a:p>
                      <a:pPr algn="l"/>
                      <a:r>
                        <a:rPr sz="1300" b="0">
                          <a:solidFill>
                            <a:srgbClr val="FFFFFF"/>
                          </a:solidFill>
                        </a:rPr>
                        <a:t>Agent detects task relevance from description keywords</a:t>
                      </a:r>
                    </a:p>
                  </a:txBody>
                  <a:tcPr>
                    <a:solidFill>
                      <a:srgbClr val="232B33"/>
                    </a:solidFill>
                  </a:tcPr>
                </a:tc>
                <a:tc>
                  <a:txBody>
                    <a:bodyPr wrap="square"/>
                    <a:lstStyle/>
                    <a:p>
                      <a:pPr algn="l"/>
                      <a:r>
                        <a:rPr sz="1300" b="0">
                          <a:solidFill>
                            <a:srgbClr val="FFFFFF"/>
                          </a:solidFill>
                        </a:rPr>
                        <a:t>description  only</a:t>
                      </a:r>
                    </a:p>
                  </a:txBody>
                  <a:tcPr>
                    <a:solidFill>
                      <a:srgbClr val="232B33"/>
                    </a:solidFill>
                  </a:tcPr>
                </a:tc>
                <a:tc>
                  <a:txBody>
                    <a:bodyPr wrap="square"/>
                    <a:lstStyle/>
                    <a:p>
                      <a:pPr algn="l"/>
                      <a:r>
                        <a:rPr sz="1300" b="0">
                          <a:solidFill>
                            <a:srgbClr val="FFFFFF"/>
                          </a:solidFill>
                        </a:rPr>
                        <a:t>Task-based: migrations, refactoring, security, API design</a:t>
                      </a:r>
                    </a:p>
                  </a:txBody>
                  <a:tcPr>
                    <a:solidFill>
                      <a:srgbClr val="232B33"/>
                    </a:solidFill>
                  </a:tcPr>
                </a:tc>
              </a:tr>
              <a:tr h="475488">
                <a:tc>
                  <a:txBody>
                    <a:bodyPr wrap="square"/>
                    <a:lstStyle/>
                    <a:p>
                      <a:pPr algn="l"/>
                      <a:r>
                        <a:rPr sz="1300" b="0">
                          <a:solidFill>
                            <a:srgbClr val="FFFFFF"/>
                          </a:solidFill>
                        </a:rPr>
                        <a:t>Explicit</a:t>
                      </a:r>
                    </a:p>
                  </a:txBody>
                  <a:tcPr>
                    <a:solidFill>
                      <a:srgbClr val="1C232A"/>
                    </a:solidFill>
                  </a:tcPr>
                </a:tc>
                <a:tc>
                  <a:txBody>
                    <a:bodyPr wrap="square"/>
                    <a:lstStyle/>
                    <a:p>
                      <a:pPr algn="l"/>
                      <a:r>
                        <a:rPr sz="1300" b="0">
                          <a:solidFill>
                            <a:srgbClr val="FFFFFF"/>
                          </a:solidFill>
                        </a:rPr>
                        <a:t>Files matching applyTo glob are in the context window</a:t>
                      </a:r>
                    </a:p>
                  </a:txBody>
                  <a:tcPr>
                    <a:solidFill>
                      <a:srgbClr val="1C232A"/>
                    </a:solidFill>
                  </a:tcPr>
                </a:tc>
                <a:tc>
                  <a:txBody>
                    <a:bodyPr wrap="square"/>
                    <a:lstStyle/>
                    <a:p>
                      <a:pPr algn="l"/>
                      <a:r>
                        <a:rPr sz="1300" b="0">
                          <a:solidFill>
                            <a:srgbClr val="FFFFFF"/>
                          </a:solidFill>
                        </a:rPr>
                        <a:t>applyTo  glob pattern</a:t>
                      </a:r>
                    </a:p>
                  </a:txBody>
                  <a:tcPr>
                    <a:solidFill>
                      <a:srgbClr val="1C232A"/>
                    </a:solidFill>
                  </a:tcPr>
                </a:tc>
                <a:tc>
                  <a:txBody>
                    <a:bodyPr wrap="square"/>
                    <a:lstStyle/>
                    <a:p>
                      <a:pPr algn="l"/>
                      <a:r>
                        <a:rPr sz="1300" b="0">
                          <a:solidFill>
                            <a:srgbClr val="FFFFFF"/>
                          </a:solidFill>
                        </a:rPr>
                        <a:t>File-based: language standards, framework rules, test conventions</a:t>
                      </a:r>
                    </a:p>
                  </a:txBody>
                  <a:tcPr>
                    <a:solidFill>
                      <a:srgbClr val="1C232A"/>
                    </a:solidFill>
                  </a:tcPr>
                </a:tc>
              </a:tr>
              <a:tr h="475488">
                <a:tc>
                  <a:txBody>
                    <a:bodyPr wrap="square"/>
                    <a:lstStyle/>
                    <a:p>
                      <a:pPr algn="l"/>
                      <a:r>
                        <a:rPr sz="1300" b="0">
                          <a:solidFill>
                            <a:srgbClr val="FFFFFF"/>
                          </a:solidFill>
                        </a:rPr>
                        <a:t>Manual</a:t>
                      </a:r>
                    </a:p>
                  </a:txBody>
                  <a:tcPr>
                    <a:solidFill>
                      <a:srgbClr val="232B33"/>
                    </a:solidFill>
                  </a:tcPr>
                </a:tc>
                <a:tc>
                  <a:txBody>
                    <a:bodyPr wrap="square"/>
                    <a:lstStyle/>
                    <a:p>
                      <a:pPr algn="l"/>
                      <a:r>
                        <a:rPr sz="1300" b="0">
                          <a:solidFill>
                            <a:srgbClr val="FFFFFF"/>
                          </a:solidFill>
                        </a:rPr>
                        <a:t>User selects via Add Context &gt; Instructions</a:t>
                      </a:r>
                    </a:p>
                  </a:txBody>
                  <a:tcPr>
                    <a:solidFill>
                      <a:srgbClr val="232B33"/>
                    </a:solidFill>
                  </a:tcPr>
                </a:tc>
                <a:tc>
                  <a:txBody>
                    <a:bodyPr wrap="square"/>
                    <a:lstStyle/>
                    <a:p>
                      <a:pPr algn="l"/>
                      <a:r>
                        <a:rPr sz="1300" b="0">
                          <a:solidFill>
                            <a:srgbClr val="FFFFFF"/>
                          </a:solidFill>
                        </a:rPr>
                        <a:t>Either or neither</a:t>
                      </a:r>
                    </a:p>
                  </a:txBody>
                  <a:tcPr>
                    <a:solidFill>
                      <a:srgbClr val="232B33"/>
                    </a:solidFill>
                  </a:tcPr>
                </a:tc>
                <a:tc>
                  <a:txBody>
                    <a:bodyPr wrap="square"/>
                    <a:lstStyle/>
                    <a:p>
                      <a:pPr algn="l"/>
                      <a:r>
                        <a:rPr sz="1300" b="0">
                          <a:solidFill>
                            <a:srgbClr val="FFFFFF"/>
                          </a:solidFill>
                        </a:rPr>
                        <a:t>Ad-hoc one-time attachment for a specific session</a:t>
                      </a:r>
                    </a:p>
                  </a:txBody>
                  <a:tcPr>
                    <a:solidFill>
                      <a:srgbClr val="232B33"/>
                    </a:solidFill>
                  </a:tcPr>
                </a:tc>
              </a:tr>
              <a:tr h="475488">
                <a:tc>
                  <a:txBody>
                    <a:bodyPr wrap="square"/>
                    <a:lstStyle/>
                    <a:p>
                      <a:pPr algn="l"/>
                      <a:r>
                        <a:rPr sz="1300" b="0">
                          <a:solidFill>
                            <a:srgbClr val="FFFFFF"/>
                          </a:solidFill>
                        </a:rPr>
                        <a:t>Always-on</a:t>
                      </a:r>
                    </a:p>
                  </a:txBody>
                  <a:tcPr>
                    <a:solidFill>
                      <a:srgbClr val="1C232A"/>
                    </a:solidFill>
                  </a:tcPr>
                </a:tc>
                <a:tc>
                  <a:txBody>
                    <a:bodyPr wrap="square"/>
                    <a:lstStyle/>
                    <a:p>
                      <a:pPr algn="l"/>
                      <a:r>
                        <a:rPr sz="1300" b="0">
                          <a:solidFill>
                            <a:srgbClr val="FFFFFF"/>
                          </a:solidFill>
                        </a:rPr>
                        <a:t>applyTo: '**'  matches every file</a:t>
                      </a:r>
                    </a:p>
                  </a:txBody>
                  <a:tcPr>
                    <a:solidFill>
                      <a:srgbClr val="1C232A"/>
                    </a:solidFill>
                  </a:tcPr>
                </a:tc>
                <a:tc>
                  <a:txBody>
                    <a:bodyPr wrap="square"/>
                    <a:lstStyle/>
                    <a:p>
                      <a:pPr algn="l"/>
                      <a:r>
                        <a:rPr sz="1300" b="0">
                          <a:solidFill>
                            <a:srgbClr val="FFFFFF"/>
                          </a:solidFill>
                        </a:rPr>
                        <a:t>applyTo: "**"  (caution!)</a:t>
                      </a:r>
                    </a:p>
                  </a:txBody>
                  <a:tcPr>
                    <a:solidFill>
                      <a:srgbClr val="1C232A"/>
                    </a:solidFill>
                  </a:tcPr>
                </a:tc>
                <a:tc>
                  <a:txBody>
                    <a:bodyPr wrap="square"/>
                    <a:lstStyle/>
                    <a:p>
                      <a:pPr algn="l"/>
                      <a:r>
                        <a:rPr sz="1300" b="0">
                          <a:solidFill>
                            <a:srgbClr val="FFFFFF"/>
                          </a:solidFill>
                        </a:rPr>
                        <a:t>Rare — only if truly universal; bloats every request context</a:t>
                      </a:r>
                    </a:p>
                  </a:txBody>
                  <a:tcPr>
                    <a:solidFill>
                      <a:srgbClr val="1C232A"/>
                    </a:solidFill>
                  </a:tcPr>
                </a:tc>
              </a:tr>
            </a:tbl>
          </a:graphicData>
        </a:graphic>
      </p:graphicFrame>
      <p:sp>
        <p:nvSpPr>
          <p:cNvPr id="6" name="TextBox 5"/>
          <p:cNvSpPr txBox="1"/>
          <p:nvPr/>
        </p:nvSpPr>
        <p:spPr>
          <a:xfrm>
            <a:off x="10911535" y="6446520"/>
            <a:ext cx="1188720" cy="320040"/>
          </a:xfrm>
          <a:prstGeom prst="rect">
            <a:avLst/>
          </a:prstGeom>
          <a:noFill/>
        </p:spPr>
        <p:txBody>
          <a:bodyPr wrap="square">
            <a:spAutoFit/>
          </a:bodyPr>
          <a:lstStyle/>
          <a:p>
            <a:pPr algn="r"/>
            <a:r>
              <a:rPr sz="1100" b="0">
                <a:solidFill>
                  <a:srgbClr val="88929A"/>
                </a:solidFill>
              </a:rPr>
              <a:t>19 / 39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F7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9144000" cy="457200"/>
          </a:xfrm>
          <a:prstGeom prst="rect">
            <a:avLst/>
          </a:prstGeom>
          <a:noFill/>
        </p:spPr>
        <p:txBody>
          <a:bodyPr wrap="square">
            <a:spAutoFit/>
          </a:bodyPr>
          <a:lstStyle/>
          <a:p>
            <a:pPr algn="l"/>
            <a:r>
              <a:rPr sz="1400" b="0">
                <a:solidFill>
                  <a:srgbClr val="F78C00"/>
                </a:solidFill>
              </a:rPr>
              <a:t>SECTION  07</a:t>
            </a:r>
          </a:p>
        </p:txBody>
      </p:sp>
      <p:sp>
        <p:nvSpPr>
          <p:cNvPr id="4" name="TextBox 3"/>
          <p:cNvSpPr txBox="1"/>
          <p:nvPr/>
        </p:nvSpPr>
        <p:spPr>
          <a:xfrm>
            <a:off x="457200" y="2651760"/>
            <a:ext cx="10058400" cy="1280160"/>
          </a:xfrm>
          <a:prstGeom prst="rect">
            <a:avLst/>
          </a:prstGeom>
          <a:noFill/>
        </p:spPr>
        <p:txBody>
          <a:bodyPr wrap="square">
            <a:spAutoFit/>
          </a:bodyPr>
          <a:lstStyle/>
          <a:p>
            <a:pPr algn="l"/>
            <a:r>
              <a:rPr sz="4000" b="1">
                <a:solidFill>
                  <a:srgbClr val="FFFFFF"/>
                </a:solidFill>
              </a:rPr>
              <a:t>Prompts  (.prompt.md)</a:t>
            </a:r>
          </a:p>
        </p:txBody>
      </p:sp>
      <p:sp>
        <p:nvSpPr>
          <p:cNvPr id="5" name="Rectangle 4"/>
          <p:cNvSpPr/>
          <p:nvPr/>
        </p:nvSpPr>
        <p:spPr>
          <a:xfrm>
            <a:off x="457200" y="3977639"/>
            <a:ext cx="1463040" cy="54864"/>
          </a:xfrm>
          <a:prstGeom prst="rect">
            <a:avLst/>
          </a:prstGeom>
          <a:solidFill>
            <a:srgbClr val="F7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30363D"/>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F7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515600" cy="640080"/>
          </a:xfrm>
          <a:prstGeom prst="rect">
            <a:avLst/>
          </a:prstGeom>
          <a:noFill/>
        </p:spPr>
        <p:txBody>
          <a:bodyPr wrap="square">
            <a:spAutoFit/>
          </a:bodyPr>
          <a:lstStyle/>
          <a:p>
            <a:pPr algn="l"/>
            <a:r>
              <a:rPr sz="2400" b="1">
                <a:solidFill>
                  <a:srgbClr val="FFFFFF"/>
                </a:solidFill>
              </a:rPr>
              <a:t>Prompts — Frontmatter &amp; Key Lines</a:t>
            </a:r>
          </a:p>
        </p:txBody>
      </p:sp>
      <p:sp>
        <p:nvSpPr>
          <p:cNvPr id="4" name="Rectangle 3"/>
          <p:cNvSpPr/>
          <p:nvPr/>
        </p:nvSpPr>
        <p:spPr>
          <a:xfrm>
            <a:off x="502920" y="868680"/>
            <a:ext cx="10241280" cy="27432"/>
          </a:xfrm>
          <a:prstGeom prst="rect">
            <a:avLst/>
          </a:prstGeom>
          <a:solidFill>
            <a:srgbClr val="F7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914400"/>
            <a:ext cx="11155680" cy="502920"/>
          </a:xfrm>
          <a:prstGeom prst="rect">
            <a:avLst/>
          </a:prstGeom>
          <a:noFill/>
        </p:spPr>
        <p:txBody>
          <a:bodyPr wrap="square">
            <a:spAutoFit/>
          </a:bodyPr>
          <a:lstStyle/>
          <a:p>
            <a:pPr algn="l"/>
            <a:r>
              <a:rPr sz="1400" b="0">
                <a:solidFill>
                  <a:srgbClr val="A0AAB4"/>
                </a:solidFill>
              </a:rPr>
              <a:t>File: .github/prompts/generate-tests.prompt.md   →   invoked as  /generate-tests</a:t>
            </a:r>
          </a:p>
        </p:txBody>
      </p:sp>
      <p:sp>
        <p:nvSpPr>
          <p:cNvPr id="6" name="Rectangle 5"/>
          <p:cNvSpPr/>
          <p:nvPr/>
        </p:nvSpPr>
        <p:spPr>
          <a:xfrm>
            <a:off x="502920" y="1463040"/>
            <a:ext cx="6492240" cy="512064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572768"/>
            <a:ext cx="6217920" cy="4937760"/>
          </a:xfrm>
          <a:prstGeom prst="rect">
            <a:avLst/>
          </a:prstGeom>
          <a:noFill/>
        </p:spPr>
        <p:txBody>
          <a:bodyPr wrap="square">
            <a:spAutoFit/>
          </a:bodyPr>
          <a:lstStyle/>
          <a:p>
            <a:pPr algn="l"/>
            <a:r>
              <a:rPr sz="1200" b="0">
                <a:solidFill>
                  <a:srgbClr val="A8CC88"/>
                </a:solidFill>
              </a:rPr>
              <a:t>---
name: generate-tests         ①
description: &gt;               ②
  Generate xUnit test cases
  for selected code. Covers
  edge cases, error paths,
  and existing test patterns.
agent: agent                 ③
argument-hint: &gt;             ④
  Paste the class or method
  to test
tools: [read, search, edit]  ⑤
model: "Claude Sonnet 4"     ⑥
---
Generate comprehensive xUnit tests for the selected code.  ⑦
- Include happy path, edge cases, and error scenarios
- Match patterns in existing test files: [tests](../../AuthSystem.Tests/)
- Use descriptive [Fact] names in Given_When_Then format</a:t>
            </a:r>
          </a:p>
        </p:txBody>
      </p:sp>
      <p:sp>
        <p:nvSpPr>
          <p:cNvPr id="8" name="Oval 7"/>
          <p:cNvSpPr/>
          <p:nvPr/>
        </p:nvSpPr>
        <p:spPr>
          <a:xfrm>
            <a:off x="7223760" y="1545336"/>
            <a:ext cx="347472" cy="347472"/>
          </a:xfrm>
          <a:prstGeom prst="ellipse">
            <a:avLst/>
          </a:prstGeom>
          <a:solidFill>
            <a:srgbClr val="F7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①</a:t>
            </a:r>
          </a:p>
        </p:txBody>
      </p:sp>
      <p:sp>
        <p:nvSpPr>
          <p:cNvPr id="9" name="TextBox 8"/>
          <p:cNvSpPr txBox="1"/>
          <p:nvPr/>
        </p:nvSpPr>
        <p:spPr>
          <a:xfrm>
            <a:off x="7644384" y="1508760"/>
            <a:ext cx="4242816" cy="621792"/>
          </a:xfrm>
          <a:prstGeom prst="rect">
            <a:avLst/>
          </a:prstGeom>
          <a:noFill/>
        </p:spPr>
        <p:txBody>
          <a:bodyPr wrap="square">
            <a:spAutoFit/>
          </a:bodyPr>
          <a:lstStyle/>
          <a:p>
            <a:pPr algn="l"/>
            <a:r>
              <a:rPr sz="1300" b="0">
                <a:solidFill>
                  <a:srgbClr val="D0D8E4"/>
                </a:solidFill>
              </a:rPr>
              <a:t>name — the slug for the /generate-tests slash command. Must be filename-safe.</a:t>
            </a:r>
          </a:p>
        </p:txBody>
      </p:sp>
      <p:sp>
        <p:nvSpPr>
          <p:cNvPr id="10" name="Oval 9"/>
          <p:cNvSpPr/>
          <p:nvPr/>
        </p:nvSpPr>
        <p:spPr>
          <a:xfrm>
            <a:off x="7223760" y="2203704"/>
            <a:ext cx="347472" cy="347472"/>
          </a:xfrm>
          <a:prstGeom prst="ellipse">
            <a:avLst/>
          </a:prstGeom>
          <a:solidFill>
            <a:srgbClr val="F7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②</a:t>
            </a:r>
          </a:p>
        </p:txBody>
      </p:sp>
      <p:sp>
        <p:nvSpPr>
          <p:cNvPr id="11" name="TextBox 10"/>
          <p:cNvSpPr txBox="1"/>
          <p:nvPr/>
        </p:nvSpPr>
        <p:spPr>
          <a:xfrm>
            <a:off x="7644384" y="2167128"/>
            <a:ext cx="4242816" cy="621792"/>
          </a:xfrm>
          <a:prstGeom prst="rect">
            <a:avLst/>
          </a:prstGeom>
          <a:noFill/>
        </p:spPr>
        <p:txBody>
          <a:bodyPr wrap="square">
            <a:spAutoFit/>
          </a:bodyPr>
          <a:lstStyle/>
          <a:p>
            <a:pPr algn="l"/>
            <a:r>
              <a:rPr sz="1300" b="0">
                <a:solidFill>
                  <a:srgbClr val="D0D8E4"/>
                </a:solidFill>
              </a:rPr>
              <a:t>description — shown in picker and used for agent auto-discovery. Include task keywords.</a:t>
            </a:r>
          </a:p>
        </p:txBody>
      </p:sp>
      <p:sp>
        <p:nvSpPr>
          <p:cNvPr id="12" name="Oval 11"/>
          <p:cNvSpPr/>
          <p:nvPr/>
        </p:nvSpPr>
        <p:spPr>
          <a:xfrm>
            <a:off x="7223760" y="2862072"/>
            <a:ext cx="347472" cy="347472"/>
          </a:xfrm>
          <a:prstGeom prst="ellipse">
            <a:avLst/>
          </a:prstGeom>
          <a:solidFill>
            <a:srgbClr val="F7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③</a:t>
            </a:r>
          </a:p>
        </p:txBody>
      </p:sp>
      <p:sp>
        <p:nvSpPr>
          <p:cNvPr id="13" name="TextBox 12"/>
          <p:cNvSpPr txBox="1"/>
          <p:nvPr/>
        </p:nvSpPr>
        <p:spPr>
          <a:xfrm>
            <a:off x="7644384" y="2825496"/>
            <a:ext cx="4242816" cy="621792"/>
          </a:xfrm>
          <a:prstGeom prst="rect">
            <a:avLst/>
          </a:prstGeom>
          <a:noFill/>
        </p:spPr>
        <p:txBody>
          <a:bodyPr wrap="square">
            <a:spAutoFit/>
          </a:bodyPr>
          <a:lstStyle/>
          <a:p>
            <a:pPr algn="l"/>
            <a:r>
              <a:rPr sz="1300" b="0">
                <a:solidFill>
                  <a:srgbClr val="D0D8E4"/>
                </a:solidFill>
              </a:rPr>
              <a:t>agent: agent — runs in full agent mode with tool access. Options: agent, ask (chat only), plan, or a custom agent name.</a:t>
            </a:r>
          </a:p>
        </p:txBody>
      </p:sp>
      <p:sp>
        <p:nvSpPr>
          <p:cNvPr id="14" name="Oval 13"/>
          <p:cNvSpPr/>
          <p:nvPr/>
        </p:nvSpPr>
        <p:spPr>
          <a:xfrm>
            <a:off x="7223760" y="3520440"/>
            <a:ext cx="347472" cy="347472"/>
          </a:xfrm>
          <a:prstGeom prst="ellipse">
            <a:avLst/>
          </a:prstGeom>
          <a:solidFill>
            <a:srgbClr val="F7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④</a:t>
            </a:r>
          </a:p>
        </p:txBody>
      </p:sp>
      <p:sp>
        <p:nvSpPr>
          <p:cNvPr id="15" name="TextBox 14"/>
          <p:cNvSpPr txBox="1"/>
          <p:nvPr/>
        </p:nvSpPr>
        <p:spPr>
          <a:xfrm>
            <a:off x="7644384" y="3483864"/>
            <a:ext cx="4242816" cy="621792"/>
          </a:xfrm>
          <a:prstGeom prst="rect">
            <a:avLst/>
          </a:prstGeom>
          <a:noFill/>
        </p:spPr>
        <p:txBody>
          <a:bodyPr wrap="square">
            <a:spAutoFit/>
          </a:bodyPr>
          <a:lstStyle/>
          <a:p>
            <a:pPr algn="l"/>
            <a:r>
              <a:rPr sz="1300" b="0">
                <a:solidFill>
                  <a:srgbClr val="D0D8E4"/>
                </a:solidFill>
              </a:rPr>
              <a:t>argument-hint — placeholder text shown in the chat input after you type the slash command.</a:t>
            </a:r>
          </a:p>
        </p:txBody>
      </p:sp>
      <p:sp>
        <p:nvSpPr>
          <p:cNvPr id="16" name="Oval 15"/>
          <p:cNvSpPr/>
          <p:nvPr/>
        </p:nvSpPr>
        <p:spPr>
          <a:xfrm>
            <a:off x="7223760" y="4178808"/>
            <a:ext cx="347472" cy="347472"/>
          </a:xfrm>
          <a:prstGeom prst="ellipse">
            <a:avLst/>
          </a:prstGeom>
          <a:solidFill>
            <a:srgbClr val="F7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⑤</a:t>
            </a:r>
          </a:p>
        </p:txBody>
      </p:sp>
      <p:sp>
        <p:nvSpPr>
          <p:cNvPr id="17" name="TextBox 16"/>
          <p:cNvSpPr txBox="1"/>
          <p:nvPr/>
        </p:nvSpPr>
        <p:spPr>
          <a:xfrm>
            <a:off x="7644384" y="4142232"/>
            <a:ext cx="4242816" cy="621792"/>
          </a:xfrm>
          <a:prstGeom prst="rect">
            <a:avLst/>
          </a:prstGeom>
          <a:noFill/>
        </p:spPr>
        <p:txBody>
          <a:bodyPr wrap="square">
            <a:spAutoFit/>
          </a:bodyPr>
          <a:lstStyle/>
          <a:p>
            <a:pPr algn="l"/>
            <a:r>
              <a:rPr sz="1300" b="0">
                <a:solidFill>
                  <a:srgbClr val="D0D8E4"/>
                </a:solidFill>
              </a:rPr>
              <a:t>tools — restrict which tools this prompt can use. Principle of least privilege: only what's needed.</a:t>
            </a:r>
          </a:p>
        </p:txBody>
      </p:sp>
      <p:sp>
        <p:nvSpPr>
          <p:cNvPr id="18" name="Oval 17"/>
          <p:cNvSpPr/>
          <p:nvPr/>
        </p:nvSpPr>
        <p:spPr>
          <a:xfrm>
            <a:off x="7223760" y="4837176"/>
            <a:ext cx="347472" cy="347472"/>
          </a:xfrm>
          <a:prstGeom prst="ellipse">
            <a:avLst/>
          </a:prstGeom>
          <a:solidFill>
            <a:srgbClr val="F7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⑥</a:t>
            </a:r>
          </a:p>
        </p:txBody>
      </p:sp>
      <p:sp>
        <p:nvSpPr>
          <p:cNvPr id="19" name="TextBox 18"/>
          <p:cNvSpPr txBox="1"/>
          <p:nvPr/>
        </p:nvSpPr>
        <p:spPr>
          <a:xfrm>
            <a:off x="7644384" y="4800600"/>
            <a:ext cx="4242816" cy="621792"/>
          </a:xfrm>
          <a:prstGeom prst="rect">
            <a:avLst/>
          </a:prstGeom>
          <a:noFill/>
        </p:spPr>
        <p:txBody>
          <a:bodyPr wrap="square">
            <a:spAutoFit/>
          </a:bodyPr>
          <a:lstStyle/>
          <a:p>
            <a:pPr algn="l"/>
            <a:r>
              <a:rPr sz="1300" b="0">
                <a:solidFill>
                  <a:srgbClr val="D0D8E4"/>
                </a:solidFill>
              </a:rPr>
              <a:t>model — override the default model for this specific prompt. Supports fallback array.</a:t>
            </a:r>
          </a:p>
        </p:txBody>
      </p:sp>
      <p:sp>
        <p:nvSpPr>
          <p:cNvPr id="20" name="Oval 19"/>
          <p:cNvSpPr/>
          <p:nvPr/>
        </p:nvSpPr>
        <p:spPr>
          <a:xfrm>
            <a:off x="7223760" y="5495544"/>
            <a:ext cx="347472" cy="347472"/>
          </a:xfrm>
          <a:prstGeom prst="ellipse">
            <a:avLst/>
          </a:prstGeom>
          <a:solidFill>
            <a:srgbClr val="F7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⑦</a:t>
            </a:r>
          </a:p>
        </p:txBody>
      </p:sp>
      <p:sp>
        <p:nvSpPr>
          <p:cNvPr id="21" name="TextBox 20"/>
          <p:cNvSpPr txBox="1"/>
          <p:nvPr/>
        </p:nvSpPr>
        <p:spPr>
          <a:xfrm>
            <a:off x="7644384" y="5458968"/>
            <a:ext cx="4242816" cy="621792"/>
          </a:xfrm>
          <a:prstGeom prst="rect">
            <a:avLst/>
          </a:prstGeom>
          <a:noFill/>
        </p:spPr>
        <p:txBody>
          <a:bodyPr wrap="square">
            <a:spAutoFit/>
          </a:bodyPr>
          <a:lstStyle/>
          <a:p>
            <a:pPr algn="l"/>
            <a:r>
              <a:rPr sz="1300" b="0">
                <a:solidFill>
                  <a:srgbClr val="D0D8E4"/>
                </a:solidFill>
              </a:rPr>
              <a:t>Body: the actual task instructions. Reference files with Markdown links — agent will read them.</a:t>
            </a:r>
          </a:p>
        </p:txBody>
      </p:sp>
      <p:sp>
        <p:nvSpPr>
          <p:cNvPr id="22" name="TextBox 21"/>
          <p:cNvSpPr txBox="1"/>
          <p:nvPr/>
        </p:nvSpPr>
        <p:spPr>
          <a:xfrm>
            <a:off x="10911535" y="6446520"/>
            <a:ext cx="1188720" cy="320040"/>
          </a:xfrm>
          <a:prstGeom prst="rect">
            <a:avLst/>
          </a:prstGeom>
          <a:noFill/>
        </p:spPr>
        <p:txBody>
          <a:bodyPr wrap="square">
            <a:spAutoFit/>
          </a:bodyPr>
          <a:lstStyle/>
          <a:p>
            <a:pPr algn="r"/>
            <a:r>
              <a:rPr sz="1100" b="0">
                <a:solidFill>
                  <a:srgbClr val="88929A"/>
                </a:solidFill>
              </a:rPr>
              <a:t>21 / 39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30363D"/>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3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515600" cy="640080"/>
          </a:xfrm>
          <a:prstGeom prst="rect">
            <a:avLst/>
          </a:prstGeom>
          <a:noFill/>
        </p:spPr>
        <p:txBody>
          <a:bodyPr wrap="square">
            <a:spAutoFit/>
          </a:bodyPr>
          <a:lstStyle/>
          <a:p>
            <a:pPr algn="l"/>
            <a:r>
              <a:rPr sz="2600" b="1">
                <a:solidFill>
                  <a:srgbClr val="FFFFFF"/>
                </a:solidFill>
              </a:rPr>
              <a:t>Prompts — Principles &amp; Anti-patterns</a:t>
            </a:r>
          </a:p>
        </p:txBody>
      </p:sp>
      <p:sp>
        <p:nvSpPr>
          <p:cNvPr id="4" name="Rectangle 3"/>
          <p:cNvSpPr/>
          <p:nvPr/>
        </p:nvSpPr>
        <p:spPr>
          <a:xfrm>
            <a:off x="502920" y="868680"/>
            <a:ext cx="10241280" cy="27432"/>
          </a:xfrm>
          <a:prstGeom prst="rect">
            <a:avLst/>
          </a:prstGeom>
          <a:solidFill>
            <a:srgbClr val="23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005840"/>
            <a:ext cx="5303520" cy="384048"/>
          </a:xfrm>
          <a:prstGeom prst="rect">
            <a:avLst/>
          </a:prstGeom>
          <a:solidFill>
            <a:srgbClr val="23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024128"/>
            <a:ext cx="5120640" cy="347472"/>
          </a:xfrm>
          <a:prstGeom prst="rect">
            <a:avLst/>
          </a:prstGeom>
          <a:noFill/>
        </p:spPr>
        <p:txBody>
          <a:bodyPr wrap="square">
            <a:spAutoFit/>
          </a:bodyPr>
          <a:lstStyle/>
          <a:p>
            <a:pPr algn="l"/>
            <a:r>
              <a:rPr sz="1500" b="1">
                <a:solidFill>
                  <a:srgbClr val="FFFFFF"/>
                </a:solidFill>
              </a:rPr>
              <a:t>Core Principles</a:t>
            </a:r>
          </a:p>
        </p:txBody>
      </p:sp>
      <p:sp>
        <p:nvSpPr>
          <p:cNvPr id="7" name="TextBox 6"/>
          <p:cNvSpPr txBox="1"/>
          <p:nvPr/>
        </p:nvSpPr>
        <p:spPr>
          <a:xfrm>
            <a:off x="502920" y="1463040"/>
            <a:ext cx="5303520" cy="4572000"/>
          </a:xfrm>
          <a:prstGeom prst="rect">
            <a:avLst/>
          </a:prstGeom>
          <a:noFill/>
        </p:spPr>
        <p:txBody>
          <a:bodyPr wrap="square">
            <a:spAutoFit/>
          </a:bodyPr>
          <a:lstStyle/>
          <a:p>
            <a:pPr>
              <a:spcBef>
                <a:spcPts val="400"/>
              </a:spcBef>
            </a:pPr>
            <a:r>
              <a:rPr sz="1700" b="1">
                <a:solidFill>
                  <a:srgbClr val="FFFFFF"/>
                </a:solidFill>
              </a:rPr>
              <a:t>• Single task focus: one prompt = one well-defined output</a:t>
            </a:r>
          </a:p>
          <a:p>
            <a:pPr>
              <a:spcBef>
                <a:spcPts val="400"/>
              </a:spcBef>
            </a:pPr>
            <a:r>
              <a:rPr sz="1700" b="1">
                <a:solidFill>
                  <a:srgbClr val="FFFFFF"/>
                </a:solidFill>
              </a:rPr>
              <a:t>• Output examples: show expected format when structure matters</a:t>
            </a:r>
          </a:p>
          <a:p>
            <a:pPr>
              <a:spcBef>
                <a:spcPts val="400"/>
              </a:spcBef>
            </a:pPr>
            <a:r>
              <a:rPr sz="1700" b="1">
                <a:solidFill>
                  <a:srgbClr val="FFFFFF"/>
                </a:solidFill>
              </a:rPr>
              <a:t>• Reference files with Markdown links: [config](./config.json) — agent reads them</a:t>
            </a:r>
          </a:p>
          <a:p>
            <a:pPr>
              <a:spcBef>
                <a:spcPts val="400"/>
              </a:spcBef>
            </a:pPr>
            <a:r>
              <a:rPr sz="1700" b="1">
                <a:solidFill>
                  <a:srgbClr val="FFFFFF"/>
                </a:solidFill>
              </a:rPr>
              <a:t>• Use argument-hint to tell users what input to provide</a:t>
            </a:r>
          </a:p>
          <a:p>
            <a:pPr>
              <a:spcBef>
                <a:spcPts val="400"/>
              </a:spcBef>
            </a:pPr>
            <a:r>
              <a:rPr sz="1700" b="1">
                <a:solidFill>
                  <a:srgbClr val="FFFFFF"/>
                </a:solidFill>
              </a:rPr>
              <a:t>• Reuse over duplication: reference .instructions.md files instead of copying their content</a:t>
            </a:r>
          </a:p>
          <a:p>
            <a:pPr>
              <a:spcBef>
                <a:spcPts val="400"/>
              </a:spcBef>
            </a:pPr>
            <a:r>
              <a:rPr sz="1700" b="1">
                <a:solidFill>
                  <a:srgbClr val="FFFFFF"/>
                </a:solidFill>
              </a:rPr>
              <a:t>• Both prompts and skills appear as / slash commands — skills for multi-step, prompts for single-task</a:t>
            </a:r>
          </a:p>
        </p:txBody>
      </p:sp>
      <p:sp>
        <p:nvSpPr>
          <p:cNvPr id="8" name="Rectangle 7"/>
          <p:cNvSpPr/>
          <p:nvPr/>
        </p:nvSpPr>
        <p:spPr>
          <a:xfrm>
            <a:off x="6355080" y="1005840"/>
            <a:ext cx="5303520" cy="384048"/>
          </a:xfrm>
          <a:prstGeom prst="rect">
            <a:avLst/>
          </a:prstGeom>
          <a:solidFill>
            <a:srgbClr val="2DB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024128"/>
            <a:ext cx="5120640" cy="347472"/>
          </a:xfrm>
          <a:prstGeom prst="rect">
            <a:avLst/>
          </a:prstGeom>
          <a:noFill/>
        </p:spPr>
        <p:txBody>
          <a:bodyPr wrap="square">
            <a:spAutoFit/>
          </a:bodyPr>
          <a:lstStyle/>
          <a:p>
            <a:pPr algn="l"/>
            <a:r>
              <a:rPr sz="1500" b="1">
                <a:solidFill>
                  <a:srgbClr val="FFFFFF"/>
                </a:solidFill>
              </a:rPr>
              <a:t>Anti-patterns to Avoid</a:t>
            </a:r>
          </a:p>
        </p:txBody>
      </p:sp>
      <p:sp>
        <p:nvSpPr>
          <p:cNvPr id="10" name="TextBox 9"/>
          <p:cNvSpPr txBox="1"/>
          <p:nvPr/>
        </p:nvSpPr>
        <p:spPr>
          <a:xfrm>
            <a:off x="6355080" y="1463040"/>
            <a:ext cx="5303520" cy="4572000"/>
          </a:xfrm>
          <a:prstGeom prst="rect">
            <a:avLst/>
          </a:prstGeom>
          <a:noFill/>
        </p:spPr>
        <p:txBody>
          <a:bodyPr wrap="square">
            <a:spAutoFit/>
          </a:bodyPr>
          <a:lstStyle/>
          <a:p>
            <a:pPr>
              <a:spcBef>
                <a:spcPts val="400"/>
              </a:spcBef>
            </a:pPr>
            <a:r>
              <a:rPr sz="1700" b="1">
                <a:solidFill>
                  <a:srgbClr val="FFFFFF"/>
                </a:solidFill>
              </a:rPr>
              <a:t>• Multi-task prompts: 'create and test and deploy' → split into separate prompts</a:t>
            </a:r>
          </a:p>
          <a:p>
            <a:pPr>
              <a:spcBef>
                <a:spcPts val="400"/>
              </a:spcBef>
            </a:pPr>
            <a:r>
              <a:rPr sz="1700" b="1">
                <a:solidFill>
                  <a:srgbClr val="FFFFFF"/>
                </a:solidFill>
              </a:rPr>
              <a:t>• Vague descriptions: users won't know when to use it</a:t>
            </a:r>
          </a:p>
          <a:p>
            <a:pPr>
              <a:spcBef>
                <a:spcPts val="400"/>
              </a:spcBef>
            </a:pPr>
            <a:r>
              <a:rPr sz="1700" b="1">
                <a:solidFill>
                  <a:srgbClr val="FFFFFF"/>
                </a:solidFill>
              </a:rPr>
              <a:t>• Over-tooling: giving a read-only task execute access</a:t>
            </a:r>
          </a:p>
          <a:p>
            <a:pPr>
              <a:spcBef>
                <a:spcPts val="400"/>
              </a:spcBef>
            </a:pPr>
            <a:r>
              <a:rPr sz="1700" b="1">
                <a:solidFill>
                  <a:srgbClr val="FFFFFF"/>
                </a:solidFill>
              </a:rPr>
              <a:t>• Hardcoded paths that break on other machines</a:t>
            </a:r>
          </a:p>
          <a:p>
            <a:pPr>
              <a:spcBef>
                <a:spcPts val="400"/>
              </a:spcBef>
            </a:pPr>
            <a:r>
              <a:rPr sz="1700" b="1">
                <a:solidFill>
                  <a:srgbClr val="FFFFFF"/>
                </a:solidFill>
              </a:rPr>
              <a:t>• No context references: agent guesses at file structure instead of reading it</a:t>
            </a:r>
          </a:p>
          <a:p>
            <a:pPr>
              <a:spcBef>
                <a:spcPts val="400"/>
              </a:spcBef>
            </a:pPr>
            <a:r>
              <a:rPr sz="1700" b="1">
                <a:solidFill>
                  <a:srgbClr val="FFFFFF"/>
                </a:solidFill>
              </a:rPr>
              <a:t>• Using prompt when a Skill is better: if &gt; 3 steps with assets → make a Skill</a:t>
            </a:r>
          </a:p>
        </p:txBody>
      </p:sp>
      <p:sp>
        <p:nvSpPr>
          <p:cNvPr id="11" name="TextBox 10"/>
          <p:cNvSpPr txBox="1"/>
          <p:nvPr/>
        </p:nvSpPr>
        <p:spPr>
          <a:xfrm>
            <a:off x="10911535" y="6446520"/>
            <a:ext cx="1188720" cy="320040"/>
          </a:xfrm>
          <a:prstGeom prst="rect">
            <a:avLst/>
          </a:prstGeom>
          <a:noFill/>
        </p:spPr>
        <p:txBody>
          <a:bodyPr wrap="square">
            <a:spAutoFit/>
          </a:bodyPr>
          <a:lstStyle/>
          <a:p>
            <a:pPr algn="r"/>
            <a:r>
              <a:rPr sz="1100" b="0">
                <a:solidFill>
                  <a:srgbClr val="88929A"/>
                </a:solidFill>
              </a:rPr>
              <a:t>22 / 39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794E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9144000" cy="457200"/>
          </a:xfrm>
          <a:prstGeom prst="rect">
            <a:avLst/>
          </a:prstGeom>
          <a:noFill/>
        </p:spPr>
        <p:txBody>
          <a:bodyPr wrap="square">
            <a:spAutoFit/>
          </a:bodyPr>
          <a:lstStyle/>
          <a:p>
            <a:pPr algn="l"/>
            <a:r>
              <a:rPr sz="1400" b="0">
                <a:solidFill>
                  <a:srgbClr val="794EC8"/>
                </a:solidFill>
              </a:rPr>
              <a:t>SECTION  08</a:t>
            </a:r>
          </a:p>
        </p:txBody>
      </p:sp>
      <p:sp>
        <p:nvSpPr>
          <p:cNvPr id="4" name="TextBox 3"/>
          <p:cNvSpPr txBox="1"/>
          <p:nvPr/>
        </p:nvSpPr>
        <p:spPr>
          <a:xfrm>
            <a:off x="457200" y="2651760"/>
            <a:ext cx="10058400" cy="1280160"/>
          </a:xfrm>
          <a:prstGeom prst="rect">
            <a:avLst/>
          </a:prstGeom>
          <a:noFill/>
        </p:spPr>
        <p:txBody>
          <a:bodyPr wrap="square">
            <a:spAutoFit/>
          </a:bodyPr>
          <a:lstStyle/>
          <a:p>
            <a:pPr algn="l"/>
            <a:r>
              <a:rPr sz="4000" b="1">
                <a:solidFill>
                  <a:srgbClr val="FFFFFF"/>
                </a:solidFill>
              </a:rPr>
              <a:t>Skills  (SKILL.md)</a:t>
            </a:r>
          </a:p>
        </p:txBody>
      </p:sp>
      <p:sp>
        <p:nvSpPr>
          <p:cNvPr id="5" name="Rectangle 4"/>
          <p:cNvSpPr/>
          <p:nvPr/>
        </p:nvSpPr>
        <p:spPr>
          <a:xfrm>
            <a:off x="457200" y="3977639"/>
            <a:ext cx="1463040" cy="54864"/>
          </a:xfrm>
          <a:prstGeom prst="rect">
            <a:avLst/>
          </a:prstGeom>
          <a:solidFill>
            <a:srgbClr val="794E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30363D"/>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794E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515600" cy="640080"/>
          </a:xfrm>
          <a:prstGeom prst="rect">
            <a:avLst/>
          </a:prstGeom>
          <a:noFill/>
        </p:spPr>
        <p:txBody>
          <a:bodyPr wrap="square">
            <a:spAutoFit/>
          </a:bodyPr>
          <a:lstStyle/>
          <a:p>
            <a:pPr algn="l"/>
            <a:r>
              <a:rPr sz="2400" b="1">
                <a:solidFill>
                  <a:srgbClr val="FFFFFF"/>
                </a:solidFill>
              </a:rPr>
              <a:t>Skills — SKILL.md Frontmatter &amp; Key Lines</a:t>
            </a:r>
          </a:p>
        </p:txBody>
      </p:sp>
      <p:sp>
        <p:nvSpPr>
          <p:cNvPr id="4" name="Rectangle 3"/>
          <p:cNvSpPr/>
          <p:nvPr/>
        </p:nvSpPr>
        <p:spPr>
          <a:xfrm>
            <a:off x="502920" y="868680"/>
            <a:ext cx="10241280" cy="27432"/>
          </a:xfrm>
          <a:prstGeom prst="rect">
            <a:avLst/>
          </a:prstGeom>
          <a:solidFill>
            <a:srgbClr val="794E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914400"/>
            <a:ext cx="11155680" cy="502920"/>
          </a:xfrm>
          <a:prstGeom prst="rect">
            <a:avLst/>
          </a:prstGeom>
          <a:noFill/>
        </p:spPr>
        <p:txBody>
          <a:bodyPr wrap="square">
            <a:spAutoFit/>
          </a:bodyPr>
          <a:lstStyle/>
          <a:p>
            <a:pPr algn="l"/>
            <a:r>
              <a:rPr sz="1400" b="0">
                <a:solidFill>
                  <a:srgbClr val="A0AAB4"/>
                </a:solidFill>
              </a:rPr>
              <a:t>File: .github/skills/run-e2e-tests/SKILL.md   (folder name must match 'name' field)</a:t>
            </a:r>
          </a:p>
        </p:txBody>
      </p:sp>
      <p:sp>
        <p:nvSpPr>
          <p:cNvPr id="6" name="Rectangle 5"/>
          <p:cNvSpPr/>
          <p:nvPr/>
        </p:nvSpPr>
        <p:spPr>
          <a:xfrm>
            <a:off x="502920" y="1463040"/>
            <a:ext cx="6492240" cy="512064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572768"/>
            <a:ext cx="6217920" cy="4937760"/>
          </a:xfrm>
          <a:prstGeom prst="rect">
            <a:avLst/>
          </a:prstGeom>
          <a:noFill/>
        </p:spPr>
        <p:txBody>
          <a:bodyPr wrap="square">
            <a:spAutoFit/>
          </a:bodyPr>
          <a:lstStyle/>
          <a:p>
            <a:pPr algn="l"/>
            <a:r>
              <a:rPr sz="1200" b="0">
                <a:solidFill>
                  <a:srgbClr val="A8CC88"/>
                </a:solidFill>
              </a:rPr>
              <a:t>---
name: run-e2e-tests          ①
description: &gt;               ②
  Run end-to-end tests using
  Playwright. Use for verifying
  frontend, debugging UI,
  capturing failure screenshots.
argument-hint: &gt;             ③
  Optionally specify a page
  or feature to target
user-invocable: true         ④
disable-model-invocation: false  ⑤
---
# End-to-End Testing         ⑥
## When to Use               ⑦
- After every UI change
- When debugging visual regressions
## Procedure
1. Start API:  dotnet run --project AuthSystem.API
2. Run tests: [playwright script](./scripts/run-tests.js)  ⑧
3. Screenshots saved to ./screenshots/</a:t>
            </a:r>
          </a:p>
        </p:txBody>
      </p:sp>
      <p:sp>
        <p:nvSpPr>
          <p:cNvPr id="8" name="Oval 7"/>
          <p:cNvSpPr/>
          <p:nvPr/>
        </p:nvSpPr>
        <p:spPr>
          <a:xfrm>
            <a:off x="7223760" y="1545336"/>
            <a:ext cx="347472" cy="347472"/>
          </a:xfrm>
          <a:prstGeom prst="ellipse">
            <a:avLst/>
          </a:prstGeom>
          <a:solidFill>
            <a:srgbClr val="794E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①</a:t>
            </a:r>
          </a:p>
        </p:txBody>
      </p:sp>
      <p:sp>
        <p:nvSpPr>
          <p:cNvPr id="9" name="TextBox 8"/>
          <p:cNvSpPr txBox="1"/>
          <p:nvPr/>
        </p:nvSpPr>
        <p:spPr>
          <a:xfrm>
            <a:off x="7644384" y="1508760"/>
            <a:ext cx="4242816" cy="621792"/>
          </a:xfrm>
          <a:prstGeom prst="rect">
            <a:avLst/>
          </a:prstGeom>
          <a:noFill/>
        </p:spPr>
        <p:txBody>
          <a:bodyPr wrap="square">
            <a:spAutoFit/>
          </a:bodyPr>
          <a:lstStyle/>
          <a:p>
            <a:pPr algn="l"/>
            <a:r>
              <a:rPr sz="1300" b="0">
                <a:solidFill>
                  <a:srgbClr val="D0D8E4"/>
                </a:solidFill>
              </a:rPr>
              <a:t>name — required, 1-64 chars, lowercase alphanumeric + hyphens. MUST match the folder name exactly or the skill silently fails.</a:t>
            </a:r>
          </a:p>
        </p:txBody>
      </p:sp>
      <p:sp>
        <p:nvSpPr>
          <p:cNvPr id="10" name="Oval 9"/>
          <p:cNvSpPr/>
          <p:nvPr/>
        </p:nvSpPr>
        <p:spPr>
          <a:xfrm>
            <a:off x="7223760" y="2203704"/>
            <a:ext cx="347472" cy="347472"/>
          </a:xfrm>
          <a:prstGeom prst="ellipse">
            <a:avLst/>
          </a:prstGeom>
          <a:solidFill>
            <a:srgbClr val="794E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②</a:t>
            </a:r>
          </a:p>
        </p:txBody>
      </p:sp>
      <p:sp>
        <p:nvSpPr>
          <p:cNvPr id="11" name="TextBox 10"/>
          <p:cNvSpPr txBox="1"/>
          <p:nvPr/>
        </p:nvSpPr>
        <p:spPr>
          <a:xfrm>
            <a:off x="7644384" y="2167128"/>
            <a:ext cx="4242816" cy="621792"/>
          </a:xfrm>
          <a:prstGeom prst="rect">
            <a:avLst/>
          </a:prstGeom>
          <a:noFill/>
        </p:spPr>
        <p:txBody>
          <a:bodyPr wrap="square">
            <a:spAutoFit/>
          </a:bodyPr>
          <a:lstStyle/>
          <a:p>
            <a:pPr algn="l"/>
            <a:r>
              <a:rPr sz="1300" b="0">
                <a:solidFill>
                  <a:srgbClr val="D0D8E4"/>
                </a:solidFill>
              </a:rPr>
              <a:t>description — the 2-stage discovery surface: first ~100 tokens are read to decide relevance, then full body loads. Max 1024 chars.</a:t>
            </a:r>
          </a:p>
        </p:txBody>
      </p:sp>
      <p:sp>
        <p:nvSpPr>
          <p:cNvPr id="12" name="Oval 11"/>
          <p:cNvSpPr/>
          <p:nvPr/>
        </p:nvSpPr>
        <p:spPr>
          <a:xfrm>
            <a:off x="7223760" y="2862072"/>
            <a:ext cx="347472" cy="347472"/>
          </a:xfrm>
          <a:prstGeom prst="ellipse">
            <a:avLst/>
          </a:prstGeom>
          <a:solidFill>
            <a:srgbClr val="794E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③</a:t>
            </a:r>
          </a:p>
        </p:txBody>
      </p:sp>
      <p:sp>
        <p:nvSpPr>
          <p:cNvPr id="13" name="TextBox 12"/>
          <p:cNvSpPr txBox="1"/>
          <p:nvPr/>
        </p:nvSpPr>
        <p:spPr>
          <a:xfrm>
            <a:off x="7644384" y="2825496"/>
            <a:ext cx="4242816" cy="621792"/>
          </a:xfrm>
          <a:prstGeom prst="rect">
            <a:avLst/>
          </a:prstGeom>
          <a:noFill/>
        </p:spPr>
        <p:txBody>
          <a:bodyPr wrap="square">
            <a:spAutoFit/>
          </a:bodyPr>
          <a:lstStyle/>
          <a:p>
            <a:pPr algn="l"/>
            <a:r>
              <a:rPr sz="1300" b="0">
                <a:solidFill>
                  <a:srgbClr val="D0D8E4"/>
                </a:solidFill>
              </a:rPr>
              <a:t>argument-hint — shown when user types /run-e2e-tests in chat, guiding what to type after the command.</a:t>
            </a:r>
          </a:p>
        </p:txBody>
      </p:sp>
      <p:sp>
        <p:nvSpPr>
          <p:cNvPr id="14" name="Oval 13"/>
          <p:cNvSpPr/>
          <p:nvPr/>
        </p:nvSpPr>
        <p:spPr>
          <a:xfrm>
            <a:off x="7223760" y="3520440"/>
            <a:ext cx="347472" cy="347472"/>
          </a:xfrm>
          <a:prstGeom prst="ellipse">
            <a:avLst/>
          </a:prstGeom>
          <a:solidFill>
            <a:srgbClr val="794E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④</a:t>
            </a:r>
          </a:p>
        </p:txBody>
      </p:sp>
      <p:sp>
        <p:nvSpPr>
          <p:cNvPr id="15" name="TextBox 14"/>
          <p:cNvSpPr txBox="1"/>
          <p:nvPr/>
        </p:nvSpPr>
        <p:spPr>
          <a:xfrm>
            <a:off x="7644384" y="3483864"/>
            <a:ext cx="4242816" cy="621792"/>
          </a:xfrm>
          <a:prstGeom prst="rect">
            <a:avLst/>
          </a:prstGeom>
          <a:noFill/>
        </p:spPr>
        <p:txBody>
          <a:bodyPr wrap="square">
            <a:spAutoFit/>
          </a:bodyPr>
          <a:lstStyle/>
          <a:p>
            <a:pPr algn="l"/>
            <a:r>
              <a:rPr sz="1300" b="0">
                <a:solidFill>
                  <a:srgbClr val="D0D8E4"/>
                </a:solidFill>
              </a:rPr>
              <a:t>user-invocable: true — shows this skill as a /slash command. Set false to make it agent-only (auto-loaded, not user-triggered).</a:t>
            </a:r>
          </a:p>
        </p:txBody>
      </p:sp>
      <p:sp>
        <p:nvSpPr>
          <p:cNvPr id="16" name="Oval 15"/>
          <p:cNvSpPr/>
          <p:nvPr/>
        </p:nvSpPr>
        <p:spPr>
          <a:xfrm>
            <a:off x="7223760" y="4178808"/>
            <a:ext cx="347472" cy="347472"/>
          </a:xfrm>
          <a:prstGeom prst="ellipse">
            <a:avLst/>
          </a:prstGeom>
          <a:solidFill>
            <a:srgbClr val="794E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⑤</a:t>
            </a:r>
          </a:p>
        </p:txBody>
      </p:sp>
      <p:sp>
        <p:nvSpPr>
          <p:cNvPr id="17" name="TextBox 16"/>
          <p:cNvSpPr txBox="1"/>
          <p:nvPr/>
        </p:nvSpPr>
        <p:spPr>
          <a:xfrm>
            <a:off x="7644384" y="4142232"/>
            <a:ext cx="4242816" cy="621792"/>
          </a:xfrm>
          <a:prstGeom prst="rect">
            <a:avLst/>
          </a:prstGeom>
          <a:noFill/>
        </p:spPr>
        <p:txBody>
          <a:bodyPr wrap="square">
            <a:spAutoFit/>
          </a:bodyPr>
          <a:lstStyle/>
          <a:p>
            <a:pPr algn="l"/>
            <a:r>
              <a:rPr sz="1300" b="0">
                <a:solidFill>
                  <a:srgbClr val="D0D8E4"/>
                </a:solidFill>
              </a:rPr>
              <a:t>disable-model-invocation: false — default. Set true to prevent automatic loading; only loads when user explicitly invokes.</a:t>
            </a:r>
          </a:p>
        </p:txBody>
      </p:sp>
      <p:sp>
        <p:nvSpPr>
          <p:cNvPr id="18" name="Oval 17"/>
          <p:cNvSpPr/>
          <p:nvPr/>
        </p:nvSpPr>
        <p:spPr>
          <a:xfrm>
            <a:off x="7223760" y="4837176"/>
            <a:ext cx="347472" cy="347472"/>
          </a:xfrm>
          <a:prstGeom prst="ellipse">
            <a:avLst/>
          </a:prstGeom>
          <a:solidFill>
            <a:srgbClr val="794E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⑥</a:t>
            </a:r>
          </a:p>
        </p:txBody>
      </p:sp>
      <p:sp>
        <p:nvSpPr>
          <p:cNvPr id="19" name="TextBox 18"/>
          <p:cNvSpPr txBox="1"/>
          <p:nvPr/>
        </p:nvSpPr>
        <p:spPr>
          <a:xfrm>
            <a:off x="7644384" y="4800600"/>
            <a:ext cx="4242816" cy="621792"/>
          </a:xfrm>
          <a:prstGeom prst="rect">
            <a:avLst/>
          </a:prstGeom>
          <a:noFill/>
        </p:spPr>
        <p:txBody>
          <a:bodyPr wrap="square">
            <a:spAutoFit/>
          </a:bodyPr>
          <a:lstStyle/>
          <a:p>
            <a:pPr algn="l"/>
            <a:r>
              <a:rPr sz="1300" b="0">
                <a:solidFill>
                  <a:srgbClr val="D0D8E4"/>
                </a:solidFill>
              </a:rPr>
              <a:t>Body has no frontmatter boundary — everything after --- is the skill instructions loaded when triggered.</a:t>
            </a:r>
          </a:p>
        </p:txBody>
      </p:sp>
      <p:sp>
        <p:nvSpPr>
          <p:cNvPr id="20" name="Oval 19"/>
          <p:cNvSpPr/>
          <p:nvPr/>
        </p:nvSpPr>
        <p:spPr>
          <a:xfrm>
            <a:off x="7223760" y="5495544"/>
            <a:ext cx="347472" cy="347472"/>
          </a:xfrm>
          <a:prstGeom prst="ellipse">
            <a:avLst/>
          </a:prstGeom>
          <a:solidFill>
            <a:srgbClr val="794E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⑦</a:t>
            </a:r>
          </a:p>
        </p:txBody>
      </p:sp>
      <p:sp>
        <p:nvSpPr>
          <p:cNvPr id="21" name="TextBox 20"/>
          <p:cNvSpPr txBox="1"/>
          <p:nvPr/>
        </p:nvSpPr>
        <p:spPr>
          <a:xfrm>
            <a:off x="7644384" y="5458968"/>
            <a:ext cx="4242816" cy="621792"/>
          </a:xfrm>
          <a:prstGeom prst="rect">
            <a:avLst/>
          </a:prstGeom>
          <a:noFill/>
        </p:spPr>
        <p:txBody>
          <a:bodyPr wrap="square">
            <a:spAutoFit/>
          </a:bodyPr>
          <a:lstStyle/>
          <a:p>
            <a:pPr algn="l"/>
            <a:r>
              <a:rPr sz="1300" b="0">
                <a:solidFill>
                  <a:srgbClr val="D0D8E4"/>
                </a:solidFill>
              </a:rPr>
              <a:t>'When to Use' section is critical — helps agent and user know exactly when this skill applies.</a:t>
            </a:r>
          </a:p>
        </p:txBody>
      </p:sp>
      <p:sp>
        <p:nvSpPr>
          <p:cNvPr id="22" name="Oval 21"/>
          <p:cNvSpPr/>
          <p:nvPr/>
        </p:nvSpPr>
        <p:spPr>
          <a:xfrm>
            <a:off x="7223760" y="6153912"/>
            <a:ext cx="347472" cy="347472"/>
          </a:xfrm>
          <a:prstGeom prst="ellipse">
            <a:avLst/>
          </a:prstGeom>
          <a:solidFill>
            <a:srgbClr val="794E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⑧</a:t>
            </a:r>
          </a:p>
        </p:txBody>
      </p:sp>
      <p:sp>
        <p:nvSpPr>
          <p:cNvPr id="23" name="TextBox 22"/>
          <p:cNvSpPr txBox="1"/>
          <p:nvPr/>
        </p:nvSpPr>
        <p:spPr>
          <a:xfrm>
            <a:off x="7644384" y="6117336"/>
            <a:ext cx="4242816" cy="621792"/>
          </a:xfrm>
          <a:prstGeom prst="rect">
            <a:avLst/>
          </a:prstGeom>
          <a:noFill/>
        </p:spPr>
        <p:txBody>
          <a:bodyPr wrap="square">
            <a:spAutoFit/>
          </a:bodyPr>
          <a:lstStyle/>
          <a:p>
            <a:pPr algn="l"/>
            <a:r>
              <a:rPr sz="1300" b="0">
                <a:solidFill>
                  <a:srgbClr val="D0D8E4"/>
                </a:solidFill>
              </a:rPr>
              <a:t>Reference scripts with relative Markdown links. Agent loads them progressively only when needed — keeps context lean.</a:t>
            </a:r>
          </a:p>
        </p:txBody>
      </p:sp>
      <p:sp>
        <p:nvSpPr>
          <p:cNvPr id="24" name="TextBox 23"/>
          <p:cNvSpPr txBox="1"/>
          <p:nvPr/>
        </p:nvSpPr>
        <p:spPr>
          <a:xfrm>
            <a:off x="10911535" y="6446520"/>
            <a:ext cx="1188720" cy="320040"/>
          </a:xfrm>
          <a:prstGeom prst="rect">
            <a:avLst/>
          </a:prstGeom>
          <a:noFill/>
        </p:spPr>
        <p:txBody>
          <a:bodyPr wrap="square">
            <a:spAutoFit/>
          </a:bodyPr>
          <a:lstStyle/>
          <a:p>
            <a:pPr algn="r"/>
            <a:r>
              <a:rPr sz="1100" b="0">
                <a:solidFill>
                  <a:srgbClr val="88929A"/>
                </a:solidFill>
              </a:rPr>
              <a:t>24 / 39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30363D"/>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3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515600" cy="640080"/>
          </a:xfrm>
          <a:prstGeom prst="rect">
            <a:avLst/>
          </a:prstGeom>
          <a:noFill/>
        </p:spPr>
        <p:txBody>
          <a:bodyPr wrap="square">
            <a:spAutoFit/>
          </a:bodyPr>
          <a:lstStyle/>
          <a:p>
            <a:pPr algn="l"/>
            <a:r>
              <a:rPr sz="2600" b="1">
                <a:solidFill>
                  <a:srgbClr val="FFFFFF"/>
                </a:solidFill>
              </a:rPr>
              <a:t>Skills — Folder Structure &amp; Progressive Loading</a:t>
            </a:r>
          </a:p>
        </p:txBody>
      </p:sp>
      <p:sp>
        <p:nvSpPr>
          <p:cNvPr id="4" name="Rectangle 3"/>
          <p:cNvSpPr/>
          <p:nvPr/>
        </p:nvSpPr>
        <p:spPr>
          <a:xfrm>
            <a:off x="502920" y="868680"/>
            <a:ext cx="10241280" cy="27432"/>
          </a:xfrm>
          <a:prstGeom prst="rect">
            <a:avLst/>
          </a:prstGeom>
          <a:solidFill>
            <a:srgbClr val="23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05840"/>
            <a:ext cx="11155680" cy="5120640"/>
          </a:xfrm>
          <a:prstGeom prst="rect">
            <a:avLst/>
          </a:prstGeom>
          <a:noFill/>
        </p:spPr>
        <p:txBody>
          <a:bodyPr wrap="square">
            <a:spAutoFit/>
          </a:bodyPr>
          <a:lstStyle/>
          <a:p>
            <a:pPr>
              <a:spcBef>
                <a:spcPts val="400"/>
              </a:spcBef>
            </a:pPr>
            <a:r>
              <a:rPr sz="1700" b="1">
                <a:solidFill>
                  <a:srgbClr val="FFFFFF"/>
                </a:solidFill>
              </a:rPr>
              <a:t>• Recommended folder layout:</a:t>
            </a:r>
          </a:p>
          <a:p>
            <a:pPr lvl="1">
              <a:spcBef>
                <a:spcPts val="200"/>
              </a:spcBef>
            </a:pPr>
            <a:r>
              <a:rPr sz="1500" b="0">
                <a:solidFill>
                  <a:srgbClr val="C0CAD4"/>
                </a:solidFill>
              </a:rPr>
              <a:t>    ◦ .github/skills/&lt;skill-name&gt;/SKILL.md      ← required entry point</a:t>
            </a:r>
          </a:p>
          <a:p>
            <a:pPr lvl="1">
              <a:spcBef>
                <a:spcPts val="200"/>
              </a:spcBef>
            </a:pPr>
            <a:r>
              <a:rPr sz="1500" b="0">
                <a:solidFill>
                  <a:srgbClr val="C0CAD4"/>
                </a:solidFill>
              </a:rPr>
              <a:t>    ◦ .github/skills/&lt;skill-name&gt;/scripts/      ← executable scripts</a:t>
            </a:r>
          </a:p>
          <a:p>
            <a:pPr lvl="1">
              <a:spcBef>
                <a:spcPts val="200"/>
              </a:spcBef>
            </a:pPr>
            <a:r>
              <a:rPr sz="1500" b="0">
                <a:solidFill>
                  <a:srgbClr val="C0CAD4"/>
                </a:solidFill>
              </a:rPr>
              <a:t>    ◦ .github/skills/&lt;skill-name&gt;/references/   ← detailed docs loaded on demand</a:t>
            </a:r>
          </a:p>
          <a:p>
            <a:pPr lvl="1">
              <a:spcBef>
                <a:spcPts val="200"/>
              </a:spcBef>
            </a:pPr>
            <a:r>
              <a:rPr sz="1500" b="0">
                <a:solidFill>
                  <a:srgbClr val="C0CAD4"/>
                </a:solidFill>
              </a:rPr>
              <a:t>    ◦ .github/skills/&lt;skill-name&gt;/assets/       ← templates, boilerplate files</a:t>
            </a:r>
          </a:p>
          <a:p>
            <a:pPr>
              <a:spcBef>
                <a:spcPts val="400"/>
              </a:spcBef>
            </a:pPr>
            <a:r>
              <a:rPr sz="1700" b="1">
                <a:solidFill>
                  <a:srgbClr val="FFFFFF"/>
                </a:solidFill>
              </a:rPr>
              <a:t>• Progressive loading — 3 stages:</a:t>
            </a:r>
          </a:p>
          <a:p>
            <a:pPr lvl="1">
              <a:spcBef>
                <a:spcPts val="200"/>
              </a:spcBef>
            </a:pPr>
            <a:r>
              <a:rPr sz="1500" b="0">
                <a:solidFill>
                  <a:srgbClr val="C0CAD4"/>
                </a:solidFill>
              </a:rPr>
              <a:t>    ◦ Stage 1 — Discovery (~100 tokens): agent reads name + description to decide relevance</a:t>
            </a:r>
          </a:p>
          <a:p>
            <a:pPr lvl="1">
              <a:spcBef>
                <a:spcPts val="200"/>
              </a:spcBef>
            </a:pPr>
            <a:r>
              <a:rPr sz="1500" b="0">
                <a:solidFill>
                  <a:srgbClr val="C0CAD4"/>
                </a:solidFill>
              </a:rPr>
              <a:t>    ◦ Stage 2 — Instructions (&lt;5000 tokens): loads full SKILL.md body when triggered</a:t>
            </a:r>
          </a:p>
          <a:p>
            <a:pPr lvl="1">
              <a:spcBef>
                <a:spcPts val="200"/>
              </a:spcBef>
            </a:pPr>
            <a:r>
              <a:rPr sz="1500" b="0">
                <a:solidFill>
                  <a:srgbClr val="C0CAD4"/>
                </a:solidFill>
              </a:rPr>
              <a:t>    ◦ Stage 3 — Resources: additional files load ONLY when explicitly referenced in body</a:t>
            </a:r>
          </a:p>
          <a:p>
            <a:pPr>
              <a:spcBef>
                <a:spcPts val="400"/>
              </a:spcBef>
            </a:pPr>
            <a:r>
              <a:rPr sz="1700" b="1">
                <a:solidFill>
                  <a:srgbClr val="FFFFFF"/>
                </a:solidFill>
              </a:rPr>
              <a:t>• Keep SKILL.md under 500 lines — move detail into references/ and link from the body</a:t>
            </a:r>
          </a:p>
          <a:p>
            <a:pPr>
              <a:spcBef>
                <a:spcPts val="400"/>
              </a:spcBef>
            </a:pPr>
            <a:r>
              <a:rPr sz="1700" b="1">
                <a:solidFill>
                  <a:srgbClr val="FFFFFF"/>
                </a:solidFill>
              </a:rPr>
              <a:t>• Always use relative paths ( ./ ) for skill assets — absolute paths break portability</a:t>
            </a:r>
          </a:p>
        </p:txBody>
      </p:sp>
      <p:sp>
        <p:nvSpPr>
          <p:cNvPr id="6" name="Rectangle 5"/>
          <p:cNvSpPr/>
          <p:nvPr/>
        </p:nvSpPr>
        <p:spPr>
          <a:xfrm>
            <a:off x="502920" y="5943600"/>
            <a:ext cx="11155680" cy="64008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5961888"/>
            <a:ext cx="10972800" cy="566928"/>
          </a:xfrm>
          <a:prstGeom prst="rect">
            <a:avLst/>
          </a:prstGeom>
          <a:noFill/>
        </p:spPr>
        <p:txBody>
          <a:bodyPr wrap="square">
            <a:spAutoFit/>
          </a:bodyPr>
          <a:lstStyle/>
          <a:p>
            <a:pPr algn="l"/>
            <a:r>
              <a:rPr sz="1300" b="0">
                <a:solidFill>
                  <a:srgbClr val="A0C8F0"/>
                </a:solidFill>
              </a:rPr>
              <a:t>💡  Progressive loading keeps the context window lean. The agent only pays the cost of files it actually needs.</a:t>
            </a:r>
          </a:p>
        </p:txBody>
      </p:sp>
      <p:sp>
        <p:nvSpPr>
          <p:cNvPr id="8" name="TextBox 7"/>
          <p:cNvSpPr txBox="1"/>
          <p:nvPr/>
        </p:nvSpPr>
        <p:spPr>
          <a:xfrm>
            <a:off x="10911535" y="6446520"/>
            <a:ext cx="1188720" cy="320040"/>
          </a:xfrm>
          <a:prstGeom prst="rect">
            <a:avLst/>
          </a:prstGeom>
          <a:noFill/>
        </p:spPr>
        <p:txBody>
          <a:bodyPr wrap="square">
            <a:spAutoFit/>
          </a:bodyPr>
          <a:lstStyle/>
          <a:p>
            <a:pPr algn="r"/>
            <a:r>
              <a:rPr sz="1100" b="0">
                <a:solidFill>
                  <a:srgbClr val="88929A"/>
                </a:solidFill>
              </a:rPr>
              <a:t>25 / 39</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F7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9144000" cy="457200"/>
          </a:xfrm>
          <a:prstGeom prst="rect">
            <a:avLst/>
          </a:prstGeom>
          <a:noFill/>
        </p:spPr>
        <p:txBody>
          <a:bodyPr wrap="square">
            <a:spAutoFit/>
          </a:bodyPr>
          <a:lstStyle/>
          <a:p>
            <a:pPr algn="l"/>
            <a:r>
              <a:rPr sz="1400" b="0">
                <a:solidFill>
                  <a:srgbClr val="F78C00"/>
                </a:solidFill>
              </a:rPr>
              <a:t>SECTION  09</a:t>
            </a:r>
          </a:p>
        </p:txBody>
      </p:sp>
      <p:sp>
        <p:nvSpPr>
          <p:cNvPr id="4" name="TextBox 3"/>
          <p:cNvSpPr txBox="1"/>
          <p:nvPr/>
        </p:nvSpPr>
        <p:spPr>
          <a:xfrm>
            <a:off x="457200" y="2651760"/>
            <a:ext cx="10058400" cy="1280160"/>
          </a:xfrm>
          <a:prstGeom prst="rect">
            <a:avLst/>
          </a:prstGeom>
          <a:noFill/>
        </p:spPr>
        <p:txBody>
          <a:bodyPr wrap="square">
            <a:spAutoFit/>
          </a:bodyPr>
          <a:lstStyle/>
          <a:p>
            <a:pPr algn="l"/>
            <a:r>
              <a:rPr sz="4000" b="1">
                <a:solidFill>
                  <a:srgbClr val="FFFFFF"/>
                </a:solidFill>
              </a:rPr>
              <a:t>Custom Agents  (.agent.md)</a:t>
            </a:r>
          </a:p>
        </p:txBody>
      </p:sp>
      <p:sp>
        <p:nvSpPr>
          <p:cNvPr id="5" name="Rectangle 4"/>
          <p:cNvSpPr/>
          <p:nvPr/>
        </p:nvSpPr>
        <p:spPr>
          <a:xfrm>
            <a:off x="457200" y="3977639"/>
            <a:ext cx="1463040" cy="54864"/>
          </a:xfrm>
          <a:prstGeom prst="rect">
            <a:avLst/>
          </a:prstGeom>
          <a:solidFill>
            <a:srgbClr val="F7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30363D"/>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F7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515600" cy="640080"/>
          </a:xfrm>
          <a:prstGeom prst="rect">
            <a:avLst/>
          </a:prstGeom>
          <a:noFill/>
        </p:spPr>
        <p:txBody>
          <a:bodyPr wrap="square">
            <a:spAutoFit/>
          </a:bodyPr>
          <a:lstStyle/>
          <a:p>
            <a:pPr algn="l"/>
            <a:r>
              <a:rPr sz="2400" b="1">
                <a:solidFill>
                  <a:srgbClr val="FFFFFF"/>
                </a:solidFill>
              </a:rPr>
              <a:t>Custom Agents — Frontmatter &amp; Key Lines</a:t>
            </a:r>
          </a:p>
        </p:txBody>
      </p:sp>
      <p:sp>
        <p:nvSpPr>
          <p:cNvPr id="4" name="Rectangle 3"/>
          <p:cNvSpPr/>
          <p:nvPr/>
        </p:nvSpPr>
        <p:spPr>
          <a:xfrm>
            <a:off x="502920" y="868680"/>
            <a:ext cx="10241280" cy="27432"/>
          </a:xfrm>
          <a:prstGeom prst="rect">
            <a:avLst/>
          </a:prstGeom>
          <a:solidFill>
            <a:srgbClr val="F7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914400"/>
            <a:ext cx="11155680" cy="502920"/>
          </a:xfrm>
          <a:prstGeom prst="rect">
            <a:avLst/>
          </a:prstGeom>
          <a:noFill/>
        </p:spPr>
        <p:txBody>
          <a:bodyPr wrap="square">
            <a:spAutoFit/>
          </a:bodyPr>
          <a:lstStyle/>
          <a:p>
            <a:pPr algn="l"/>
            <a:r>
              <a:rPr sz="1400" b="0">
                <a:solidFill>
                  <a:srgbClr val="A0AAB4"/>
                </a:solidFill>
              </a:rPr>
              <a:t>File: .github/agents/code-reviewer.agent.md</a:t>
            </a:r>
          </a:p>
        </p:txBody>
      </p:sp>
      <p:sp>
        <p:nvSpPr>
          <p:cNvPr id="6" name="Rectangle 5"/>
          <p:cNvSpPr/>
          <p:nvPr/>
        </p:nvSpPr>
        <p:spPr>
          <a:xfrm>
            <a:off x="502920" y="1463040"/>
            <a:ext cx="6492240" cy="512064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572768"/>
            <a:ext cx="6217920" cy="4937760"/>
          </a:xfrm>
          <a:prstGeom prst="rect">
            <a:avLst/>
          </a:prstGeom>
          <a:noFill/>
        </p:spPr>
        <p:txBody>
          <a:bodyPr wrap="square">
            <a:spAutoFit/>
          </a:bodyPr>
          <a:lstStyle/>
          <a:p>
            <a:pPr algn="l"/>
            <a:r>
              <a:rPr sz="1200" b="0">
                <a:solidFill>
                  <a:srgbClr val="A8CC88"/>
                </a:solidFill>
              </a:rPr>
              <a:t>---
description: &gt;               ①
  Use when: reviewing code for
  security issues, OWASP Top 10,
  code quality, or PR feedback.
name: Code Reviewer          ②
tools: [read, search]        ③
model: "Claude Sonnet 4"     ④
user-invocable: true         ⑤
agents: []                   ⑥
---
You are a security-focused code reviewer.  ⑦
## Constraints               ⑧
- DO NOT edit or write any files
- DO NOT run any shell commands
- ONLY review and report findings
## Approach
1. Read all changed files
2. Check each OWASP Top 10 category
3. Return structured findings with severity</a:t>
            </a:r>
          </a:p>
        </p:txBody>
      </p:sp>
      <p:sp>
        <p:nvSpPr>
          <p:cNvPr id="8" name="Oval 7"/>
          <p:cNvSpPr/>
          <p:nvPr/>
        </p:nvSpPr>
        <p:spPr>
          <a:xfrm>
            <a:off x="7223760" y="1545336"/>
            <a:ext cx="347472" cy="347472"/>
          </a:xfrm>
          <a:prstGeom prst="ellipse">
            <a:avLst/>
          </a:prstGeom>
          <a:solidFill>
            <a:srgbClr val="F7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①</a:t>
            </a:r>
          </a:p>
        </p:txBody>
      </p:sp>
      <p:sp>
        <p:nvSpPr>
          <p:cNvPr id="9" name="TextBox 8"/>
          <p:cNvSpPr txBox="1"/>
          <p:nvPr/>
        </p:nvSpPr>
        <p:spPr>
          <a:xfrm>
            <a:off x="7644384" y="1508760"/>
            <a:ext cx="4242816" cy="621792"/>
          </a:xfrm>
          <a:prstGeom prst="rect">
            <a:avLst/>
          </a:prstGeom>
          <a:noFill/>
        </p:spPr>
        <p:txBody>
          <a:bodyPr wrap="square">
            <a:spAutoFit/>
          </a:bodyPr>
          <a:lstStyle/>
          <a:p>
            <a:pPr algn="l"/>
            <a:r>
              <a:rPr sz="1300" b="0">
                <a:solidFill>
                  <a:srgbClr val="D0D8E4"/>
                </a:solidFill>
              </a:rPr>
              <a:t>description — REQUIRED. The primary discovery surface for both the agent picker AND parent agents delegating to subagents. Use 'Use when:' pattern with specific trigger keywords.</a:t>
            </a:r>
          </a:p>
        </p:txBody>
      </p:sp>
      <p:sp>
        <p:nvSpPr>
          <p:cNvPr id="10" name="Oval 9"/>
          <p:cNvSpPr/>
          <p:nvPr/>
        </p:nvSpPr>
        <p:spPr>
          <a:xfrm>
            <a:off x="7223760" y="2203704"/>
            <a:ext cx="347472" cy="347472"/>
          </a:xfrm>
          <a:prstGeom prst="ellipse">
            <a:avLst/>
          </a:prstGeom>
          <a:solidFill>
            <a:srgbClr val="F7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②</a:t>
            </a:r>
          </a:p>
        </p:txBody>
      </p:sp>
      <p:sp>
        <p:nvSpPr>
          <p:cNvPr id="11" name="TextBox 10"/>
          <p:cNvSpPr txBox="1"/>
          <p:nvPr/>
        </p:nvSpPr>
        <p:spPr>
          <a:xfrm>
            <a:off x="7644384" y="2167128"/>
            <a:ext cx="4242816" cy="621792"/>
          </a:xfrm>
          <a:prstGeom prst="rect">
            <a:avLst/>
          </a:prstGeom>
          <a:noFill/>
        </p:spPr>
        <p:txBody>
          <a:bodyPr wrap="square">
            <a:spAutoFit/>
          </a:bodyPr>
          <a:lstStyle/>
          <a:p>
            <a:pPr algn="l"/>
            <a:r>
              <a:rPr sz="1300" b="0">
                <a:solidFill>
                  <a:srgbClr val="D0D8E4"/>
                </a:solidFill>
              </a:rPr>
              <a:t>name — shown in the agent picker dropdown. Optional; defaults to filename without extension.</a:t>
            </a:r>
          </a:p>
        </p:txBody>
      </p:sp>
      <p:sp>
        <p:nvSpPr>
          <p:cNvPr id="12" name="Oval 11"/>
          <p:cNvSpPr/>
          <p:nvPr/>
        </p:nvSpPr>
        <p:spPr>
          <a:xfrm>
            <a:off x="7223760" y="2862072"/>
            <a:ext cx="347472" cy="347472"/>
          </a:xfrm>
          <a:prstGeom prst="ellipse">
            <a:avLst/>
          </a:prstGeom>
          <a:solidFill>
            <a:srgbClr val="F7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③</a:t>
            </a:r>
          </a:p>
        </p:txBody>
      </p:sp>
      <p:sp>
        <p:nvSpPr>
          <p:cNvPr id="13" name="TextBox 12"/>
          <p:cNvSpPr txBox="1"/>
          <p:nvPr/>
        </p:nvSpPr>
        <p:spPr>
          <a:xfrm>
            <a:off x="7644384" y="2825496"/>
            <a:ext cx="4242816" cy="621792"/>
          </a:xfrm>
          <a:prstGeom prst="rect">
            <a:avLst/>
          </a:prstGeom>
          <a:noFill/>
        </p:spPr>
        <p:txBody>
          <a:bodyPr wrap="square">
            <a:spAutoFit/>
          </a:bodyPr>
          <a:lstStyle/>
          <a:p>
            <a:pPr algn="l"/>
            <a:r>
              <a:rPr sz="1300" b="0">
                <a:solidFill>
                  <a:srgbClr val="D0D8E4"/>
                </a:solidFill>
              </a:rPr>
              <a:t>tools — restrict to minimum needed. [read, search] = read-only; [] = conversational only; omit = all defaults.</a:t>
            </a:r>
          </a:p>
        </p:txBody>
      </p:sp>
      <p:sp>
        <p:nvSpPr>
          <p:cNvPr id="14" name="Oval 13"/>
          <p:cNvSpPr/>
          <p:nvPr/>
        </p:nvSpPr>
        <p:spPr>
          <a:xfrm>
            <a:off x="7223760" y="3520440"/>
            <a:ext cx="347472" cy="347472"/>
          </a:xfrm>
          <a:prstGeom prst="ellipse">
            <a:avLst/>
          </a:prstGeom>
          <a:solidFill>
            <a:srgbClr val="F7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④</a:t>
            </a:r>
          </a:p>
        </p:txBody>
      </p:sp>
      <p:sp>
        <p:nvSpPr>
          <p:cNvPr id="15" name="TextBox 14"/>
          <p:cNvSpPr txBox="1"/>
          <p:nvPr/>
        </p:nvSpPr>
        <p:spPr>
          <a:xfrm>
            <a:off x="7644384" y="3483864"/>
            <a:ext cx="4242816" cy="621792"/>
          </a:xfrm>
          <a:prstGeom prst="rect">
            <a:avLst/>
          </a:prstGeom>
          <a:noFill/>
        </p:spPr>
        <p:txBody>
          <a:bodyPr wrap="square">
            <a:spAutoFit/>
          </a:bodyPr>
          <a:lstStyle/>
          <a:p>
            <a:pPr algn="l"/>
            <a:r>
              <a:rPr sz="1300" b="0">
                <a:solidFill>
                  <a:srgbClr val="D0D8E4"/>
                </a:solidFill>
              </a:rPr>
              <a:t>model — override the model. Supports fallback array: ['Claude Sonnet 4.5 (copilot)', 'GPT-5 (copilot)']</a:t>
            </a:r>
          </a:p>
        </p:txBody>
      </p:sp>
      <p:sp>
        <p:nvSpPr>
          <p:cNvPr id="16" name="Oval 15"/>
          <p:cNvSpPr/>
          <p:nvPr/>
        </p:nvSpPr>
        <p:spPr>
          <a:xfrm>
            <a:off x="7223760" y="4178808"/>
            <a:ext cx="347472" cy="347472"/>
          </a:xfrm>
          <a:prstGeom prst="ellipse">
            <a:avLst/>
          </a:prstGeom>
          <a:solidFill>
            <a:srgbClr val="F7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⑤</a:t>
            </a:r>
          </a:p>
        </p:txBody>
      </p:sp>
      <p:sp>
        <p:nvSpPr>
          <p:cNvPr id="17" name="TextBox 16"/>
          <p:cNvSpPr txBox="1"/>
          <p:nvPr/>
        </p:nvSpPr>
        <p:spPr>
          <a:xfrm>
            <a:off x="7644384" y="4142232"/>
            <a:ext cx="4242816" cy="621792"/>
          </a:xfrm>
          <a:prstGeom prst="rect">
            <a:avLst/>
          </a:prstGeom>
          <a:noFill/>
        </p:spPr>
        <p:txBody>
          <a:bodyPr wrap="square">
            <a:spAutoFit/>
          </a:bodyPr>
          <a:lstStyle/>
          <a:p>
            <a:pPr algn="l"/>
            <a:r>
              <a:rPr sz="1300" b="0">
                <a:solidFill>
                  <a:srgbClr val="D0D8E4"/>
                </a:solidFill>
              </a:rPr>
              <a:t>user-invocable: true — shows in agent picker. Set false to hide from picker; agent still accessible as subagent.</a:t>
            </a:r>
          </a:p>
        </p:txBody>
      </p:sp>
      <p:sp>
        <p:nvSpPr>
          <p:cNvPr id="18" name="Oval 17"/>
          <p:cNvSpPr/>
          <p:nvPr/>
        </p:nvSpPr>
        <p:spPr>
          <a:xfrm>
            <a:off x="7223760" y="4837176"/>
            <a:ext cx="347472" cy="347472"/>
          </a:xfrm>
          <a:prstGeom prst="ellipse">
            <a:avLst/>
          </a:prstGeom>
          <a:solidFill>
            <a:srgbClr val="F7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⑥</a:t>
            </a:r>
          </a:p>
        </p:txBody>
      </p:sp>
      <p:sp>
        <p:nvSpPr>
          <p:cNvPr id="19" name="TextBox 18"/>
          <p:cNvSpPr txBox="1"/>
          <p:nvPr/>
        </p:nvSpPr>
        <p:spPr>
          <a:xfrm>
            <a:off x="7644384" y="4800600"/>
            <a:ext cx="4242816" cy="621792"/>
          </a:xfrm>
          <a:prstGeom prst="rect">
            <a:avLst/>
          </a:prstGeom>
          <a:noFill/>
        </p:spPr>
        <p:txBody>
          <a:bodyPr wrap="square">
            <a:spAutoFit/>
          </a:bodyPr>
          <a:lstStyle/>
          <a:p>
            <a:pPr algn="l"/>
            <a:r>
              <a:rPr sz="1300" b="0">
                <a:solidFill>
                  <a:srgbClr val="D0D8E4"/>
                </a:solidFill>
              </a:rPr>
              <a:t>agents: [] — prevent this agent from invoking any subagents. Omit to allow all; list names to restrict.</a:t>
            </a:r>
          </a:p>
        </p:txBody>
      </p:sp>
      <p:sp>
        <p:nvSpPr>
          <p:cNvPr id="20" name="Oval 19"/>
          <p:cNvSpPr/>
          <p:nvPr/>
        </p:nvSpPr>
        <p:spPr>
          <a:xfrm>
            <a:off x="7223760" y="5495544"/>
            <a:ext cx="347472" cy="347472"/>
          </a:xfrm>
          <a:prstGeom prst="ellipse">
            <a:avLst/>
          </a:prstGeom>
          <a:solidFill>
            <a:srgbClr val="F7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⑦</a:t>
            </a:r>
          </a:p>
        </p:txBody>
      </p:sp>
      <p:sp>
        <p:nvSpPr>
          <p:cNvPr id="21" name="TextBox 20"/>
          <p:cNvSpPr txBox="1"/>
          <p:nvPr/>
        </p:nvSpPr>
        <p:spPr>
          <a:xfrm>
            <a:off x="7644384" y="5458968"/>
            <a:ext cx="4242816" cy="621792"/>
          </a:xfrm>
          <a:prstGeom prst="rect">
            <a:avLst/>
          </a:prstGeom>
          <a:noFill/>
        </p:spPr>
        <p:txBody>
          <a:bodyPr wrap="square">
            <a:spAutoFit/>
          </a:bodyPr>
          <a:lstStyle/>
          <a:p>
            <a:pPr algn="l"/>
            <a:r>
              <a:rPr sz="1300" b="0">
                <a:solidFill>
                  <a:srgbClr val="D0D8E4"/>
                </a:solidFill>
              </a:rPr>
              <a:t>Persona statement in body — define the role clearly. This shapes the model's entire behavior.</a:t>
            </a:r>
          </a:p>
        </p:txBody>
      </p:sp>
      <p:sp>
        <p:nvSpPr>
          <p:cNvPr id="22" name="Oval 21"/>
          <p:cNvSpPr/>
          <p:nvPr/>
        </p:nvSpPr>
        <p:spPr>
          <a:xfrm>
            <a:off x="7223760" y="6153912"/>
            <a:ext cx="347472" cy="347472"/>
          </a:xfrm>
          <a:prstGeom prst="ellipse">
            <a:avLst/>
          </a:prstGeom>
          <a:solidFill>
            <a:srgbClr val="F7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⑧</a:t>
            </a:r>
          </a:p>
        </p:txBody>
      </p:sp>
      <p:sp>
        <p:nvSpPr>
          <p:cNvPr id="23" name="TextBox 22"/>
          <p:cNvSpPr txBox="1"/>
          <p:nvPr/>
        </p:nvSpPr>
        <p:spPr>
          <a:xfrm>
            <a:off x="7644384" y="6117336"/>
            <a:ext cx="4242816" cy="621792"/>
          </a:xfrm>
          <a:prstGeom prst="rect">
            <a:avLst/>
          </a:prstGeom>
          <a:noFill/>
        </p:spPr>
        <p:txBody>
          <a:bodyPr wrap="square">
            <a:spAutoFit/>
          </a:bodyPr>
          <a:lstStyle/>
          <a:p>
            <a:pPr algn="l"/>
            <a:r>
              <a:rPr sz="1300" b="0">
                <a:solidFill>
                  <a:srgbClr val="D0D8E4"/>
                </a:solidFill>
              </a:rPr>
              <a:t>Constraints section — explicit DO NOT rules are critical for focused agents. Define exactly what it must NOT do.</a:t>
            </a:r>
          </a:p>
        </p:txBody>
      </p:sp>
      <p:sp>
        <p:nvSpPr>
          <p:cNvPr id="24" name="TextBox 23"/>
          <p:cNvSpPr txBox="1"/>
          <p:nvPr/>
        </p:nvSpPr>
        <p:spPr>
          <a:xfrm>
            <a:off x="10911535" y="6446520"/>
            <a:ext cx="1188720" cy="320040"/>
          </a:xfrm>
          <a:prstGeom prst="rect">
            <a:avLst/>
          </a:prstGeom>
          <a:noFill/>
        </p:spPr>
        <p:txBody>
          <a:bodyPr wrap="square">
            <a:spAutoFit/>
          </a:bodyPr>
          <a:lstStyle/>
          <a:p>
            <a:pPr algn="r"/>
            <a:r>
              <a:rPr sz="1100" b="0">
                <a:solidFill>
                  <a:srgbClr val="88929A"/>
                </a:solidFill>
              </a:rPr>
              <a:t>27 / 39</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30363D"/>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3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515600" cy="640080"/>
          </a:xfrm>
          <a:prstGeom prst="rect">
            <a:avLst/>
          </a:prstGeom>
          <a:noFill/>
        </p:spPr>
        <p:txBody>
          <a:bodyPr wrap="square">
            <a:spAutoFit/>
          </a:bodyPr>
          <a:lstStyle/>
          <a:p>
            <a:pPr algn="l"/>
            <a:r>
              <a:rPr sz="2600" b="1">
                <a:solidFill>
                  <a:srgbClr val="FFFFFF"/>
                </a:solidFill>
              </a:rPr>
              <a:t>Custom Agent Tool Aliases</a:t>
            </a:r>
          </a:p>
        </p:txBody>
      </p:sp>
      <p:sp>
        <p:nvSpPr>
          <p:cNvPr id="4" name="Rectangle 3"/>
          <p:cNvSpPr/>
          <p:nvPr/>
        </p:nvSpPr>
        <p:spPr>
          <a:xfrm>
            <a:off x="502920" y="868680"/>
            <a:ext cx="10241280" cy="27432"/>
          </a:xfrm>
          <a:prstGeom prst="rect">
            <a:avLst/>
          </a:prstGeom>
          <a:solidFill>
            <a:srgbClr val="23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02920" y="1005840"/>
          <a:ext cx="11185854" cy="4279392"/>
        </p:xfrm>
        <a:graphic>
          <a:graphicData uri="http://schemas.openxmlformats.org/drawingml/2006/table">
            <a:tbl>
              <a:tblPr firstRow="1" bandRow="1">
                <a:tableStyleId>{5C22544A-7EE6-4342-B048-85BDC9FD1C3A}</a:tableStyleId>
              </a:tblPr>
              <a:tblGrid>
                <a:gridCol w="2560320"/>
                <a:gridCol w="4312767"/>
                <a:gridCol w="4312767"/>
              </a:tblGrid>
              <a:tr h="475488">
                <a:tc>
                  <a:txBody>
                    <a:bodyPr wrap="square"/>
                    <a:lstStyle/>
                    <a:p>
                      <a:pPr algn="l"/>
                      <a:r>
                        <a:rPr sz="1400" b="1">
                          <a:solidFill>
                            <a:srgbClr val="FFFFFF"/>
                          </a:solidFill>
                        </a:rPr>
                        <a:t>Alias</a:t>
                      </a:r>
                    </a:p>
                  </a:txBody>
                  <a:tcPr>
                    <a:solidFill>
                      <a:srgbClr val="238BE6"/>
                    </a:solidFill>
                  </a:tcPr>
                </a:tc>
                <a:tc>
                  <a:txBody>
                    <a:bodyPr wrap="square"/>
                    <a:lstStyle/>
                    <a:p>
                      <a:pPr algn="l"/>
                      <a:r>
                        <a:rPr sz="1400" b="1">
                          <a:solidFill>
                            <a:srgbClr val="FFFFFF"/>
                          </a:solidFill>
                        </a:rPr>
                        <a:t>What It Provides</a:t>
                      </a:r>
                    </a:p>
                  </a:txBody>
                  <a:tcPr>
                    <a:solidFill>
                      <a:srgbClr val="238BE6"/>
                    </a:solidFill>
                  </a:tcPr>
                </a:tc>
                <a:tc>
                  <a:txBody>
                    <a:bodyPr wrap="square"/>
                    <a:lstStyle/>
                    <a:p>
                      <a:pPr algn="l"/>
                      <a:r>
                        <a:rPr sz="1400" b="1">
                          <a:solidFill>
                            <a:srgbClr val="FFFFFF"/>
                          </a:solidFill>
                        </a:rPr>
                        <a:t>Use When</a:t>
                      </a:r>
                    </a:p>
                  </a:txBody>
                  <a:tcPr>
                    <a:solidFill>
                      <a:srgbClr val="238BE6"/>
                    </a:solidFill>
                  </a:tcPr>
                </a:tc>
              </a:tr>
              <a:tr h="475488">
                <a:tc>
                  <a:txBody>
                    <a:bodyPr wrap="square"/>
                    <a:lstStyle/>
                    <a:p>
                      <a:pPr algn="l"/>
                      <a:r>
                        <a:rPr sz="1300" b="0">
                          <a:solidFill>
                            <a:srgbClr val="FFFFFF"/>
                          </a:solidFill>
                        </a:rPr>
                        <a:t>read</a:t>
                      </a:r>
                    </a:p>
                  </a:txBody>
                  <a:tcPr>
                    <a:solidFill>
                      <a:srgbClr val="232B33"/>
                    </a:solidFill>
                  </a:tcPr>
                </a:tc>
                <a:tc>
                  <a:txBody>
                    <a:bodyPr wrap="square"/>
                    <a:lstStyle/>
                    <a:p>
                      <a:pPr algn="l"/>
                      <a:r>
                        <a:rPr sz="1300" b="0">
                          <a:solidFill>
                            <a:srgbClr val="FFFFFF"/>
                          </a:solidFill>
                        </a:rPr>
                        <a:t>Read file contents</a:t>
                      </a:r>
                    </a:p>
                  </a:txBody>
                  <a:tcPr>
                    <a:solidFill>
                      <a:srgbClr val="232B33"/>
                    </a:solidFill>
                  </a:tcPr>
                </a:tc>
                <a:tc>
                  <a:txBody>
                    <a:bodyPr wrap="square"/>
                    <a:lstStyle/>
                    <a:p>
                      <a:pPr algn="l"/>
                      <a:r>
                        <a:rPr sz="1300" b="0">
                          <a:solidFill>
                            <a:srgbClr val="FFFFFF"/>
                          </a:solidFill>
                        </a:rPr>
                        <a:t>Any agent that needs to inspect code or config</a:t>
                      </a:r>
                    </a:p>
                  </a:txBody>
                  <a:tcPr>
                    <a:solidFill>
                      <a:srgbClr val="232B33"/>
                    </a:solidFill>
                  </a:tcPr>
                </a:tc>
              </a:tr>
              <a:tr h="475488">
                <a:tc>
                  <a:txBody>
                    <a:bodyPr wrap="square"/>
                    <a:lstStyle/>
                    <a:p>
                      <a:pPr algn="l"/>
                      <a:r>
                        <a:rPr sz="1300" b="0">
                          <a:solidFill>
                            <a:srgbClr val="FFFFFF"/>
                          </a:solidFill>
                        </a:rPr>
                        <a:t>edit</a:t>
                      </a:r>
                    </a:p>
                  </a:txBody>
                  <a:tcPr>
                    <a:solidFill>
                      <a:srgbClr val="1C232A"/>
                    </a:solidFill>
                  </a:tcPr>
                </a:tc>
                <a:tc>
                  <a:txBody>
                    <a:bodyPr wrap="square"/>
                    <a:lstStyle/>
                    <a:p>
                      <a:pPr algn="l"/>
                      <a:r>
                        <a:rPr sz="1300" b="0">
                          <a:solidFill>
                            <a:srgbClr val="FFFFFF"/>
                          </a:solidFill>
                        </a:rPr>
                        <a:t>Edit / create files</a:t>
                      </a:r>
                    </a:p>
                  </a:txBody>
                  <a:tcPr>
                    <a:solidFill>
                      <a:srgbClr val="1C232A"/>
                    </a:solidFill>
                  </a:tcPr>
                </a:tc>
                <a:tc>
                  <a:txBody>
                    <a:bodyPr wrap="square"/>
                    <a:lstStyle/>
                    <a:p>
                      <a:pPr algn="l"/>
                      <a:r>
                        <a:rPr sz="1300" b="0">
                          <a:solidFill>
                            <a:srgbClr val="FFFFFF"/>
                          </a:solidFill>
                        </a:rPr>
                        <a:t>Implementation agents that write code</a:t>
                      </a:r>
                    </a:p>
                  </a:txBody>
                  <a:tcPr>
                    <a:solidFill>
                      <a:srgbClr val="1C232A"/>
                    </a:solidFill>
                  </a:tcPr>
                </a:tc>
              </a:tr>
              <a:tr h="475488">
                <a:tc>
                  <a:txBody>
                    <a:bodyPr wrap="square"/>
                    <a:lstStyle/>
                    <a:p>
                      <a:pPr algn="l"/>
                      <a:r>
                        <a:rPr sz="1300" b="0">
                          <a:solidFill>
                            <a:srgbClr val="FFFFFF"/>
                          </a:solidFill>
                        </a:rPr>
                        <a:t>search</a:t>
                      </a:r>
                    </a:p>
                  </a:txBody>
                  <a:tcPr>
                    <a:solidFill>
                      <a:srgbClr val="232B33"/>
                    </a:solidFill>
                  </a:tcPr>
                </a:tc>
                <a:tc>
                  <a:txBody>
                    <a:bodyPr wrap="square"/>
                    <a:lstStyle/>
                    <a:p>
                      <a:pPr algn="l"/>
                      <a:r>
                        <a:rPr sz="1300" b="0">
                          <a:solidFill>
                            <a:srgbClr val="FFFFFF"/>
                          </a:solidFill>
                        </a:rPr>
                        <a:t>Search files and text in workspace</a:t>
                      </a:r>
                    </a:p>
                  </a:txBody>
                  <a:tcPr>
                    <a:solidFill>
                      <a:srgbClr val="232B33"/>
                    </a:solidFill>
                  </a:tcPr>
                </a:tc>
                <a:tc>
                  <a:txBody>
                    <a:bodyPr wrap="square"/>
                    <a:lstStyle/>
                    <a:p>
                      <a:pPr algn="l"/>
                      <a:r>
                        <a:rPr sz="1300" b="0">
                          <a:solidFill>
                            <a:srgbClr val="FFFFFF"/>
                          </a:solidFill>
                        </a:rPr>
                        <a:t>Research or review agents</a:t>
                      </a:r>
                    </a:p>
                  </a:txBody>
                  <a:tcPr>
                    <a:solidFill>
                      <a:srgbClr val="232B33"/>
                    </a:solidFill>
                  </a:tcPr>
                </a:tc>
              </a:tr>
              <a:tr h="475488">
                <a:tc>
                  <a:txBody>
                    <a:bodyPr wrap="square"/>
                    <a:lstStyle/>
                    <a:p>
                      <a:pPr algn="l"/>
                      <a:r>
                        <a:rPr sz="1300" b="0">
                          <a:solidFill>
                            <a:srgbClr val="FFFFFF"/>
                          </a:solidFill>
                        </a:rPr>
                        <a:t>execute</a:t>
                      </a:r>
                    </a:p>
                  </a:txBody>
                  <a:tcPr>
                    <a:solidFill>
                      <a:srgbClr val="1C232A"/>
                    </a:solidFill>
                  </a:tcPr>
                </a:tc>
                <a:tc>
                  <a:txBody>
                    <a:bodyPr wrap="square"/>
                    <a:lstStyle/>
                    <a:p>
                      <a:pPr algn="l"/>
                      <a:r>
                        <a:rPr sz="1300" b="0">
                          <a:solidFill>
                            <a:srgbClr val="FFFFFF"/>
                          </a:solidFill>
                        </a:rPr>
                        <a:t>Run shell commands in terminal</a:t>
                      </a:r>
                    </a:p>
                  </a:txBody>
                  <a:tcPr>
                    <a:solidFill>
                      <a:srgbClr val="1C232A"/>
                    </a:solidFill>
                  </a:tcPr>
                </a:tc>
                <a:tc>
                  <a:txBody>
                    <a:bodyPr wrap="square"/>
                    <a:lstStyle/>
                    <a:p>
                      <a:pPr algn="l"/>
                      <a:r>
                        <a:rPr sz="1300" b="0">
                          <a:solidFill>
                            <a:srgbClr val="FFFFFF"/>
                          </a:solidFill>
                        </a:rPr>
                        <a:t>Build, test, or deploy agents — use carefully</a:t>
                      </a:r>
                    </a:p>
                  </a:txBody>
                  <a:tcPr>
                    <a:solidFill>
                      <a:srgbClr val="1C232A"/>
                    </a:solidFill>
                  </a:tcPr>
                </a:tc>
              </a:tr>
              <a:tr h="475488">
                <a:tc>
                  <a:txBody>
                    <a:bodyPr wrap="square"/>
                    <a:lstStyle/>
                    <a:p>
                      <a:pPr algn="l"/>
                      <a:r>
                        <a:rPr sz="1300" b="0">
                          <a:solidFill>
                            <a:srgbClr val="FFFFFF"/>
                          </a:solidFill>
                        </a:rPr>
                        <a:t>agent</a:t>
                      </a:r>
                    </a:p>
                  </a:txBody>
                  <a:tcPr>
                    <a:solidFill>
                      <a:srgbClr val="232B33"/>
                    </a:solidFill>
                  </a:tcPr>
                </a:tc>
                <a:tc>
                  <a:txBody>
                    <a:bodyPr wrap="square"/>
                    <a:lstStyle/>
                    <a:p>
                      <a:pPr algn="l"/>
                      <a:r>
                        <a:rPr sz="1300" b="0">
                          <a:solidFill>
                            <a:srgbClr val="FFFFFF"/>
                          </a:solidFill>
                        </a:rPr>
                        <a:t>Invoke other custom agents as subagents</a:t>
                      </a:r>
                    </a:p>
                  </a:txBody>
                  <a:tcPr>
                    <a:solidFill>
                      <a:srgbClr val="232B33"/>
                    </a:solidFill>
                  </a:tcPr>
                </a:tc>
                <a:tc>
                  <a:txBody>
                    <a:bodyPr wrap="square"/>
                    <a:lstStyle/>
                    <a:p>
                      <a:pPr algn="l"/>
                      <a:r>
                        <a:rPr sz="1300" b="0">
                          <a:solidFill>
                            <a:srgbClr val="FFFFFF"/>
                          </a:solidFill>
                        </a:rPr>
                        <a:t>Orchestrator agents that delegate to specialists</a:t>
                      </a:r>
                    </a:p>
                  </a:txBody>
                  <a:tcPr>
                    <a:solidFill>
                      <a:srgbClr val="232B33"/>
                    </a:solidFill>
                  </a:tcPr>
                </a:tc>
              </a:tr>
              <a:tr h="475488">
                <a:tc>
                  <a:txBody>
                    <a:bodyPr wrap="square"/>
                    <a:lstStyle/>
                    <a:p>
                      <a:pPr algn="l"/>
                      <a:r>
                        <a:rPr sz="1300" b="0">
                          <a:solidFill>
                            <a:srgbClr val="FFFFFF"/>
                          </a:solidFill>
                        </a:rPr>
                        <a:t>web</a:t>
                      </a:r>
                    </a:p>
                  </a:txBody>
                  <a:tcPr>
                    <a:solidFill>
                      <a:srgbClr val="1C232A"/>
                    </a:solidFill>
                  </a:tcPr>
                </a:tc>
                <a:tc>
                  <a:txBody>
                    <a:bodyPr wrap="square"/>
                    <a:lstStyle/>
                    <a:p>
                      <a:pPr algn="l"/>
                      <a:r>
                        <a:rPr sz="1300" b="0">
                          <a:solidFill>
                            <a:srgbClr val="FFFFFF"/>
                          </a:solidFill>
                        </a:rPr>
                        <a:t>Fetch URLs and web search</a:t>
                      </a:r>
                    </a:p>
                  </a:txBody>
                  <a:tcPr>
                    <a:solidFill>
                      <a:srgbClr val="1C232A"/>
                    </a:solidFill>
                  </a:tcPr>
                </a:tc>
                <a:tc>
                  <a:txBody>
                    <a:bodyPr wrap="square"/>
                    <a:lstStyle/>
                    <a:p>
                      <a:pPr algn="l"/>
                      <a:r>
                        <a:rPr sz="1300" b="0">
                          <a:solidFill>
                            <a:srgbClr val="FFFFFF"/>
                          </a:solidFill>
                        </a:rPr>
                        <a:t>Agents that need external documentation or APIs</a:t>
                      </a:r>
                    </a:p>
                  </a:txBody>
                  <a:tcPr>
                    <a:solidFill>
                      <a:srgbClr val="1C232A"/>
                    </a:solidFill>
                  </a:tcPr>
                </a:tc>
              </a:tr>
              <a:tr h="475488">
                <a:tc>
                  <a:txBody>
                    <a:bodyPr wrap="square"/>
                    <a:lstStyle/>
                    <a:p>
                      <a:pPr algn="l"/>
                      <a:r>
                        <a:rPr sz="1300" b="0">
                          <a:solidFill>
                            <a:srgbClr val="FFFFFF"/>
                          </a:solidFill>
                        </a:rPr>
                        <a:t>todo</a:t>
                      </a:r>
                    </a:p>
                  </a:txBody>
                  <a:tcPr>
                    <a:solidFill>
                      <a:srgbClr val="232B33"/>
                    </a:solidFill>
                  </a:tcPr>
                </a:tc>
                <a:tc>
                  <a:txBody>
                    <a:bodyPr wrap="square"/>
                    <a:lstStyle/>
                    <a:p>
                      <a:pPr algn="l"/>
                      <a:r>
                        <a:rPr sz="1300" b="0">
                          <a:solidFill>
                            <a:srgbClr val="FFFFFF"/>
                          </a:solidFill>
                        </a:rPr>
                        <a:t>Manage the task list</a:t>
                      </a:r>
                    </a:p>
                  </a:txBody>
                  <a:tcPr>
                    <a:solidFill>
                      <a:srgbClr val="232B33"/>
                    </a:solidFill>
                  </a:tcPr>
                </a:tc>
                <a:tc>
                  <a:txBody>
                    <a:bodyPr wrap="square"/>
                    <a:lstStyle/>
                    <a:p>
                      <a:pPr algn="l"/>
                      <a:r>
                        <a:rPr sz="1300" b="0">
                          <a:solidFill>
                            <a:srgbClr val="FFFFFF"/>
                          </a:solidFill>
                        </a:rPr>
                        <a:t>Long multi-step planning agents</a:t>
                      </a:r>
                    </a:p>
                  </a:txBody>
                  <a:tcPr>
                    <a:solidFill>
                      <a:srgbClr val="232B33"/>
                    </a:solidFill>
                  </a:tcPr>
                </a:tc>
              </a:tr>
              <a:tr h="475488">
                <a:tc>
                  <a:txBody>
                    <a:bodyPr wrap="square"/>
                    <a:lstStyle/>
                    <a:p>
                      <a:pPr algn="l"/>
                      <a:r>
                        <a:rPr sz="1300" b="0">
                          <a:solidFill>
                            <a:srgbClr val="FFFFFF"/>
                          </a:solidFill>
                        </a:rPr>
                        <a:t>[]</a:t>
                      </a:r>
                    </a:p>
                  </a:txBody>
                  <a:tcPr>
                    <a:solidFill>
                      <a:srgbClr val="1C232A"/>
                    </a:solidFill>
                  </a:tcPr>
                </a:tc>
                <a:tc>
                  <a:txBody>
                    <a:bodyPr wrap="square"/>
                    <a:lstStyle/>
                    <a:p>
                      <a:pPr algn="l"/>
                      <a:r>
                        <a:rPr sz="1300" b="0">
                          <a:solidFill>
                            <a:srgbClr val="FFFFFF"/>
                          </a:solidFill>
                        </a:rPr>
                        <a:t>No tools — conversational only</a:t>
                      </a:r>
                    </a:p>
                  </a:txBody>
                  <a:tcPr>
                    <a:solidFill>
                      <a:srgbClr val="1C232A"/>
                    </a:solidFill>
                  </a:tcPr>
                </a:tc>
                <a:tc>
                  <a:txBody>
                    <a:bodyPr wrap="square"/>
                    <a:lstStyle/>
                    <a:p>
                      <a:pPr algn="l"/>
                      <a:r>
                        <a:rPr sz="1300" b="0">
                          <a:solidFill>
                            <a:srgbClr val="FFFFFF"/>
                          </a:solidFill>
                        </a:rPr>
                        <a:t>Q&amp;A or explanation agents with no workspace access</a:t>
                      </a:r>
                    </a:p>
                  </a:txBody>
                  <a:tcPr>
                    <a:solidFill>
                      <a:srgbClr val="1C232A"/>
                    </a:solidFill>
                  </a:tcPr>
                </a:tc>
              </a:tr>
            </a:tbl>
          </a:graphicData>
        </a:graphic>
      </p:graphicFrame>
      <p:sp>
        <p:nvSpPr>
          <p:cNvPr id="6" name="TextBox 5"/>
          <p:cNvSpPr txBox="1"/>
          <p:nvPr/>
        </p:nvSpPr>
        <p:spPr>
          <a:xfrm>
            <a:off x="10911535" y="6446520"/>
            <a:ext cx="1188720" cy="320040"/>
          </a:xfrm>
          <a:prstGeom prst="rect">
            <a:avLst/>
          </a:prstGeom>
          <a:noFill/>
        </p:spPr>
        <p:txBody>
          <a:bodyPr wrap="square">
            <a:spAutoFit/>
          </a:bodyPr>
          <a:lstStyle/>
          <a:p>
            <a:pPr algn="r"/>
            <a:r>
              <a:rPr sz="1100" b="0">
                <a:solidFill>
                  <a:srgbClr val="88929A"/>
                </a:solidFill>
              </a:rPr>
              <a:t>28 / 39</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CF2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9144000" cy="457200"/>
          </a:xfrm>
          <a:prstGeom prst="rect">
            <a:avLst/>
          </a:prstGeom>
          <a:noFill/>
        </p:spPr>
        <p:txBody>
          <a:bodyPr wrap="square">
            <a:spAutoFit/>
          </a:bodyPr>
          <a:lstStyle/>
          <a:p>
            <a:pPr algn="l"/>
            <a:r>
              <a:rPr sz="1400" b="0">
                <a:solidFill>
                  <a:srgbClr val="CF222E"/>
                </a:solidFill>
              </a:rPr>
              <a:t>SECTION  10</a:t>
            </a:r>
          </a:p>
        </p:txBody>
      </p:sp>
      <p:sp>
        <p:nvSpPr>
          <p:cNvPr id="4" name="TextBox 3"/>
          <p:cNvSpPr txBox="1"/>
          <p:nvPr/>
        </p:nvSpPr>
        <p:spPr>
          <a:xfrm>
            <a:off x="457200" y="2651760"/>
            <a:ext cx="10058400" cy="1280160"/>
          </a:xfrm>
          <a:prstGeom prst="rect">
            <a:avLst/>
          </a:prstGeom>
          <a:noFill/>
        </p:spPr>
        <p:txBody>
          <a:bodyPr wrap="square">
            <a:spAutoFit/>
          </a:bodyPr>
          <a:lstStyle/>
          <a:p>
            <a:pPr algn="l"/>
            <a:r>
              <a:rPr sz="4000" b="1">
                <a:solidFill>
                  <a:srgbClr val="FFFFFF"/>
                </a:solidFill>
              </a:rPr>
              <a:t>Hooks  (.json)</a:t>
            </a:r>
          </a:p>
        </p:txBody>
      </p:sp>
      <p:sp>
        <p:nvSpPr>
          <p:cNvPr id="5" name="Rectangle 4"/>
          <p:cNvSpPr/>
          <p:nvPr/>
        </p:nvSpPr>
        <p:spPr>
          <a:xfrm>
            <a:off x="457200" y="3977639"/>
            <a:ext cx="1463040" cy="54864"/>
          </a:xfrm>
          <a:prstGeom prst="rect">
            <a:avLst/>
          </a:prstGeom>
          <a:solidFill>
            <a:srgbClr val="CF2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30363D"/>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CF2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515600" cy="640080"/>
          </a:xfrm>
          <a:prstGeom prst="rect">
            <a:avLst/>
          </a:prstGeom>
          <a:noFill/>
        </p:spPr>
        <p:txBody>
          <a:bodyPr wrap="square">
            <a:spAutoFit/>
          </a:bodyPr>
          <a:lstStyle/>
          <a:p>
            <a:pPr algn="l"/>
            <a:r>
              <a:rPr sz="2400" b="1">
                <a:solidFill>
                  <a:srgbClr val="FFFFFF"/>
                </a:solidFill>
              </a:rPr>
              <a:t>Hooks — Configuration Format &amp; Key Lines</a:t>
            </a:r>
          </a:p>
        </p:txBody>
      </p:sp>
      <p:sp>
        <p:nvSpPr>
          <p:cNvPr id="4" name="Rectangle 3"/>
          <p:cNvSpPr/>
          <p:nvPr/>
        </p:nvSpPr>
        <p:spPr>
          <a:xfrm>
            <a:off x="502920" y="868680"/>
            <a:ext cx="10241280" cy="27432"/>
          </a:xfrm>
          <a:prstGeom prst="rect">
            <a:avLst/>
          </a:prstGeom>
          <a:solidFill>
            <a:srgbClr val="CF2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914400"/>
            <a:ext cx="11155680" cy="502920"/>
          </a:xfrm>
          <a:prstGeom prst="rect">
            <a:avLst/>
          </a:prstGeom>
          <a:noFill/>
        </p:spPr>
        <p:txBody>
          <a:bodyPr wrap="square">
            <a:spAutoFit/>
          </a:bodyPr>
          <a:lstStyle/>
          <a:p>
            <a:pPr algn="l"/>
            <a:r>
              <a:rPr sz="1400" b="0">
                <a:solidFill>
                  <a:srgbClr val="A0AAB4"/>
                </a:solidFill>
              </a:rPr>
              <a:t>File: .github/hooks/prevent-force-push.json   (team-shared)  or  .claude/settings.local.json  (local only)</a:t>
            </a:r>
          </a:p>
        </p:txBody>
      </p:sp>
      <p:sp>
        <p:nvSpPr>
          <p:cNvPr id="6" name="Rectangle 5"/>
          <p:cNvSpPr/>
          <p:nvPr/>
        </p:nvSpPr>
        <p:spPr>
          <a:xfrm>
            <a:off x="502920" y="1463040"/>
            <a:ext cx="6492240" cy="512064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572768"/>
            <a:ext cx="6217920" cy="4937760"/>
          </a:xfrm>
          <a:prstGeom prst="rect">
            <a:avLst/>
          </a:prstGeom>
          <a:noFill/>
        </p:spPr>
        <p:txBody>
          <a:bodyPr wrap="square">
            <a:spAutoFit/>
          </a:bodyPr>
          <a:lstStyle/>
          <a:p>
            <a:pPr algn="l"/>
            <a:r>
              <a:rPr sz="1200" b="0">
                <a:solidFill>
                  <a:srgbClr val="A8CC88"/>
                </a:solidFill>
              </a:rPr>
              <a:t>{
  "hooks": {             ①
    "PreToolUse": [      ②
      {
        "type": "command",  ③
        "command": "./scripts/validate-tool.sh",  ④
        "windows": "pwsh ./scripts/validate-tool.ps1",  ⑤
        "timeout": 15       ⑥
      }
    ]
  }
}</a:t>
            </a:r>
          </a:p>
        </p:txBody>
      </p:sp>
      <p:sp>
        <p:nvSpPr>
          <p:cNvPr id="8" name="Oval 7"/>
          <p:cNvSpPr/>
          <p:nvPr/>
        </p:nvSpPr>
        <p:spPr>
          <a:xfrm>
            <a:off x="7223760" y="1545336"/>
            <a:ext cx="347472" cy="347472"/>
          </a:xfrm>
          <a:prstGeom prst="ellipse">
            <a:avLst/>
          </a:prstGeom>
          <a:solidFill>
            <a:srgbClr val="CF2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①</a:t>
            </a:r>
          </a:p>
        </p:txBody>
      </p:sp>
      <p:sp>
        <p:nvSpPr>
          <p:cNvPr id="9" name="TextBox 8"/>
          <p:cNvSpPr txBox="1"/>
          <p:nvPr/>
        </p:nvSpPr>
        <p:spPr>
          <a:xfrm>
            <a:off x="7644384" y="1508760"/>
            <a:ext cx="4242816" cy="621792"/>
          </a:xfrm>
          <a:prstGeom prst="rect">
            <a:avLst/>
          </a:prstGeom>
          <a:noFill/>
        </p:spPr>
        <p:txBody>
          <a:bodyPr wrap="square">
            <a:spAutoFit/>
          </a:bodyPr>
          <a:lstStyle/>
          <a:p>
            <a:pPr algn="l"/>
            <a:r>
              <a:rPr sz="1300" b="0">
                <a:solidFill>
                  <a:srgbClr val="D0D8E4"/>
                </a:solidFill>
              </a:rPr>
              <a:t>hooks — top-level object. Contains one key per lifecycle event. Multiple events can be defined in the same file.</a:t>
            </a:r>
          </a:p>
        </p:txBody>
      </p:sp>
      <p:sp>
        <p:nvSpPr>
          <p:cNvPr id="10" name="Oval 9"/>
          <p:cNvSpPr/>
          <p:nvPr/>
        </p:nvSpPr>
        <p:spPr>
          <a:xfrm>
            <a:off x="7223760" y="2203704"/>
            <a:ext cx="347472" cy="347472"/>
          </a:xfrm>
          <a:prstGeom prst="ellipse">
            <a:avLst/>
          </a:prstGeom>
          <a:solidFill>
            <a:srgbClr val="CF2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②</a:t>
            </a:r>
          </a:p>
        </p:txBody>
      </p:sp>
      <p:sp>
        <p:nvSpPr>
          <p:cNvPr id="11" name="TextBox 10"/>
          <p:cNvSpPr txBox="1"/>
          <p:nvPr/>
        </p:nvSpPr>
        <p:spPr>
          <a:xfrm>
            <a:off x="7644384" y="2167128"/>
            <a:ext cx="4242816" cy="621792"/>
          </a:xfrm>
          <a:prstGeom prst="rect">
            <a:avLst/>
          </a:prstGeom>
          <a:noFill/>
        </p:spPr>
        <p:txBody>
          <a:bodyPr wrap="square">
            <a:spAutoFit/>
          </a:bodyPr>
          <a:lstStyle/>
          <a:p>
            <a:pPr algn="l"/>
            <a:r>
              <a:rPr sz="1300" b="0">
                <a:solidFill>
                  <a:srgbClr val="D0D8E4"/>
                </a:solidFill>
              </a:rPr>
              <a:t>PreToolUse — the event name. Hook fires BEFORE every tool call. Other events: PostToolUse, SessionStart, UserPromptSubmit, Stop, SubagentStart/Stop, PreCompact.</a:t>
            </a:r>
          </a:p>
        </p:txBody>
      </p:sp>
      <p:sp>
        <p:nvSpPr>
          <p:cNvPr id="12" name="Oval 11"/>
          <p:cNvSpPr/>
          <p:nvPr/>
        </p:nvSpPr>
        <p:spPr>
          <a:xfrm>
            <a:off x="7223760" y="2862072"/>
            <a:ext cx="347472" cy="347472"/>
          </a:xfrm>
          <a:prstGeom prst="ellipse">
            <a:avLst/>
          </a:prstGeom>
          <a:solidFill>
            <a:srgbClr val="CF2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③</a:t>
            </a:r>
          </a:p>
        </p:txBody>
      </p:sp>
      <p:sp>
        <p:nvSpPr>
          <p:cNvPr id="13" name="TextBox 12"/>
          <p:cNvSpPr txBox="1"/>
          <p:nvPr/>
        </p:nvSpPr>
        <p:spPr>
          <a:xfrm>
            <a:off x="7644384" y="2825496"/>
            <a:ext cx="4242816" cy="621792"/>
          </a:xfrm>
          <a:prstGeom prst="rect">
            <a:avLst/>
          </a:prstGeom>
          <a:noFill/>
        </p:spPr>
        <p:txBody>
          <a:bodyPr wrap="square">
            <a:spAutoFit/>
          </a:bodyPr>
          <a:lstStyle/>
          <a:p>
            <a:pPr algn="l"/>
            <a:r>
              <a:rPr sz="1300" b="0">
                <a:solidFill>
                  <a:srgbClr val="D0D8E4"/>
                </a:solidFill>
              </a:rPr>
              <a:t>type: 'command' — the only supported type. The hook always runs a shell command.</a:t>
            </a:r>
          </a:p>
        </p:txBody>
      </p:sp>
      <p:sp>
        <p:nvSpPr>
          <p:cNvPr id="14" name="Oval 13"/>
          <p:cNvSpPr/>
          <p:nvPr/>
        </p:nvSpPr>
        <p:spPr>
          <a:xfrm>
            <a:off x="7223760" y="3520440"/>
            <a:ext cx="347472" cy="347472"/>
          </a:xfrm>
          <a:prstGeom prst="ellipse">
            <a:avLst/>
          </a:prstGeom>
          <a:solidFill>
            <a:srgbClr val="CF2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④</a:t>
            </a:r>
          </a:p>
        </p:txBody>
      </p:sp>
      <p:sp>
        <p:nvSpPr>
          <p:cNvPr id="15" name="TextBox 14"/>
          <p:cNvSpPr txBox="1"/>
          <p:nvPr/>
        </p:nvSpPr>
        <p:spPr>
          <a:xfrm>
            <a:off x="7644384" y="3483864"/>
            <a:ext cx="4242816" cy="621792"/>
          </a:xfrm>
          <a:prstGeom prst="rect">
            <a:avLst/>
          </a:prstGeom>
          <a:noFill/>
        </p:spPr>
        <p:txBody>
          <a:bodyPr wrap="square">
            <a:spAutoFit/>
          </a:bodyPr>
          <a:lstStyle/>
          <a:p>
            <a:pPr algn="l"/>
            <a:r>
              <a:rPr sz="1300" b="0">
                <a:solidFill>
                  <a:srgbClr val="D0D8E4"/>
                </a:solidFill>
              </a:rPr>
              <a:t>command — the default command (runs on Linux/macOS). The script receives tool context as JSON on stdin.</a:t>
            </a:r>
          </a:p>
        </p:txBody>
      </p:sp>
      <p:sp>
        <p:nvSpPr>
          <p:cNvPr id="16" name="Oval 15"/>
          <p:cNvSpPr/>
          <p:nvPr/>
        </p:nvSpPr>
        <p:spPr>
          <a:xfrm>
            <a:off x="7223760" y="4178808"/>
            <a:ext cx="347472" cy="347472"/>
          </a:xfrm>
          <a:prstGeom prst="ellipse">
            <a:avLst/>
          </a:prstGeom>
          <a:solidFill>
            <a:srgbClr val="CF2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⑤</a:t>
            </a:r>
          </a:p>
        </p:txBody>
      </p:sp>
      <p:sp>
        <p:nvSpPr>
          <p:cNvPr id="17" name="TextBox 16"/>
          <p:cNvSpPr txBox="1"/>
          <p:nvPr/>
        </p:nvSpPr>
        <p:spPr>
          <a:xfrm>
            <a:off x="7644384" y="4142232"/>
            <a:ext cx="4242816" cy="621792"/>
          </a:xfrm>
          <a:prstGeom prst="rect">
            <a:avLst/>
          </a:prstGeom>
          <a:noFill/>
        </p:spPr>
        <p:txBody>
          <a:bodyPr wrap="square">
            <a:spAutoFit/>
          </a:bodyPr>
          <a:lstStyle/>
          <a:p>
            <a:pPr algn="l"/>
            <a:r>
              <a:rPr sz="1300" b="0">
                <a:solidFill>
                  <a:srgbClr val="D0D8E4"/>
                </a:solidFill>
              </a:rPr>
              <a:t>windows — platform override. Use this to provide a PowerShell equivalent on Windows. Also: linux and osx overrides available.</a:t>
            </a:r>
          </a:p>
        </p:txBody>
      </p:sp>
      <p:sp>
        <p:nvSpPr>
          <p:cNvPr id="18" name="Oval 17"/>
          <p:cNvSpPr/>
          <p:nvPr/>
        </p:nvSpPr>
        <p:spPr>
          <a:xfrm>
            <a:off x="7223760" y="4837176"/>
            <a:ext cx="347472" cy="347472"/>
          </a:xfrm>
          <a:prstGeom prst="ellipse">
            <a:avLst/>
          </a:prstGeom>
          <a:solidFill>
            <a:srgbClr val="CF2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⑥</a:t>
            </a:r>
          </a:p>
        </p:txBody>
      </p:sp>
      <p:sp>
        <p:nvSpPr>
          <p:cNvPr id="19" name="TextBox 18"/>
          <p:cNvSpPr txBox="1"/>
          <p:nvPr/>
        </p:nvSpPr>
        <p:spPr>
          <a:xfrm>
            <a:off x="7644384" y="4800600"/>
            <a:ext cx="4242816" cy="621792"/>
          </a:xfrm>
          <a:prstGeom prst="rect">
            <a:avLst/>
          </a:prstGeom>
          <a:noFill/>
        </p:spPr>
        <p:txBody>
          <a:bodyPr wrap="square">
            <a:spAutoFit/>
          </a:bodyPr>
          <a:lstStyle/>
          <a:p>
            <a:pPr algn="l"/>
            <a:r>
              <a:rPr sz="1300" b="0">
                <a:solidFill>
                  <a:srgbClr val="D0D8E4"/>
                </a:solidFill>
              </a:rPr>
              <a:t>timeout — seconds before the hook is killed. Keep hooks fast — long-running hooks block the agent.</a:t>
            </a:r>
          </a:p>
        </p:txBody>
      </p:sp>
      <p:sp>
        <p:nvSpPr>
          <p:cNvPr id="20" name="TextBox 19"/>
          <p:cNvSpPr txBox="1"/>
          <p:nvPr/>
        </p:nvSpPr>
        <p:spPr>
          <a:xfrm>
            <a:off x="10911535" y="6446520"/>
            <a:ext cx="1188720" cy="320040"/>
          </a:xfrm>
          <a:prstGeom prst="rect">
            <a:avLst/>
          </a:prstGeom>
          <a:noFill/>
        </p:spPr>
        <p:txBody>
          <a:bodyPr wrap="square">
            <a:spAutoFit/>
          </a:bodyPr>
          <a:lstStyle/>
          <a:p>
            <a:pPr algn="r"/>
            <a:r>
              <a:rPr sz="1100" b="0">
                <a:solidFill>
                  <a:srgbClr val="88929A"/>
                </a:solidFill>
              </a:rPr>
              <a:t>30 / 39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30363D"/>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CF2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515600" cy="640080"/>
          </a:xfrm>
          <a:prstGeom prst="rect">
            <a:avLst/>
          </a:prstGeom>
          <a:noFill/>
        </p:spPr>
        <p:txBody>
          <a:bodyPr wrap="square">
            <a:spAutoFit/>
          </a:bodyPr>
          <a:lstStyle/>
          <a:p>
            <a:pPr algn="l"/>
            <a:r>
              <a:rPr sz="2400" b="1">
                <a:solidFill>
                  <a:srgbClr val="FFFFFF"/>
                </a:solidFill>
              </a:rPr>
              <a:t>Hooks — Input / Output Contract</a:t>
            </a:r>
          </a:p>
        </p:txBody>
      </p:sp>
      <p:sp>
        <p:nvSpPr>
          <p:cNvPr id="4" name="Rectangle 3"/>
          <p:cNvSpPr/>
          <p:nvPr/>
        </p:nvSpPr>
        <p:spPr>
          <a:xfrm>
            <a:off x="502920" y="868680"/>
            <a:ext cx="10241280" cy="27432"/>
          </a:xfrm>
          <a:prstGeom prst="rect">
            <a:avLst/>
          </a:prstGeom>
          <a:solidFill>
            <a:srgbClr val="CF2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914400"/>
            <a:ext cx="11155680" cy="502920"/>
          </a:xfrm>
          <a:prstGeom prst="rect">
            <a:avLst/>
          </a:prstGeom>
          <a:noFill/>
        </p:spPr>
        <p:txBody>
          <a:bodyPr wrap="square">
            <a:spAutoFit/>
          </a:bodyPr>
          <a:lstStyle/>
          <a:p>
            <a:pPr algn="l"/>
            <a:r>
              <a:rPr sz="1400" b="0">
                <a:solidFill>
                  <a:srgbClr val="A0AAB4"/>
                </a:solidFill>
              </a:rPr>
              <a:t>Hooks receive JSON on stdin describing the event. They return JSON on stdout to control agent behavior.</a:t>
            </a:r>
          </a:p>
        </p:txBody>
      </p:sp>
      <p:sp>
        <p:nvSpPr>
          <p:cNvPr id="6" name="Rectangle 5"/>
          <p:cNvSpPr/>
          <p:nvPr/>
        </p:nvSpPr>
        <p:spPr>
          <a:xfrm>
            <a:off x="502920" y="1463040"/>
            <a:ext cx="6492240" cy="512064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572768"/>
            <a:ext cx="6217920" cy="4937760"/>
          </a:xfrm>
          <a:prstGeom prst="rect">
            <a:avLst/>
          </a:prstGeom>
          <a:noFill/>
        </p:spPr>
        <p:txBody>
          <a:bodyPr wrap="square">
            <a:spAutoFit/>
          </a:bodyPr>
          <a:lstStyle/>
          <a:p>
            <a:pPr algn="l"/>
            <a:r>
              <a:rPr sz="1200" b="0">
                <a:solidFill>
                  <a:srgbClr val="A8CC88"/>
                </a:solidFill>
              </a:rPr>
              <a:t># stdin received by hook script:
{
  "tool_name": "run_in_terminal",
  "tool_input": { "command": "git push --force" }
}
# stdout returned by hook script:
{                                   ①
  "hookSpecificOutput": {           ②
    "hookEventName": "PreToolUse",
    "permissionDecision": "deny",  ③
    "permissionDecisionReason":     ④
      "Force push is not allowed."
  }
}
# Exit codes:                       ⑤
# 0  = success (hook passed)
# 2  = blocking error (stops the agent)
# other = non-blocking warning</a:t>
            </a:r>
          </a:p>
        </p:txBody>
      </p:sp>
      <p:sp>
        <p:nvSpPr>
          <p:cNvPr id="8" name="Oval 7"/>
          <p:cNvSpPr/>
          <p:nvPr/>
        </p:nvSpPr>
        <p:spPr>
          <a:xfrm>
            <a:off x="7223760" y="1545336"/>
            <a:ext cx="347472" cy="347472"/>
          </a:xfrm>
          <a:prstGeom prst="ellipse">
            <a:avLst/>
          </a:prstGeom>
          <a:solidFill>
            <a:srgbClr val="CF2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①</a:t>
            </a:r>
          </a:p>
        </p:txBody>
      </p:sp>
      <p:sp>
        <p:nvSpPr>
          <p:cNvPr id="9" name="TextBox 8"/>
          <p:cNvSpPr txBox="1"/>
          <p:nvPr/>
        </p:nvSpPr>
        <p:spPr>
          <a:xfrm>
            <a:off x="7644384" y="1508760"/>
            <a:ext cx="4242816" cy="621792"/>
          </a:xfrm>
          <a:prstGeom prst="rect">
            <a:avLst/>
          </a:prstGeom>
          <a:noFill/>
        </p:spPr>
        <p:txBody>
          <a:bodyPr wrap="square">
            <a:spAutoFit/>
          </a:bodyPr>
          <a:lstStyle/>
          <a:p>
            <a:pPr algn="l"/>
            <a:r>
              <a:rPr sz="1300" b="0">
                <a:solidFill>
                  <a:srgbClr val="D0D8E4"/>
                </a:solidFill>
              </a:rPr>
              <a:t>Return a JSON object on stdout. Fields: continue (bool), stopReason (str), systemMessage (str injected into context), hookSpecificOutput.</a:t>
            </a:r>
          </a:p>
        </p:txBody>
      </p:sp>
      <p:sp>
        <p:nvSpPr>
          <p:cNvPr id="10" name="Oval 9"/>
          <p:cNvSpPr/>
          <p:nvPr/>
        </p:nvSpPr>
        <p:spPr>
          <a:xfrm>
            <a:off x="7223760" y="2203704"/>
            <a:ext cx="347472" cy="347472"/>
          </a:xfrm>
          <a:prstGeom prst="ellipse">
            <a:avLst/>
          </a:prstGeom>
          <a:solidFill>
            <a:srgbClr val="CF2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②</a:t>
            </a:r>
          </a:p>
        </p:txBody>
      </p:sp>
      <p:sp>
        <p:nvSpPr>
          <p:cNvPr id="11" name="TextBox 10"/>
          <p:cNvSpPr txBox="1"/>
          <p:nvPr/>
        </p:nvSpPr>
        <p:spPr>
          <a:xfrm>
            <a:off x="7644384" y="2167128"/>
            <a:ext cx="4242816" cy="621792"/>
          </a:xfrm>
          <a:prstGeom prst="rect">
            <a:avLst/>
          </a:prstGeom>
          <a:noFill/>
        </p:spPr>
        <p:txBody>
          <a:bodyPr wrap="square">
            <a:spAutoFit/>
          </a:bodyPr>
          <a:lstStyle/>
          <a:p>
            <a:pPr algn="l"/>
            <a:r>
              <a:rPr sz="1300" b="0">
                <a:solidFill>
                  <a:srgbClr val="D0D8E4"/>
                </a:solidFill>
              </a:rPr>
              <a:t>hookSpecificOutput is used by PreToolUse and PostToolUse events to carry event-specific decisions back to the agent.</a:t>
            </a:r>
          </a:p>
        </p:txBody>
      </p:sp>
      <p:sp>
        <p:nvSpPr>
          <p:cNvPr id="12" name="Oval 11"/>
          <p:cNvSpPr/>
          <p:nvPr/>
        </p:nvSpPr>
        <p:spPr>
          <a:xfrm>
            <a:off x="7223760" y="2862072"/>
            <a:ext cx="347472" cy="347472"/>
          </a:xfrm>
          <a:prstGeom prst="ellipse">
            <a:avLst/>
          </a:prstGeom>
          <a:solidFill>
            <a:srgbClr val="CF2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③</a:t>
            </a:r>
          </a:p>
        </p:txBody>
      </p:sp>
      <p:sp>
        <p:nvSpPr>
          <p:cNvPr id="13" name="TextBox 12"/>
          <p:cNvSpPr txBox="1"/>
          <p:nvPr/>
        </p:nvSpPr>
        <p:spPr>
          <a:xfrm>
            <a:off x="7644384" y="2825496"/>
            <a:ext cx="4242816" cy="621792"/>
          </a:xfrm>
          <a:prstGeom prst="rect">
            <a:avLst/>
          </a:prstGeom>
          <a:noFill/>
        </p:spPr>
        <p:txBody>
          <a:bodyPr wrap="square">
            <a:spAutoFit/>
          </a:bodyPr>
          <a:lstStyle/>
          <a:p>
            <a:pPr algn="l"/>
            <a:r>
              <a:rPr sz="1300" b="0">
                <a:solidFill>
                  <a:srgbClr val="D0D8E4"/>
                </a:solidFill>
              </a:rPr>
              <a:t>permissionDecision controls whether the tool proceeds: 'allow' (proceed), 'ask' (prompt user), 'deny' (block the tool call).</a:t>
            </a:r>
          </a:p>
        </p:txBody>
      </p:sp>
      <p:sp>
        <p:nvSpPr>
          <p:cNvPr id="14" name="Oval 13"/>
          <p:cNvSpPr/>
          <p:nvPr/>
        </p:nvSpPr>
        <p:spPr>
          <a:xfrm>
            <a:off x="7223760" y="3520440"/>
            <a:ext cx="347472" cy="347472"/>
          </a:xfrm>
          <a:prstGeom prst="ellipse">
            <a:avLst/>
          </a:prstGeom>
          <a:solidFill>
            <a:srgbClr val="CF2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④</a:t>
            </a:r>
          </a:p>
        </p:txBody>
      </p:sp>
      <p:sp>
        <p:nvSpPr>
          <p:cNvPr id="15" name="TextBox 14"/>
          <p:cNvSpPr txBox="1"/>
          <p:nvPr/>
        </p:nvSpPr>
        <p:spPr>
          <a:xfrm>
            <a:off x="7644384" y="3483864"/>
            <a:ext cx="4242816" cy="621792"/>
          </a:xfrm>
          <a:prstGeom prst="rect">
            <a:avLst/>
          </a:prstGeom>
          <a:noFill/>
        </p:spPr>
        <p:txBody>
          <a:bodyPr wrap="square">
            <a:spAutoFit/>
          </a:bodyPr>
          <a:lstStyle/>
          <a:p>
            <a:pPr algn="l"/>
            <a:r>
              <a:rPr sz="1300" b="0">
                <a:solidFill>
                  <a:srgbClr val="D0D8E4"/>
                </a:solidFill>
              </a:rPr>
              <a:t>permissionDecisionReason is shown to the user when decision is 'ask' or 'deny'. Make it human-readable.</a:t>
            </a:r>
          </a:p>
        </p:txBody>
      </p:sp>
      <p:sp>
        <p:nvSpPr>
          <p:cNvPr id="16" name="Oval 15"/>
          <p:cNvSpPr/>
          <p:nvPr/>
        </p:nvSpPr>
        <p:spPr>
          <a:xfrm>
            <a:off x="7223760" y="4178808"/>
            <a:ext cx="347472" cy="347472"/>
          </a:xfrm>
          <a:prstGeom prst="ellipse">
            <a:avLst/>
          </a:prstGeom>
          <a:solidFill>
            <a:srgbClr val="CF2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⑤</a:t>
            </a:r>
          </a:p>
        </p:txBody>
      </p:sp>
      <p:sp>
        <p:nvSpPr>
          <p:cNvPr id="17" name="TextBox 16"/>
          <p:cNvSpPr txBox="1"/>
          <p:nvPr/>
        </p:nvSpPr>
        <p:spPr>
          <a:xfrm>
            <a:off x="7644384" y="4142232"/>
            <a:ext cx="4242816" cy="621792"/>
          </a:xfrm>
          <a:prstGeom prst="rect">
            <a:avLst/>
          </a:prstGeom>
          <a:noFill/>
        </p:spPr>
        <p:txBody>
          <a:bodyPr wrap="square">
            <a:spAutoFit/>
          </a:bodyPr>
          <a:lstStyle/>
          <a:p>
            <a:pPr algn="l"/>
            <a:r>
              <a:rPr sz="1300" b="0">
                <a:solidFill>
                  <a:srgbClr val="D0D8E4"/>
                </a:solidFill>
              </a:rPr>
              <a:t>Exit codes: 0 = hook passed normally, 2 = blocking error that stops agent execution, any other value = non-blocking warning logged but execution continues.</a:t>
            </a:r>
          </a:p>
        </p:txBody>
      </p:sp>
      <p:sp>
        <p:nvSpPr>
          <p:cNvPr id="18" name="TextBox 17"/>
          <p:cNvSpPr txBox="1"/>
          <p:nvPr/>
        </p:nvSpPr>
        <p:spPr>
          <a:xfrm>
            <a:off x="10911535" y="6446520"/>
            <a:ext cx="1188720" cy="320040"/>
          </a:xfrm>
          <a:prstGeom prst="rect">
            <a:avLst/>
          </a:prstGeom>
          <a:noFill/>
        </p:spPr>
        <p:txBody>
          <a:bodyPr wrap="square">
            <a:spAutoFit/>
          </a:bodyPr>
          <a:lstStyle/>
          <a:p>
            <a:pPr algn="r"/>
            <a:r>
              <a:rPr sz="1100" b="0">
                <a:solidFill>
                  <a:srgbClr val="88929A"/>
                </a:solidFill>
              </a:rPr>
              <a:t>31 / 39</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30363D"/>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3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515600" cy="640080"/>
          </a:xfrm>
          <a:prstGeom prst="rect">
            <a:avLst/>
          </a:prstGeom>
          <a:noFill/>
        </p:spPr>
        <p:txBody>
          <a:bodyPr wrap="square">
            <a:spAutoFit/>
          </a:bodyPr>
          <a:lstStyle/>
          <a:p>
            <a:pPr algn="l"/>
            <a:r>
              <a:rPr sz="2600" b="1">
                <a:solidFill>
                  <a:srgbClr val="FFFFFF"/>
                </a:solidFill>
              </a:rPr>
              <a:t>Hook Lifecycle Events</a:t>
            </a:r>
          </a:p>
        </p:txBody>
      </p:sp>
      <p:sp>
        <p:nvSpPr>
          <p:cNvPr id="4" name="Rectangle 3"/>
          <p:cNvSpPr/>
          <p:nvPr/>
        </p:nvSpPr>
        <p:spPr>
          <a:xfrm>
            <a:off x="502920" y="868680"/>
            <a:ext cx="10241280" cy="27432"/>
          </a:xfrm>
          <a:prstGeom prst="rect">
            <a:avLst/>
          </a:prstGeom>
          <a:solidFill>
            <a:srgbClr val="23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02920" y="1005840"/>
          <a:ext cx="11185854" cy="4279392"/>
        </p:xfrm>
        <a:graphic>
          <a:graphicData uri="http://schemas.openxmlformats.org/drawingml/2006/table">
            <a:tbl>
              <a:tblPr firstRow="1" bandRow="1">
                <a:tableStyleId>{5C22544A-7EE6-4342-B048-85BDC9FD1C3A}</a:tableStyleId>
              </a:tblPr>
              <a:tblGrid>
                <a:gridCol w="2560320"/>
                <a:gridCol w="4312767"/>
                <a:gridCol w="4312767"/>
              </a:tblGrid>
              <a:tr h="475488">
                <a:tc>
                  <a:txBody>
                    <a:bodyPr wrap="square"/>
                    <a:lstStyle/>
                    <a:p>
                      <a:pPr algn="l"/>
                      <a:r>
                        <a:rPr sz="1400" b="1">
                          <a:solidFill>
                            <a:srgbClr val="FFFFFF"/>
                          </a:solidFill>
                        </a:rPr>
                        <a:t>Event</a:t>
                      </a:r>
                    </a:p>
                  </a:txBody>
                  <a:tcPr>
                    <a:solidFill>
                      <a:srgbClr val="238BE6"/>
                    </a:solidFill>
                  </a:tcPr>
                </a:tc>
                <a:tc>
                  <a:txBody>
                    <a:bodyPr wrap="square"/>
                    <a:lstStyle/>
                    <a:p>
                      <a:pPr algn="l"/>
                      <a:r>
                        <a:rPr sz="1400" b="1">
                          <a:solidFill>
                            <a:srgbClr val="FFFFFF"/>
                          </a:solidFill>
                        </a:rPr>
                        <a:t>When It Fires</a:t>
                      </a:r>
                    </a:p>
                  </a:txBody>
                  <a:tcPr>
                    <a:solidFill>
                      <a:srgbClr val="238BE6"/>
                    </a:solidFill>
                  </a:tcPr>
                </a:tc>
                <a:tc>
                  <a:txBody>
                    <a:bodyPr wrap="square"/>
                    <a:lstStyle/>
                    <a:p>
                      <a:pPr algn="l"/>
                      <a:r>
                        <a:rPr sz="1400" b="1">
                          <a:solidFill>
                            <a:srgbClr val="FFFFFF"/>
                          </a:solidFill>
                        </a:rPr>
                        <a:t>Common Use Cases</a:t>
                      </a:r>
                    </a:p>
                  </a:txBody>
                  <a:tcPr>
                    <a:solidFill>
                      <a:srgbClr val="238BE6"/>
                    </a:solidFill>
                  </a:tcPr>
                </a:tc>
              </a:tr>
              <a:tr h="475488">
                <a:tc>
                  <a:txBody>
                    <a:bodyPr wrap="square"/>
                    <a:lstStyle/>
                    <a:p>
                      <a:pPr algn="l"/>
                      <a:r>
                        <a:rPr sz="1300" b="0">
                          <a:solidFill>
                            <a:srgbClr val="FFFFFF"/>
                          </a:solidFill>
                        </a:rPr>
                        <a:t>SessionStart</a:t>
                      </a:r>
                    </a:p>
                  </a:txBody>
                  <a:tcPr>
                    <a:solidFill>
                      <a:srgbClr val="232B33"/>
                    </a:solidFill>
                  </a:tcPr>
                </a:tc>
                <a:tc>
                  <a:txBody>
                    <a:bodyPr wrap="square"/>
                    <a:lstStyle/>
                    <a:p>
                      <a:pPr algn="l"/>
                      <a:r>
                        <a:rPr sz="1300" b="0">
                          <a:solidFill>
                            <a:srgbClr val="FFFFFF"/>
                          </a:solidFill>
                        </a:rPr>
                        <a:t>First prompt of a new agent session</a:t>
                      </a:r>
                    </a:p>
                  </a:txBody>
                  <a:tcPr>
                    <a:solidFill>
                      <a:srgbClr val="232B33"/>
                    </a:solidFill>
                  </a:tcPr>
                </a:tc>
                <a:tc>
                  <a:txBody>
                    <a:bodyPr wrap="square"/>
                    <a:lstStyle/>
                    <a:p>
                      <a:pPr algn="l"/>
                      <a:r>
                        <a:rPr sz="1300" b="0">
                          <a:solidFill>
                            <a:srgbClr val="FFFFFF"/>
                          </a:solidFill>
                        </a:rPr>
                        <a:t>Inject project context, validate environment, greet user</a:t>
                      </a:r>
                    </a:p>
                  </a:txBody>
                  <a:tcPr>
                    <a:solidFill>
                      <a:srgbClr val="232B33"/>
                    </a:solidFill>
                  </a:tcPr>
                </a:tc>
              </a:tr>
              <a:tr h="475488">
                <a:tc>
                  <a:txBody>
                    <a:bodyPr wrap="square"/>
                    <a:lstStyle/>
                    <a:p>
                      <a:pPr algn="l"/>
                      <a:r>
                        <a:rPr sz="1300" b="0">
                          <a:solidFill>
                            <a:srgbClr val="FFFFFF"/>
                          </a:solidFill>
                        </a:rPr>
                        <a:t>UserPromptSubmit</a:t>
                      </a:r>
                    </a:p>
                  </a:txBody>
                  <a:tcPr>
                    <a:solidFill>
                      <a:srgbClr val="1C232A"/>
                    </a:solidFill>
                  </a:tcPr>
                </a:tc>
                <a:tc>
                  <a:txBody>
                    <a:bodyPr wrap="square"/>
                    <a:lstStyle/>
                    <a:p>
                      <a:pPr algn="l"/>
                      <a:r>
                        <a:rPr sz="1300" b="0">
                          <a:solidFill>
                            <a:srgbClr val="FFFFFF"/>
                          </a:solidFill>
                        </a:rPr>
                        <a:t>Every time user submits a prompt</a:t>
                      </a:r>
                    </a:p>
                  </a:txBody>
                  <a:tcPr>
                    <a:solidFill>
                      <a:srgbClr val="1C232A"/>
                    </a:solidFill>
                  </a:tcPr>
                </a:tc>
                <a:tc>
                  <a:txBody>
                    <a:bodyPr wrap="square"/>
                    <a:lstStyle/>
                    <a:p>
                      <a:pPr algn="l"/>
                      <a:r>
                        <a:rPr sz="1300" b="0">
                          <a:solidFill>
                            <a:srgbClr val="FFFFFF"/>
                          </a:solidFill>
                        </a:rPr>
                        <a:t>Log prompts for audit, inject dynamic context</a:t>
                      </a:r>
                    </a:p>
                  </a:txBody>
                  <a:tcPr>
                    <a:solidFill>
                      <a:srgbClr val="1C232A"/>
                    </a:solidFill>
                  </a:tcPr>
                </a:tc>
              </a:tr>
              <a:tr h="475488">
                <a:tc>
                  <a:txBody>
                    <a:bodyPr wrap="square"/>
                    <a:lstStyle/>
                    <a:p>
                      <a:pPr algn="l"/>
                      <a:r>
                        <a:rPr sz="1300" b="0">
                          <a:solidFill>
                            <a:srgbClr val="FFFFFF"/>
                          </a:solidFill>
                        </a:rPr>
                        <a:t>PreToolUse</a:t>
                      </a:r>
                    </a:p>
                  </a:txBody>
                  <a:tcPr>
                    <a:solidFill>
                      <a:srgbClr val="232B33"/>
                    </a:solidFill>
                  </a:tcPr>
                </a:tc>
                <a:tc>
                  <a:txBody>
                    <a:bodyPr wrap="square"/>
                    <a:lstStyle/>
                    <a:p>
                      <a:pPr algn="l"/>
                      <a:r>
                        <a:rPr sz="1300" b="0">
                          <a:solidFill>
                            <a:srgbClr val="FFFFFF"/>
                          </a:solidFill>
                        </a:rPr>
                        <a:t>BEFORE every tool call</a:t>
                      </a:r>
                    </a:p>
                  </a:txBody>
                  <a:tcPr>
                    <a:solidFill>
                      <a:srgbClr val="232B33"/>
                    </a:solidFill>
                  </a:tcPr>
                </a:tc>
                <a:tc>
                  <a:txBody>
                    <a:bodyPr wrap="square"/>
                    <a:lstStyle/>
                    <a:p>
                      <a:pPr algn="l"/>
                      <a:r>
                        <a:rPr sz="1300" b="0">
                          <a:solidFill>
                            <a:srgbClr val="FFFFFF"/>
                          </a:solidFill>
                        </a:rPr>
                        <a:t>Block dangerous commands (rm -rf, force push), require approval</a:t>
                      </a:r>
                    </a:p>
                  </a:txBody>
                  <a:tcPr>
                    <a:solidFill>
                      <a:srgbClr val="232B33"/>
                    </a:solidFill>
                  </a:tcPr>
                </a:tc>
              </a:tr>
              <a:tr h="475488">
                <a:tc>
                  <a:txBody>
                    <a:bodyPr wrap="square"/>
                    <a:lstStyle/>
                    <a:p>
                      <a:pPr algn="l"/>
                      <a:r>
                        <a:rPr sz="1300" b="0">
                          <a:solidFill>
                            <a:srgbClr val="FFFFFF"/>
                          </a:solidFill>
                        </a:rPr>
                        <a:t>PostToolUse</a:t>
                      </a:r>
                    </a:p>
                  </a:txBody>
                  <a:tcPr>
                    <a:solidFill>
                      <a:srgbClr val="1C232A"/>
                    </a:solidFill>
                  </a:tcPr>
                </a:tc>
                <a:tc>
                  <a:txBody>
                    <a:bodyPr wrap="square"/>
                    <a:lstStyle/>
                    <a:p>
                      <a:pPr algn="l"/>
                      <a:r>
                        <a:rPr sz="1300" b="0">
                          <a:solidFill>
                            <a:srgbClr val="FFFFFF"/>
                          </a:solidFill>
                        </a:rPr>
                        <a:t>AFTER successful tool completion</a:t>
                      </a:r>
                    </a:p>
                  </a:txBody>
                  <a:tcPr>
                    <a:solidFill>
                      <a:srgbClr val="1C232A"/>
                    </a:solidFill>
                  </a:tcPr>
                </a:tc>
                <a:tc>
                  <a:txBody>
                    <a:bodyPr wrap="square"/>
                    <a:lstStyle/>
                    <a:p>
                      <a:pPr algn="l"/>
                      <a:r>
                        <a:rPr sz="1300" b="0">
                          <a:solidFill>
                            <a:srgbClr val="FFFFFF"/>
                          </a:solidFill>
                        </a:rPr>
                        <a:t>Auto-format files, run linter, enforce test pass after edit</a:t>
                      </a:r>
                    </a:p>
                  </a:txBody>
                  <a:tcPr>
                    <a:solidFill>
                      <a:srgbClr val="1C232A"/>
                    </a:solidFill>
                  </a:tcPr>
                </a:tc>
              </a:tr>
              <a:tr h="475488">
                <a:tc>
                  <a:txBody>
                    <a:bodyPr wrap="square"/>
                    <a:lstStyle/>
                    <a:p>
                      <a:pPr algn="l"/>
                      <a:r>
                        <a:rPr sz="1300" b="0">
                          <a:solidFill>
                            <a:srgbClr val="FFFFFF"/>
                          </a:solidFill>
                        </a:rPr>
                        <a:t>PreCompact</a:t>
                      </a:r>
                    </a:p>
                  </a:txBody>
                  <a:tcPr>
                    <a:solidFill>
                      <a:srgbClr val="232B33"/>
                    </a:solidFill>
                  </a:tcPr>
                </a:tc>
                <a:tc>
                  <a:txBody>
                    <a:bodyPr wrap="square"/>
                    <a:lstStyle/>
                    <a:p>
                      <a:pPr algn="l"/>
                      <a:r>
                        <a:rPr sz="1300" b="0">
                          <a:solidFill>
                            <a:srgbClr val="FFFFFF"/>
                          </a:solidFill>
                        </a:rPr>
                        <a:t>Before context window compaction</a:t>
                      </a:r>
                    </a:p>
                  </a:txBody>
                  <a:tcPr>
                    <a:solidFill>
                      <a:srgbClr val="232B33"/>
                    </a:solidFill>
                  </a:tcPr>
                </a:tc>
                <a:tc>
                  <a:txBody>
                    <a:bodyPr wrap="square"/>
                    <a:lstStyle/>
                    <a:p>
                      <a:pPr algn="l"/>
                      <a:r>
                        <a:rPr sz="1300" b="0">
                          <a:solidFill>
                            <a:srgbClr val="FFFFFF"/>
                          </a:solidFill>
                        </a:rPr>
                        <a:t>Save important state before summary replaces detail</a:t>
                      </a:r>
                    </a:p>
                  </a:txBody>
                  <a:tcPr>
                    <a:solidFill>
                      <a:srgbClr val="232B33"/>
                    </a:solidFill>
                  </a:tcPr>
                </a:tc>
              </a:tr>
              <a:tr h="475488">
                <a:tc>
                  <a:txBody>
                    <a:bodyPr wrap="square"/>
                    <a:lstStyle/>
                    <a:p>
                      <a:pPr algn="l"/>
                      <a:r>
                        <a:rPr sz="1300" b="0">
                          <a:solidFill>
                            <a:srgbClr val="FFFFFF"/>
                          </a:solidFill>
                        </a:rPr>
                        <a:t>SubagentStart</a:t>
                      </a:r>
                    </a:p>
                  </a:txBody>
                  <a:tcPr>
                    <a:solidFill>
                      <a:srgbClr val="1C232A"/>
                    </a:solidFill>
                  </a:tcPr>
                </a:tc>
                <a:tc>
                  <a:txBody>
                    <a:bodyPr wrap="square"/>
                    <a:lstStyle/>
                    <a:p>
                      <a:pPr algn="l"/>
                      <a:r>
                        <a:rPr sz="1300" b="0">
                          <a:solidFill>
                            <a:srgbClr val="FFFFFF"/>
                          </a:solidFill>
                        </a:rPr>
                        <a:t>When a subagent is invoked</a:t>
                      </a:r>
                    </a:p>
                  </a:txBody>
                  <a:tcPr>
                    <a:solidFill>
                      <a:srgbClr val="1C232A"/>
                    </a:solidFill>
                  </a:tcPr>
                </a:tc>
                <a:tc>
                  <a:txBody>
                    <a:bodyPr wrap="square"/>
                    <a:lstStyle/>
                    <a:p>
                      <a:pPr algn="l"/>
                      <a:r>
                        <a:rPr sz="1300" b="0">
                          <a:solidFill>
                            <a:srgbClr val="FFFFFF"/>
                          </a:solidFill>
                        </a:rPr>
                        <a:t>Log subagent calls, inject subagent-specific context</a:t>
                      </a:r>
                    </a:p>
                  </a:txBody>
                  <a:tcPr>
                    <a:solidFill>
                      <a:srgbClr val="1C232A"/>
                    </a:solidFill>
                  </a:tcPr>
                </a:tc>
              </a:tr>
              <a:tr h="475488">
                <a:tc>
                  <a:txBody>
                    <a:bodyPr wrap="square"/>
                    <a:lstStyle/>
                    <a:p>
                      <a:pPr algn="l"/>
                      <a:r>
                        <a:rPr sz="1300" b="0">
                          <a:solidFill>
                            <a:srgbClr val="FFFFFF"/>
                          </a:solidFill>
                        </a:rPr>
                        <a:t>SubagentStop</a:t>
                      </a:r>
                    </a:p>
                  </a:txBody>
                  <a:tcPr>
                    <a:solidFill>
                      <a:srgbClr val="232B33"/>
                    </a:solidFill>
                  </a:tcPr>
                </a:tc>
                <a:tc>
                  <a:txBody>
                    <a:bodyPr wrap="square"/>
                    <a:lstStyle/>
                    <a:p>
                      <a:pPr algn="l"/>
                      <a:r>
                        <a:rPr sz="1300" b="0">
                          <a:solidFill>
                            <a:srgbClr val="FFFFFF"/>
                          </a:solidFill>
                        </a:rPr>
                        <a:t>When a subagent finishes</a:t>
                      </a:r>
                    </a:p>
                  </a:txBody>
                  <a:tcPr>
                    <a:solidFill>
                      <a:srgbClr val="232B33"/>
                    </a:solidFill>
                  </a:tcPr>
                </a:tc>
                <a:tc>
                  <a:txBody>
                    <a:bodyPr wrap="square"/>
                    <a:lstStyle/>
                    <a:p>
                      <a:pPr algn="l"/>
                      <a:r>
                        <a:rPr sz="1300" b="0">
                          <a:solidFill>
                            <a:srgbClr val="FFFFFF"/>
                          </a:solidFill>
                        </a:rPr>
                        <a:t>Validate subagent output, aggregate results</a:t>
                      </a:r>
                    </a:p>
                  </a:txBody>
                  <a:tcPr>
                    <a:solidFill>
                      <a:srgbClr val="232B33"/>
                    </a:solidFill>
                  </a:tcPr>
                </a:tc>
              </a:tr>
              <a:tr h="475488">
                <a:tc>
                  <a:txBody>
                    <a:bodyPr wrap="square"/>
                    <a:lstStyle/>
                    <a:p>
                      <a:pPr algn="l"/>
                      <a:r>
                        <a:rPr sz="1300" b="0">
                          <a:solidFill>
                            <a:srgbClr val="FFFFFF"/>
                          </a:solidFill>
                        </a:rPr>
                        <a:t>Stop</a:t>
                      </a:r>
                    </a:p>
                  </a:txBody>
                  <a:tcPr>
                    <a:solidFill>
                      <a:srgbClr val="1C232A"/>
                    </a:solidFill>
                  </a:tcPr>
                </a:tc>
                <a:tc>
                  <a:txBody>
                    <a:bodyPr wrap="square"/>
                    <a:lstStyle/>
                    <a:p>
                      <a:pPr algn="l"/>
                      <a:r>
                        <a:rPr sz="1300" b="0">
                          <a:solidFill>
                            <a:srgbClr val="FFFFFF"/>
                          </a:solidFill>
                        </a:rPr>
                        <a:t>Agent session ends</a:t>
                      </a:r>
                    </a:p>
                  </a:txBody>
                  <a:tcPr>
                    <a:solidFill>
                      <a:srgbClr val="1C232A"/>
                    </a:solidFill>
                  </a:tcPr>
                </a:tc>
                <a:tc>
                  <a:txBody>
                    <a:bodyPr wrap="square"/>
                    <a:lstStyle/>
                    <a:p>
                      <a:pPr algn="l"/>
                      <a:r>
                        <a:rPr sz="1300" b="0">
                          <a:solidFill>
                            <a:srgbClr val="FFFFFF"/>
                          </a:solidFill>
                        </a:rPr>
                        <a:t>Save session logs, cleanup temp files, send notifications</a:t>
                      </a:r>
                    </a:p>
                  </a:txBody>
                  <a:tcPr>
                    <a:solidFill>
                      <a:srgbClr val="1C232A"/>
                    </a:solidFill>
                  </a:tcPr>
                </a:tc>
              </a:tr>
            </a:tbl>
          </a:graphicData>
        </a:graphic>
      </p:graphicFrame>
      <p:sp>
        <p:nvSpPr>
          <p:cNvPr id="6" name="TextBox 5"/>
          <p:cNvSpPr txBox="1"/>
          <p:nvPr/>
        </p:nvSpPr>
        <p:spPr>
          <a:xfrm>
            <a:off x="10911535" y="6446520"/>
            <a:ext cx="1188720" cy="320040"/>
          </a:xfrm>
          <a:prstGeom prst="rect">
            <a:avLst/>
          </a:prstGeom>
          <a:noFill/>
        </p:spPr>
        <p:txBody>
          <a:bodyPr wrap="square">
            <a:spAutoFit/>
          </a:bodyPr>
          <a:lstStyle/>
          <a:p>
            <a:pPr algn="r"/>
            <a:r>
              <a:rPr sz="1100" b="0">
                <a:solidFill>
                  <a:srgbClr val="88929A"/>
                </a:solidFill>
              </a:rPr>
              <a:t>32 / 39</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3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9144000" cy="457200"/>
          </a:xfrm>
          <a:prstGeom prst="rect">
            <a:avLst/>
          </a:prstGeom>
          <a:noFill/>
        </p:spPr>
        <p:txBody>
          <a:bodyPr wrap="square">
            <a:spAutoFit/>
          </a:bodyPr>
          <a:lstStyle/>
          <a:p>
            <a:pPr algn="l"/>
            <a:r>
              <a:rPr sz="1400" b="0">
                <a:solidFill>
                  <a:srgbClr val="238BE6"/>
                </a:solidFill>
              </a:rPr>
              <a:t>SECTION  11</a:t>
            </a:r>
          </a:p>
        </p:txBody>
      </p:sp>
      <p:sp>
        <p:nvSpPr>
          <p:cNvPr id="4" name="TextBox 3"/>
          <p:cNvSpPr txBox="1"/>
          <p:nvPr/>
        </p:nvSpPr>
        <p:spPr>
          <a:xfrm>
            <a:off x="457200" y="2651760"/>
            <a:ext cx="10058400" cy="1280160"/>
          </a:xfrm>
          <a:prstGeom prst="rect">
            <a:avLst/>
          </a:prstGeom>
          <a:noFill/>
        </p:spPr>
        <p:txBody>
          <a:bodyPr wrap="square">
            <a:spAutoFit/>
          </a:bodyPr>
          <a:lstStyle/>
          <a:p>
            <a:pPr algn="l"/>
            <a:r>
              <a:rPr sz="4000" b="1">
                <a:solidFill>
                  <a:srgbClr val="FFFFFF"/>
                </a:solidFill>
              </a:rPr>
              <a:t>PoC — Real Obstacles &amp; Resolutions</a:t>
            </a:r>
          </a:p>
        </p:txBody>
      </p:sp>
      <p:sp>
        <p:nvSpPr>
          <p:cNvPr id="5" name="Rectangle 4"/>
          <p:cNvSpPr/>
          <p:nvPr/>
        </p:nvSpPr>
        <p:spPr>
          <a:xfrm>
            <a:off x="457200" y="3977639"/>
            <a:ext cx="1463040" cy="54864"/>
          </a:xfrm>
          <a:prstGeom prst="rect">
            <a:avLst/>
          </a:prstGeom>
          <a:solidFill>
            <a:srgbClr val="23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30363D"/>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3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515600" cy="640080"/>
          </a:xfrm>
          <a:prstGeom prst="rect">
            <a:avLst/>
          </a:prstGeom>
          <a:noFill/>
        </p:spPr>
        <p:txBody>
          <a:bodyPr wrap="square">
            <a:spAutoFit/>
          </a:bodyPr>
          <a:lstStyle/>
          <a:p>
            <a:pPr algn="l"/>
            <a:r>
              <a:rPr sz="2600" b="1">
                <a:solidFill>
                  <a:srgbClr val="FFFFFF"/>
                </a:solidFill>
              </a:rPr>
              <a:t>Real Obstacles Encountered During Agent-Driven Implementation</a:t>
            </a:r>
          </a:p>
        </p:txBody>
      </p:sp>
      <p:sp>
        <p:nvSpPr>
          <p:cNvPr id="4" name="Rectangle 3"/>
          <p:cNvSpPr/>
          <p:nvPr/>
        </p:nvSpPr>
        <p:spPr>
          <a:xfrm>
            <a:off x="502920" y="868680"/>
            <a:ext cx="10241280" cy="27432"/>
          </a:xfrm>
          <a:prstGeom prst="rect">
            <a:avLst/>
          </a:prstGeom>
          <a:solidFill>
            <a:srgbClr val="23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02920" y="1005840"/>
          <a:ext cx="11185854" cy="3328416"/>
        </p:xfrm>
        <a:graphic>
          <a:graphicData uri="http://schemas.openxmlformats.org/drawingml/2006/table">
            <a:tbl>
              <a:tblPr firstRow="1" bandRow="1">
                <a:tableStyleId>{5C22544A-7EE6-4342-B048-85BDC9FD1C3A}</a:tableStyleId>
              </a:tblPr>
              <a:tblGrid>
                <a:gridCol w="2560320"/>
                <a:gridCol w="4312767"/>
                <a:gridCol w="4312767"/>
              </a:tblGrid>
              <a:tr h="475488">
                <a:tc>
                  <a:txBody>
                    <a:bodyPr wrap="square"/>
                    <a:lstStyle/>
                    <a:p>
                      <a:pPr algn="l"/>
                      <a:r>
                        <a:rPr sz="1400" b="1">
                          <a:solidFill>
                            <a:srgbClr val="FFFFFF"/>
                          </a:solidFill>
                        </a:rPr>
                        <a:t>Problem</a:t>
                      </a:r>
                    </a:p>
                  </a:txBody>
                  <a:tcPr>
                    <a:solidFill>
                      <a:srgbClr val="238BE6"/>
                    </a:solidFill>
                  </a:tcPr>
                </a:tc>
                <a:tc>
                  <a:txBody>
                    <a:bodyPr wrap="square"/>
                    <a:lstStyle/>
                    <a:p>
                      <a:pPr algn="l"/>
                      <a:r>
                        <a:rPr sz="1400" b="1">
                          <a:solidFill>
                            <a:srgbClr val="FFFFFF"/>
                          </a:solidFill>
                        </a:rPr>
                        <a:t>Root Cause</a:t>
                      </a:r>
                    </a:p>
                  </a:txBody>
                  <a:tcPr>
                    <a:solidFill>
                      <a:srgbClr val="238BE6"/>
                    </a:solidFill>
                  </a:tcPr>
                </a:tc>
                <a:tc>
                  <a:txBody>
                    <a:bodyPr wrap="square"/>
                    <a:lstStyle/>
                    <a:p>
                      <a:pPr algn="l"/>
                      <a:r>
                        <a:rPr sz="1400" b="1">
                          <a:solidFill>
                            <a:srgbClr val="FFFFFF"/>
                          </a:solidFill>
                        </a:rPr>
                        <a:t>Resolution</a:t>
                      </a:r>
                    </a:p>
                  </a:txBody>
                  <a:tcPr>
                    <a:solidFill>
                      <a:srgbClr val="238BE6"/>
                    </a:solidFill>
                  </a:tcPr>
                </a:tc>
              </a:tr>
              <a:tr h="475488">
                <a:tc>
                  <a:txBody>
                    <a:bodyPr wrap="square"/>
                    <a:lstStyle/>
                    <a:p>
                      <a:pPr algn="l"/>
                      <a:r>
                        <a:rPr sz="1300" b="0">
                          <a:solidFill>
                            <a:srgbClr val="FFFFFF"/>
                          </a:solidFill>
                        </a:rPr>
                        <a:t>.sln file not found after dotnet new sln</a:t>
                      </a:r>
                    </a:p>
                  </a:txBody>
                  <a:tcPr>
                    <a:solidFill>
                      <a:srgbClr val="232B33"/>
                    </a:solidFill>
                  </a:tcPr>
                </a:tc>
                <a:tc>
                  <a:txBody>
                    <a:bodyPr wrap="square"/>
                    <a:lstStyle/>
                    <a:p>
                      <a:pPr algn="l"/>
                      <a:r>
                        <a:rPr sz="1300" b="0">
                          <a:solidFill>
                            <a:srgbClr val="FFFFFF"/>
                          </a:solidFill>
                        </a:rPr>
                        <a:t>.NET 10 creates .slnx format, not .sln</a:t>
                      </a:r>
                    </a:p>
                  </a:txBody>
                  <a:tcPr>
                    <a:solidFill>
                      <a:srgbClr val="232B33"/>
                    </a:solidFill>
                  </a:tcPr>
                </a:tc>
                <a:tc>
                  <a:txBody>
                    <a:bodyPr wrap="square"/>
                    <a:lstStyle/>
                    <a:p>
                      <a:pPr algn="l"/>
                      <a:r>
                        <a:rPr sz="1300" b="0">
                          <a:solidFill>
                            <a:srgbClr val="FFFFFF"/>
                          </a:solidFill>
                        </a:rPr>
                        <a:t>Use AuthSystem.slnx in all subsequent commands</a:t>
                      </a:r>
                    </a:p>
                  </a:txBody>
                  <a:tcPr>
                    <a:solidFill>
                      <a:srgbClr val="232B33"/>
                    </a:solidFill>
                  </a:tcPr>
                </a:tc>
              </a:tr>
              <a:tr h="475488">
                <a:tc>
                  <a:txBody>
                    <a:bodyPr wrap="square"/>
                    <a:lstStyle/>
                    <a:p>
                      <a:pPr algn="l"/>
                      <a:r>
                        <a:rPr sz="1300" b="0">
                          <a:solidFill>
                            <a:srgbClr val="FFFFFF"/>
                          </a:solidFill>
                        </a:rPr>
                        <a:t>NuGet package version conflicts at build</a:t>
                      </a:r>
                    </a:p>
                  </a:txBody>
                  <a:tcPr>
                    <a:solidFill>
                      <a:srgbClr val="1C232A"/>
                    </a:solidFill>
                  </a:tcPr>
                </a:tc>
                <a:tc>
                  <a:txBody>
                    <a:bodyPr wrap="square"/>
                    <a:lstStyle/>
                    <a:p>
                      <a:pPr algn="l"/>
                      <a:r>
                        <a:rPr sz="1300" b="0">
                          <a:solidFill>
                            <a:srgbClr val="FFFFFF"/>
                          </a:solidFill>
                        </a:rPr>
                        <a:t>Projects targeted net8.0 but SDK installed was .NET 10</a:t>
                      </a:r>
                    </a:p>
                  </a:txBody>
                  <a:tcPr>
                    <a:solidFill>
                      <a:srgbClr val="1C232A"/>
                    </a:solidFill>
                  </a:tcPr>
                </a:tc>
                <a:tc>
                  <a:txBody>
                    <a:bodyPr wrap="square"/>
                    <a:lstStyle/>
                    <a:p>
                      <a:pPr algn="l"/>
                      <a:r>
                        <a:rPr sz="1300" b="0">
                          <a:solidFill>
                            <a:srgbClr val="FFFFFF"/>
                          </a:solidFill>
                        </a:rPr>
                        <a:t>Upgraded both .csproj TargetFramework to net10.0</a:t>
                      </a:r>
                    </a:p>
                  </a:txBody>
                  <a:tcPr>
                    <a:solidFill>
                      <a:srgbClr val="1C232A"/>
                    </a:solidFill>
                  </a:tcPr>
                </a:tc>
              </a:tr>
              <a:tr h="475488">
                <a:tc>
                  <a:txBody>
                    <a:bodyPr wrap="square"/>
                    <a:lstStyle/>
                    <a:p>
                      <a:pPr algn="l"/>
                      <a:r>
                        <a:rPr sz="1300" b="0">
                          <a:solidFill>
                            <a:srgbClr val="FFFFFF"/>
                          </a:solidFill>
                        </a:rPr>
                        <a:t>Authentication.Google package not found</a:t>
                      </a:r>
                    </a:p>
                  </a:txBody>
                  <a:tcPr>
                    <a:solidFill>
                      <a:srgbClr val="232B33"/>
                    </a:solidFill>
                  </a:tcPr>
                </a:tc>
                <a:tc>
                  <a:txBody>
                    <a:bodyPr wrap="square"/>
                    <a:lstStyle/>
                    <a:p>
                      <a:pPr algn="l"/>
                      <a:r>
                        <a:rPr sz="1300" b="0">
                          <a:solidFill>
                            <a:srgbClr val="FFFFFF"/>
                          </a:solidFill>
                        </a:rPr>
                        <a:t>No longer an implicit framework reference in .NET 10</a:t>
                      </a:r>
                    </a:p>
                  </a:txBody>
                  <a:tcPr>
                    <a:solidFill>
                      <a:srgbClr val="232B33"/>
                    </a:solidFill>
                  </a:tcPr>
                </a:tc>
                <a:tc>
                  <a:txBody>
                    <a:bodyPr wrap="square"/>
                    <a:lstStyle/>
                    <a:p>
                      <a:pPr algn="l"/>
                      <a:r>
                        <a:rPr sz="1300" b="0">
                          <a:solidFill>
                            <a:srgbClr val="FFFFFF"/>
                          </a:solidFill>
                        </a:rPr>
                        <a:t>Explicitly added as NuGet package reference</a:t>
                      </a:r>
                    </a:p>
                  </a:txBody>
                  <a:tcPr>
                    <a:solidFill>
                      <a:srgbClr val="232B33"/>
                    </a:solidFill>
                  </a:tcPr>
                </a:tc>
              </a:tr>
              <a:tr h="475488">
                <a:tc>
                  <a:txBody>
                    <a:bodyPr wrap="square"/>
                    <a:lstStyle/>
                    <a:p>
                      <a:pPr algn="l"/>
                      <a:r>
                        <a:rPr sz="1300" b="0">
                          <a:solidFill>
                            <a:srgbClr val="FFFFFF"/>
                          </a:solidFill>
                        </a:rPr>
                        <a:t>npm --template flag not passed to create-vite</a:t>
                      </a:r>
                    </a:p>
                  </a:txBody>
                  <a:tcPr>
                    <a:solidFill>
                      <a:srgbClr val="1C232A"/>
                    </a:solidFill>
                  </a:tcPr>
                </a:tc>
                <a:tc>
                  <a:txBody>
                    <a:bodyPr wrap="square"/>
                    <a:lstStyle/>
                    <a:p>
                      <a:pPr algn="l"/>
                      <a:r>
                        <a:rPr sz="1300" b="0">
                          <a:solidFill>
                            <a:srgbClr val="FFFFFF"/>
                          </a:solidFill>
                        </a:rPr>
                        <a:t>npm consumed the flag; never forwarded to the scaffolder</a:t>
                      </a:r>
                    </a:p>
                  </a:txBody>
                  <a:tcPr>
                    <a:solidFill>
                      <a:srgbClr val="1C232A"/>
                    </a:solidFill>
                  </a:tcPr>
                </a:tc>
                <a:tc>
                  <a:txBody>
                    <a:bodyPr wrap="square"/>
                    <a:lstStyle/>
                    <a:p>
                      <a:pPr algn="l"/>
                      <a:r>
                        <a:rPr sz="1300" b="0">
                          <a:solidFill>
                            <a:srgbClr val="FFFFFF"/>
                          </a:solidFill>
                        </a:rPr>
                        <a:t>Used npx -y create-vite@latest authsystem-frontend -- --template react-ts</a:t>
                      </a:r>
                    </a:p>
                  </a:txBody>
                  <a:tcPr>
                    <a:solidFill>
                      <a:srgbClr val="1C232A"/>
                    </a:solidFill>
                  </a:tcPr>
                </a:tc>
              </a:tr>
              <a:tr h="475488">
                <a:tc>
                  <a:txBody>
                    <a:bodyPr wrap="square"/>
                    <a:lstStyle/>
                    <a:p>
                      <a:pPr algn="l"/>
                      <a:r>
                        <a:rPr sz="1300" b="0">
                          <a:solidFill>
                            <a:srgbClr val="FFFFFF"/>
                          </a:solidFill>
                        </a:rPr>
                        <a:t>300+ missing members compiling IDatabase fake</a:t>
                      </a:r>
                    </a:p>
                  </a:txBody>
                  <a:tcPr>
                    <a:solidFill>
                      <a:srgbClr val="232B33"/>
                    </a:solidFill>
                  </a:tcPr>
                </a:tc>
                <a:tc>
                  <a:txBody>
                    <a:bodyPr wrap="square"/>
                    <a:lstStyle/>
                    <a:p>
                      <a:pPr algn="l"/>
                      <a:r>
                        <a:rPr sz="1300" b="0">
                          <a:solidFill>
                            <a:srgbClr val="FFFFFF"/>
                          </a:solidFill>
                        </a:rPr>
                        <a:t>StackExchange.Redis v2.11 has a very large interface</a:t>
                      </a:r>
                    </a:p>
                  </a:txBody>
                  <a:tcPr>
                    <a:solidFill>
                      <a:srgbClr val="232B33"/>
                    </a:solidFill>
                  </a:tcPr>
                </a:tc>
                <a:tc>
                  <a:txBody>
                    <a:bodyPr wrap="square"/>
                    <a:lstStyle/>
                    <a:p>
                      <a:pPr algn="l"/>
                      <a:r>
                        <a:rPr sz="1300" b="0">
                          <a:solidFill>
                            <a:srgbClr val="FFFFFF"/>
                          </a:solidFill>
                        </a:rPr>
                        <a:t>Replaced hand-rolled class with Moq mock + targeted .Setup() calls</a:t>
                      </a:r>
                    </a:p>
                  </a:txBody>
                  <a:tcPr>
                    <a:solidFill>
                      <a:srgbClr val="232B33"/>
                    </a:solidFill>
                  </a:tcPr>
                </a:tc>
              </a:tr>
              <a:tr h="475488">
                <a:tc>
                  <a:txBody>
                    <a:bodyPr wrap="square"/>
                    <a:lstStyle/>
                    <a:p>
                      <a:pPr algn="l"/>
                      <a:r>
                        <a:rPr sz="1300" b="0">
                          <a:solidFill>
                            <a:srgbClr val="FFFFFF"/>
                          </a:solidFill>
                        </a:rPr>
                        <a:t>Moq StringSetAsync setup never matched at runtime</a:t>
                      </a:r>
                    </a:p>
                  </a:txBody>
                  <a:tcPr>
                    <a:solidFill>
                      <a:srgbClr val="1C232A"/>
                    </a:solidFill>
                  </a:tcPr>
                </a:tc>
                <a:tc>
                  <a:txBody>
                    <a:bodyPr wrap="square"/>
                    <a:lstStyle/>
                    <a:p>
                      <a:pPr algn="l"/>
                      <a:r>
                        <a:rPr sz="1300" b="0">
                          <a:solidFill>
                            <a:srgbClr val="FFFFFF"/>
                          </a:solidFill>
                        </a:rPr>
                        <a:t>Production code used implicit overload; Moq required exact match</a:t>
                      </a:r>
                    </a:p>
                  </a:txBody>
                  <a:tcPr>
                    <a:solidFill>
                      <a:srgbClr val="1C232A"/>
                    </a:solidFill>
                  </a:tcPr>
                </a:tc>
                <a:tc>
                  <a:txBody>
                    <a:bodyPr wrap="square"/>
                    <a:lstStyle/>
                    <a:p>
                      <a:pPr algn="l"/>
                      <a:r>
                        <a:rPr sz="1300" b="0">
                          <a:solidFill>
                            <a:srgbClr val="FFFFFF"/>
                          </a:solidFill>
                        </a:rPr>
                        <a:t>Changed production code to explicit 5-param overload; updated Moq setup to match</a:t>
                      </a:r>
                    </a:p>
                  </a:txBody>
                  <a:tcPr>
                    <a:solidFill>
                      <a:srgbClr val="1C232A"/>
                    </a:solidFill>
                  </a:tcPr>
                </a:tc>
              </a:tr>
            </a:tbl>
          </a:graphicData>
        </a:graphic>
      </p:graphicFrame>
      <p:sp>
        <p:nvSpPr>
          <p:cNvPr id="6" name="TextBox 5"/>
          <p:cNvSpPr txBox="1"/>
          <p:nvPr/>
        </p:nvSpPr>
        <p:spPr>
          <a:xfrm>
            <a:off x="10911535" y="6446520"/>
            <a:ext cx="1188720" cy="320040"/>
          </a:xfrm>
          <a:prstGeom prst="rect">
            <a:avLst/>
          </a:prstGeom>
          <a:noFill/>
        </p:spPr>
        <p:txBody>
          <a:bodyPr wrap="square">
            <a:spAutoFit/>
          </a:bodyPr>
          <a:lstStyle/>
          <a:p>
            <a:pPr algn="r"/>
            <a:r>
              <a:rPr sz="1100" b="0">
                <a:solidFill>
                  <a:srgbClr val="88929A"/>
                </a:solidFill>
              </a:rPr>
              <a:t>34 / 39</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DB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9144000" cy="457200"/>
          </a:xfrm>
          <a:prstGeom prst="rect">
            <a:avLst/>
          </a:prstGeom>
          <a:noFill/>
        </p:spPr>
        <p:txBody>
          <a:bodyPr wrap="square">
            <a:spAutoFit/>
          </a:bodyPr>
          <a:lstStyle/>
          <a:p>
            <a:pPr algn="l"/>
            <a:r>
              <a:rPr sz="1400" b="0">
                <a:solidFill>
                  <a:srgbClr val="2DBA4E"/>
                </a:solidFill>
              </a:rPr>
              <a:t>SECTION  12</a:t>
            </a:r>
          </a:p>
        </p:txBody>
      </p:sp>
      <p:sp>
        <p:nvSpPr>
          <p:cNvPr id="4" name="TextBox 3"/>
          <p:cNvSpPr txBox="1"/>
          <p:nvPr/>
        </p:nvSpPr>
        <p:spPr>
          <a:xfrm>
            <a:off x="457200" y="2651760"/>
            <a:ext cx="10058400" cy="1280160"/>
          </a:xfrm>
          <a:prstGeom prst="rect">
            <a:avLst/>
          </a:prstGeom>
          <a:noFill/>
        </p:spPr>
        <p:txBody>
          <a:bodyPr wrap="square">
            <a:spAutoFit/>
          </a:bodyPr>
          <a:lstStyle/>
          <a:p>
            <a:pPr algn="l"/>
            <a:r>
              <a:rPr sz="4000" b="1">
                <a:solidFill>
                  <a:srgbClr val="FFFFFF"/>
                </a:solidFill>
              </a:rPr>
              <a:t>Best Practices &amp; Security</a:t>
            </a:r>
          </a:p>
        </p:txBody>
      </p:sp>
      <p:sp>
        <p:nvSpPr>
          <p:cNvPr id="5" name="Rectangle 4"/>
          <p:cNvSpPr/>
          <p:nvPr/>
        </p:nvSpPr>
        <p:spPr>
          <a:xfrm>
            <a:off x="457200" y="3977639"/>
            <a:ext cx="1463040" cy="54864"/>
          </a:xfrm>
          <a:prstGeom prst="rect">
            <a:avLst/>
          </a:prstGeom>
          <a:solidFill>
            <a:srgbClr val="2DB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30363D"/>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3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515600" cy="640080"/>
          </a:xfrm>
          <a:prstGeom prst="rect">
            <a:avLst/>
          </a:prstGeom>
          <a:noFill/>
        </p:spPr>
        <p:txBody>
          <a:bodyPr wrap="square">
            <a:spAutoFit/>
          </a:bodyPr>
          <a:lstStyle/>
          <a:p>
            <a:pPr algn="l"/>
            <a:r>
              <a:rPr sz="2600" b="1">
                <a:solidFill>
                  <a:srgbClr val="FFFFFF"/>
                </a:solidFill>
              </a:rPr>
              <a:t>Best Practices</a:t>
            </a:r>
          </a:p>
        </p:txBody>
      </p:sp>
      <p:sp>
        <p:nvSpPr>
          <p:cNvPr id="4" name="Rectangle 3"/>
          <p:cNvSpPr/>
          <p:nvPr/>
        </p:nvSpPr>
        <p:spPr>
          <a:xfrm>
            <a:off x="502920" y="868680"/>
            <a:ext cx="10241280" cy="27432"/>
          </a:xfrm>
          <a:prstGeom prst="rect">
            <a:avLst/>
          </a:prstGeom>
          <a:solidFill>
            <a:srgbClr val="23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005840"/>
            <a:ext cx="5303520" cy="384048"/>
          </a:xfrm>
          <a:prstGeom prst="rect">
            <a:avLst/>
          </a:prstGeom>
          <a:solidFill>
            <a:srgbClr val="23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024128"/>
            <a:ext cx="5120640" cy="347472"/>
          </a:xfrm>
          <a:prstGeom prst="rect">
            <a:avLst/>
          </a:prstGeom>
          <a:noFill/>
        </p:spPr>
        <p:txBody>
          <a:bodyPr wrap="square">
            <a:spAutoFit/>
          </a:bodyPr>
          <a:lstStyle/>
          <a:p>
            <a:pPr algn="l"/>
            <a:r>
              <a:rPr sz="1500" b="1">
                <a:solidFill>
                  <a:srgbClr val="FFFFFF"/>
                </a:solidFill>
              </a:rPr>
              <a:t>Effective Use of Copilot</a:t>
            </a:r>
          </a:p>
        </p:txBody>
      </p:sp>
      <p:sp>
        <p:nvSpPr>
          <p:cNvPr id="7" name="TextBox 6"/>
          <p:cNvSpPr txBox="1"/>
          <p:nvPr/>
        </p:nvSpPr>
        <p:spPr>
          <a:xfrm>
            <a:off x="502920" y="1463040"/>
            <a:ext cx="5303520" cy="4572000"/>
          </a:xfrm>
          <a:prstGeom prst="rect">
            <a:avLst/>
          </a:prstGeom>
          <a:noFill/>
        </p:spPr>
        <p:txBody>
          <a:bodyPr wrap="square">
            <a:spAutoFit/>
          </a:bodyPr>
          <a:lstStyle/>
          <a:p>
            <a:pPr>
              <a:spcBef>
                <a:spcPts val="400"/>
              </a:spcBef>
            </a:pPr>
            <a:r>
              <a:rPr sz="1700" b="1">
                <a:solidFill>
                  <a:srgbClr val="FFFFFF"/>
                </a:solidFill>
              </a:rPr>
              <a:t>• Run /init on every new repo before writing code</a:t>
            </a:r>
          </a:p>
          <a:p>
            <a:pPr>
              <a:spcBef>
                <a:spcPts val="400"/>
              </a:spcBef>
            </a:pPr>
            <a:r>
              <a:rPr sz="1700" b="1">
                <a:solidFill>
                  <a:srgbClr val="FFFFFF"/>
                </a:solidFill>
              </a:rPr>
              <a:t>• Answer /plan questionnaires completely — vague answers → vague plans</a:t>
            </a:r>
          </a:p>
          <a:p>
            <a:pPr>
              <a:spcBef>
                <a:spcPts val="400"/>
              </a:spcBef>
            </a:pPr>
            <a:r>
              <a:rPr sz="1700" b="1">
                <a:solidFill>
                  <a:srgbClr val="FFFFFF"/>
                </a:solidFill>
              </a:rPr>
              <a:t>• Create .instructions.md for team conventions — every dev gets the same output</a:t>
            </a:r>
          </a:p>
          <a:p>
            <a:pPr>
              <a:spcBef>
                <a:spcPts val="400"/>
              </a:spcBef>
            </a:pPr>
            <a:r>
              <a:rPr sz="1700" b="1">
                <a:solidFill>
                  <a:srgbClr val="FFFFFF"/>
                </a:solidFill>
              </a:rPr>
              <a:t>• Use principle of least privilege for tool lists in agents and prompts</a:t>
            </a:r>
          </a:p>
          <a:p>
            <a:pPr>
              <a:spcBef>
                <a:spcPts val="400"/>
              </a:spcBef>
            </a:pPr>
            <a:r>
              <a:rPr sz="1700" b="1">
                <a:solidFill>
                  <a:srgbClr val="FFFFFF"/>
                </a:solidFill>
              </a:rPr>
              <a:t>• Review every generated file — treat it as a PR, not gospel</a:t>
            </a:r>
          </a:p>
          <a:p>
            <a:pPr>
              <a:spcBef>
                <a:spcPts val="400"/>
              </a:spcBef>
            </a:pPr>
            <a:r>
              <a:rPr sz="1700" b="1">
                <a:solidFill>
                  <a:srgbClr val="FFFFFF"/>
                </a:solidFill>
              </a:rPr>
              <a:t>• Description quality = discoverability. Bad descriptions = ignored customisations.</a:t>
            </a:r>
          </a:p>
          <a:p>
            <a:pPr>
              <a:spcBef>
                <a:spcPts val="400"/>
              </a:spcBef>
            </a:pPr>
            <a:r>
              <a:rPr sz="1700" b="1">
                <a:solidFill>
                  <a:srgbClr val="FFFFFF"/>
                </a:solidFill>
              </a:rPr>
              <a:t>• YAML frontmatter is unforgiving — quote values containing colons</a:t>
            </a:r>
          </a:p>
        </p:txBody>
      </p:sp>
      <p:sp>
        <p:nvSpPr>
          <p:cNvPr id="8" name="Rectangle 7"/>
          <p:cNvSpPr/>
          <p:nvPr/>
        </p:nvSpPr>
        <p:spPr>
          <a:xfrm>
            <a:off x="6355080" y="1005840"/>
            <a:ext cx="5303520" cy="384048"/>
          </a:xfrm>
          <a:prstGeom prst="rect">
            <a:avLst/>
          </a:prstGeom>
          <a:solidFill>
            <a:srgbClr val="2DB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024128"/>
            <a:ext cx="5120640" cy="347472"/>
          </a:xfrm>
          <a:prstGeom prst="rect">
            <a:avLst/>
          </a:prstGeom>
          <a:noFill/>
        </p:spPr>
        <p:txBody>
          <a:bodyPr wrap="square">
            <a:spAutoFit/>
          </a:bodyPr>
          <a:lstStyle/>
          <a:p>
            <a:pPr algn="l"/>
            <a:r>
              <a:rPr sz="1500" b="1">
                <a:solidFill>
                  <a:srgbClr val="FFFFFF"/>
                </a:solidFill>
              </a:rPr>
              <a:t>Common Mistakes</a:t>
            </a:r>
          </a:p>
        </p:txBody>
      </p:sp>
      <p:sp>
        <p:nvSpPr>
          <p:cNvPr id="10" name="TextBox 9"/>
          <p:cNvSpPr txBox="1"/>
          <p:nvPr/>
        </p:nvSpPr>
        <p:spPr>
          <a:xfrm>
            <a:off x="6355080" y="1463040"/>
            <a:ext cx="5303520" cy="4572000"/>
          </a:xfrm>
          <a:prstGeom prst="rect">
            <a:avLst/>
          </a:prstGeom>
          <a:noFill/>
        </p:spPr>
        <p:txBody>
          <a:bodyPr wrap="square">
            <a:spAutoFit/>
          </a:bodyPr>
          <a:lstStyle/>
          <a:p>
            <a:pPr>
              <a:spcBef>
                <a:spcPts val="400"/>
              </a:spcBef>
            </a:pPr>
            <a:r>
              <a:rPr sz="1700" b="1">
                <a:solidFill>
                  <a:srgbClr val="FFFFFF"/>
                </a:solidFill>
              </a:rPr>
              <a:t>• Committing appsettings.json with real secrets</a:t>
            </a:r>
          </a:p>
          <a:p>
            <a:pPr>
              <a:spcBef>
                <a:spcPts val="400"/>
              </a:spcBef>
            </a:pPr>
            <a:r>
              <a:rPr sz="1700" b="1">
                <a:solidFill>
                  <a:srgbClr val="FFFFFF"/>
                </a:solidFill>
              </a:rPr>
              <a:t>• Using applyTo: '**' when content is only relevant to specific files</a:t>
            </a:r>
          </a:p>
          <a:p>
            <a:pPr>
              <a:spcBef>
                <a:spcPts val="400"/>
              </a:spcBef>
            </a:pPr>
            <a:r>
              <a:rPr sz="1700" b="1">
                <a:solidFill>
                  <a:srgbClr val="FFFFFF"/>
                </a:solidFill>
              </a:rPr>
              <a:t>• Creating both copilot-instructions.md AND AGENTS.md — pick one</a:t>
            </a:r>
          </a:p>
          <a:p>
            <a:pPr>
              <a:spcBef>
                <a:spcPts val="400"/>
              </a:spcBef>
            </a:pPr>
            <a:r>
              <a:rPr sz="1700" b="1">
                <a:solidFill>
                  <a:srgbClr val="FFFFFF"/>
                </a:solidFill>
              </a:rPr>
              <a:t>• Writing instructions so long the agent ignores the end</a:t>
            </a:r>
          </a:p>
          <a:p>
            <a:pPr>
              <a:spcBef>
                <a:spcPts val="400"/>
              </a:spcBef>
            </a:pPr>
            <a:r>
              <a:rPr sz="1700" b="1">
                <a:solidFill>
                  <a:srgbClr val="FFFFFF"/>
                </a:solidFill>
              </a:rPr>
              <a:t>• Forgetting to push .github/ customisation files — team can't share them</a:t>
            </a:r>
          </a:p>
          <a:p>
            <a:pPr>
              <a:spcBef>
                <a:spcPts val="400"/>
              </a:spcBef>
            </a:pPr>
            <a:r>
              <a:rPr sz="1700" b="1">
                <a:solidFill>
                  <a:srgbClr val="FFFFFF"/>
                </a:solidFill>
              </a:rPr>
              <a:t>• Hooks that run slowly and block every tool call</a:t>
            </a:r>
          </a:p>
          <a:p>
            <a:pPr>
              <a:spcBef>
                <a:spcPts val="400"/>
              </a:spcBef>
            </a:pPr>
            <a:r>
              <a:rPr sz="1700" b="1">
                <a:solidFill>
                  <a:srgbClr val="FFFFFF"/>
                </a:solidFill>
              </a:rPr>
              <a:t>• Vague agent descriptions that prevent subagent delegation</a:t>
            </a:r>
          </a:p>
        </p:txBody>
      </p:sp>
      <p:sp>
        <p:nvSpPr>
          <p:cNvPr id="11" name="TextBox 10"/>
          <p:cNvSpPr txBox="1"/>
          <p:nvPr/>
        </p:nvSpPr>
        <p:spPr>
          <a:xfrm>
            <a:off x="10911535" y="6446520"/>
            <a:ext cx="1188720" cy="320040"/>
          </a:xfrm>
          <a:prstGeom prst="rect">
            <a:avLst/>
          </a:prstGeom>
          <a:noFill/>
        </p:spPr>
        <p:txBody>
          <a:bodyPr wrap="square">
            <a:spAutoFit/>
          </a:bodyPr>
          <a:lstStyle/>
          <a:p>
            <a:pPr algn="r"/>
            <a:r>
              <a:rPr sz="1100" b="0">
                <a:solidFill>
                  <a:srgbClr val="88929A"/>
                </a:solidFill>
              </a:rPr>
              <a:t>36 / 39</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30363D"/>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3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0515600" cy="640080"/>
          </a:xfrm>
          <a:prstGeom prst="rect">
            <a:avLst/>
          </a:prstGeom>
          <a:noFill/>
        </p:spPr>
        <p:txBody>
          <a:bodyPr wrap="square">
            <a:spAutoFit/>
          </a:bodyPr>
          <a:lstStyle/>
          <a:p>
            <a:pPr algn="l"/>
            <a:r>
              <a:rPr sz="2600" b="1">
                <a:solidFill>
                  <a:srgbClr val="FFFFFF"/>
                </a:solidFill>
              </a:rPr>
              <a:t>Security Considerations with AI-Generated Code</a:t>
            </a:r>
          </a:p>
        </p:txBody>
      </p:sp>
      <p:sp>
        <p:nvSpPr>
          <p:cNvPr id="4" name="Rectangle 3"/>
          <p:cNvSpPr/>
          <p:nvPr/>
        </p:nvSpPr>
        <p:spPr>
          <a:xfrm>
            <a:off x="502920" y="868680"/>
            <a:ext cx="10241280" cy="27432"/>
          </a:xfrm>
          <a:prstGeom prst="rect">
            <a:avLst/>
          </a:prstGeom>
          <a:solidFill>
            <a:srgbClr val="23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05840"/>
            <a:ext cx="11155680" cy="5120640"/>
          </a:xfrm>
          <a:prstGeom prst="rect">
            <a:avLst/>
          </a:prstGeom>
          <a:noFill/>
        </p:spPr>
        <p:txBody>
          <a:bodyPr wrap="square">
            <a:spAutoFit/>
          </a:bodyPr>
          <a:lstStyle/>
          <a:p>
            <a:pPr>
              <a:spcBef>
                <a:spcPts val="400"/>
              </a:spcBef>
            </a:pPr>
            <a:r>
              <a:rPr sz="1700" b="1">
                <a:solidFill>
                  <a:srgbClr val="FFFFFF"/>
                </a:solidFill>
              </a:rPr>
              <a:t>• Generated code is a starting point — always review for OWASP Top 10</a:t>
            </a:r>
          </a:p>
          <a:p>
            <a:pPr>
              <a:spcBef>
                <a:spcPts val="400"/>
              </a:spcBef>
            </a:pPr>
            <a:r>
              <a:rPr sz="1700" b="1">
                <a:solidFill>
                  <a:srgbClr val="FFFFFF"/>
                </a:solidFill>
              </a:rPr>
              <a:t>• Copilot does not store or transmit your secrets — but bad prompts can embed them in code</a:t>
            </a:r>
          </a:p>
          <a:p>
            <a:pPr>
              <a:spcBef>
                <a:spcPts val="400"/>
              </a:spcBef>
            </a:pPr>
            <a:r>
              <a:rPr sz="1700" b="1">
                <a:solidFill>
                  <a:srgbClr val="FFFFFF"/>
                </a:solidFill>
              </a:rPr>
              <a:t>• Always use dotnet user-secrets / environment variables — never hardcode credentials</a:t>
            </a:r>
          </a:p>
          <a:p>
            <a:pPr>
              <a:spcBef>
                <a:spcPts val="400"/>
              </a:spcBef>
            </a:pPr>
            <a:r>
              <a:rPr sz="1700" b="1">
                <a:solidFill>
                  <a:srgbClr val="FFFFFF"/>
                </a:solidFill>
              </a:rPr>
              <a:t>• Key patterns to verify in any generated auth code:</a:t>
            </a:r>
          </a:p>
          <a:p>
            <a:pPr lvl="1">
              <a:spcBef>
                <a:spcPts val="200"/>
              </a:spcBef>
            </a:pPr>
            <a:r>
              <a:rPr sz="1500" b="0">
                <a:solidFill>
                  <a:srgbClr val="C0CAD4"/>
                </a:solidFill>
              </a:rPr>
              <a:t>    ◦ JWT: algorithm pinned to RS256 (asymmetric) — never HS256 (symmetric shared secret)</a:t>
            </a:r>
          </a:p>
          <a:p>
            <a:pPr lvl="1">
              <a:spcBef>
                <a:spcPts val="200"/>
              </a:spcBef>
            </a:pPr>
            <a:r>
              <a:rPr sz="1500" b="0">
                <a:solidFill>
                  <a:srgbClr val="C0CAD4"/>
                </a:solidFill>
              </a:rPr>
              <a:t>    ◦ JWT: both issuer AND audience validated in bearer middleware configuration</a:t>
            </a:r>
          </a:p>
          <a:p>
            <a:pPr lvl="1">
              <a:spcBef>
                <a:spcPts val="200"/>
              </a:spcBef>
            </a:pPr>
            <a:r>
              <a:rPr sz="1500" b="0">
                <a:solidFill>
                  <a:srgbClr val="C0CAD4"/>
                </a:solidFill>
              </a:rPr>
              <a:t>    ◦ Cookies: HttpOnly=true, Secure=true, SameSite=Strict — all three required</a:t>
            </a:r>
          </a:p>
          <a:p>
            <a:pPr lvl="1">
              <a:spcBef>
                <a:spcPts val="200"/>
              </a:spcBef>
            </a:pPr>
            <a:r>
              <a:rPr sz="1500" b="0">
                <a:solidFill>
                  <a:srgbClr val="C0CAD4"/>
                </a:solidFill>
              </a:rPr>
              <a:t>    ◦ CORS: locked to known SPA origin — never wildcard *</a:t>
            </a:r>
          </a:p>
          <a:p>
            <a:pPr lvl="1">
              <a:spcBef>
                <a:spcPts val="200"/>
              </a:spcBef>
            </a:pPr>
            <a:r>
              <a:rPr sz="1500" b="0">
                <a:solidFill>
                  <a:srgbClr val="C0CAD4"/>
                </a:solidFill>
              </a:rPr>
              <a:t>    ◦ SQL / queries: always parameterised — no string concatenation</a:t>
            </a:r>
          </a:p>
          <a:p>
            <a:pPr lvl="1">
              <a:spcBef>
                <a:spcPts val="200"/>
              </a:spcBef>
            </a:pPr>
            <a:r>
              <a:rPr sz="1500" b="0">
                <a:solidFill>
                  <a:srgbClr val="C0CAD4"/>
                </a:solidFill>
              </a:rPr>
              <a:t>    ◦ Input validation: at system boundary only — not scattered through business logic</a:t>
            </a:r>
          </a:p>
          <a:p>
            <a:pPr>
              <a:spcBef>
                <a:spcPts val="400"/>
              </a:spcBef>
            </a:pPr>
            <a:r>
              <a:rPr sz="1700" b="1">
                <a:solidFill>
                  <a:srgbClr val="FFFFFF"/>
                </a:solidFill>
              </a:rPr>
              <a:t>• Write security rules into .instructions.md — agent will enforce them on every file</a:t>
            </a:r>
          </a:p>
        </p:txBody>
      </p:sp>
      <p:sp>
        <p:nvSpPr>
          <p:cNvPr id="6" name="Rectangle 5"/>
          <p:cNvSpPr/>
          <p:nvPr/>
        </p:nvSpPr>
        <p:spPr>
          <a:xfrm>
            <a:off x="502920" y="5943600"/>
            <a:ext cx="11155680" cy="64008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5961888"/>
            <a:ext cx="10972800" cy="566928"/>
          </a:xfrm>
          <a:prstGeom prst="rect">
            <a:avLst/>
          </a:prstGeom>
          <a:noFill/>
        </p:spPr>
        <p:txBody>
          <a:bodyPr wrap="square">
            <a:spAutoFit/>
          </a:bodyPr>
          <a:lstStyle/>
          <a:p>
            <a:pPr algn="l"/>
            <a:r>
              <a:rPr sz="1300" b="0">
                <a:solidFill>
                  <a:srgbClr val="A0C8F0"/>
                </a:solidFill>
              </a:rPr>
              <a:t>💡  This PoC generated RS256 JWT, HttpOnly cookies, Lua atomic token rotation, rate limiting, and security headers — still reviewed every file.</a:t>
            </a:r>
          </a:p>
        </p:txBody>
      </p:sp>
      <p:sp>
        <p:nvSpPr>
          <p:cNvPr id="8" name="TextBox 7"/>
          <p:cNvSpPr txBox="1"/>
          <p:nvPr/>
        </p:nvSpPr>
        <p:spPr>
          <a:xfrm>
            <a:off x="10911535" y="6446520"/>
            <a:ext cx="1188720" cy="320040"/>
          </a:xfrm>
          <a:prstGeom prst="rect">
            <a:avLst/>
          </a:prstGeom>
          <a:noFill/>
        </p:spPr>
        <p:txBody>
          <a:bodyPr wrap="square">
            <a:spAutoFit/>
          </a:bodyPr>
          <a:lstStyle/>
          <a:p>
            <a:pPr algn="r"/>
            <a:r>
              <a:rPr sz="1100" b="0">
                <a:solidFill>
                  <a:srgbClr val="88929A"/>
                </a:solidFill>
              </a:rPr>
              <a:t>37 / 39</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3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463040"/>
            <a:ext cx="9144000" cy="1097280"/>
          </a:xfrm>
          <a:prstGeom prst="rect">
            <a:avLst/>
          </a:prstGeom>
          <a:noFill/>
        </p:spPr>
        <p:txBody>
          <a:bodyPr wrap="square">
            <a:spAutoFit/>
          </a:bodyPr>
          <a:lstStyle/>
          <a:p>
            <a:pPr algn="l"/>
            <a:r>
              <a:rPr sz="4600" b="1">
                <a:solidFill>
                  <a:srgbClr val="FFFFFF"/>
                </a:solidFill>
              </a:rPr>
              <a:t>Start Today</a:t>
            </a:r>
          </a:p>
        </p:txBody>
      </p:sp>
      <p:sp>
        <p:nvSpPr>
          <p:cNvPr id="4" name="Rectangle 3"/>
          <p:cNvSpPr/>
          <p:nvPr/>
        </p:nvSpPr>
        <p:spPr>
          <a:xfrm>
            <a:off x="548640" y="2606040"/>
            <a:ext cx="1828800" cy="64008"/>
          </a:xfrm>
          <a:prstGeom prst="rect">
            <a:avLst/>
          </a:prstGeom>
          <a:solidFill>
            <a:srgbClr val="23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88920"/>
            <a:ext cx="10515600" cy="3200400"/>
          </a:xfrm>
          <a:prstGeom prst="rect">
            <a:avLst/>
          </a:prstGeom>
          <a:noFill/>
        </p:spPr>
        <p:txBody>
          <a:bodyPr wrap="square">
            <a:spAutoFit/>
          </a:bodyPr>
          <a:lstStyle/>
          <a:p>
            <a:pPr>
              <a:spcBef>
                <a:spcPts val="400"/>
              </a:spcBef>
            </a:pPr>
            <a:r>
              <a:rPr sz="1700" b="1">
                <a:solidFill>
                  <a:srgbClr val="FFFFFF"/>
                </a:solidFill>
              </a:rPr>
              <a:t>• 1.  Install GitHub Copilot extension in VS Code</a:t>
            </a:r>
          </a:p>
          <a:p>
            <a:pPr>
              <a:spcBef>
                <a:spcPts val="400"/>
              </a:spcBef>
            </a:pPr>
            <a:r>
              <a:rPr sz="1700" b="1">
                <a:solidFill>
                  <a:srgbClr val="FFFFFF"/>
                </a:solidFill>
              </a:rPr>
              <a:t>• 2.  Sign in with your GitHub account</a:t>
            </a:r>
          </a:p>
          <a:p>
            <a:pPr>
              <a:spcBef>
                <a:spcPts val="400"/>
              </a:spcBef>
            </a:pPr>
            <a:r>
              <a:rPr sz="1700" b="1">
                <a:solidFill>
                  <a:srgbClr val="FFFFFF"/>
                </a:solidFill>
              </a:rPr>
              <a:t>• 3.  Open Chat  →  try  /plan  with your next task</a:t>
            </a:r>
          </a:p>
          <a:p>
            <a:pPr>
              <a:spcBef>
                <a:spcPts val="400"/>
              </a:spcBef>
            </a:pPr>
            <a:r>
              <a:rPr sz="1700" b="1">
                <a:solidFill>
                  <a:srgbClr val="FFFFFF"/>
                </a:solidFill>
              </a:rPr>
              <a:t>• 4.  Use  /init  to generate workspace instructions for your repo</a:t>
            </a:r>
          </a:p>
          <a:p>
            <a:pPr>
              <a:spcBef>
                <a:spcPts val="400"/>
              </a:spcBef>
            </a:pPr>
            <a:r>
              <a:rPr sz="1700" b="1">
                <a:solidFill>
                  <a:srgbClr val="FFFFFF"/>
                </a:solidFill>
              </a:rPr>
              <a:t>• 5.  Run  /create-instructions  to capture team conventions</a:t>
            </a:r>
          </a:p>
          <a:p>
            <a:pPr>
              <a:spcBef>
                <a:spcPts val="400"/>
              </a:spcBef>
            </a:pPr>
            <a:r>
              <a:rPr sz="1700" b="1">
                <a:solidFill>
                  <a:srgbClr val="FFFFFF"/>
                </a:solidFill>
              </a:rPr>
              <a:t>• 6.  Explore  /create-prompt  or  /create-skill  for repeatable workflows</a:t>
            </a:r>
          </a:p>
        </p:txBody>
      </p:sp>
      <p:sp>
        <p:nvSpPr>
          <p:cNvPr id="6" name="TextBox 5"/>
          <p:cNvSpPr txBox="1"/>
          <p:nvPr/>
        </p:nvSpPr>
        <p:spPr>
          <a:xfrm>
            <a:off x="548640" y="6309360"/>
            <a:ext cx="10058400" cy="365760"/>
          </a:xfrm>
          <a:prstGeom prst="rect">
            <a:avLst/>
          </a:prstGeom>
          <a:noFill/>
        </p:spPr>
        <p:txBody>
          <a:bodyPr wrap="square">
            <a:spAutoFit/>
          </a:bodyPr>
          <a:lstStyle/>
          <a:p>
            <a:pPr algn="l"/>
            <a:r>
              <a:rPr sz="1300" b="0">
                <a:solidFill>
                  <a:srgbClr val="55606A"/>
                </a:solidFill>
              </a:rPr>
              <a:t>github.com/features/copilot  •  docs.github.com/copilot</a:t>
            </a:r>
          </a:p>
        </p:txBody>
      </p:sp>
      <p:sp>
        <p:nvSpPr>
          <p:cNvPr id="7" name="TextBox 6"/>
          <p:cNvSpPr txBox="1"/>
          <p:nvPr/>
        </p:nvSpPr>
        <p:spPr>
          <a:xfrm>
            <a:off x="10911535" y="6446520"/>
            <a:ext cx="1188720" cy="320040"/>
          </a:xfrm>
          <a:prstGeom prst="rect">
            <a:avLst/>
          </a:prstGeom>
          <a:noFill/>
        </p:spPr>
        <p:txBody>
          <a:bodyPr wrap="square">
            <a:spAutoFit/>
          </a:bodyPr>
          <a:lstStyle/>
          <a:p>
            <a:pPr algn="r"/>
            <a:r>
              <a:rPr sz="1100" b="0">
                <a:solidFill>
                  <a:srgbClr val="88929A"/>
                </a:solidFill>
              </a:rPr>
              <a:t>39 / 39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